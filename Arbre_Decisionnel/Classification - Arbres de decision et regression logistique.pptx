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26.xml" ContentType="application/vnd.openxmlformats-officedocument.presentationml.notesSlide+xml"/>
  <Override PartName="/ppt/notesSlides/notesSlide23.xml" ContentType="application/vnd.openxmlformats-officedocument.presentationml.notesSlide+xml"/>
  <Override PartName="/ppt/notesSlides/notesSlide16.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6.xml" ContentType="application/vnd.openxmlformats-officedocument.presentationml.notesSlide+xml"/>
  <Override PartName="/ppt/notesSlides/notesSlide22.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fr-FR" sz="1800" b="0" u="none" strike="noStrike">
                <a:solidFill>
                  <a:schemeClr val="dk1"/>
                </a:solidFill>
                <a:effectLst/>
                <a:uFillTx/>
                <a:latin typeface="Calibri"/>
              </a:rPr>
              <a:t>Click to move the slide</a:t>
            </a:r>
            <a:endParaRPr lang="fr-FR"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fr-FR" sz="2000" b="0" u="none" strike="noStrike">
                <a:solidFill>
                  <a:srgbClr val="000000"/>
                </a:solidFill>
                <a:effectLst/>
                <a:uFillTx/>
                <a:latin typeface="Arial"/>
              </a:rPr>
              <a:t>Click to edit the notes format</a:t>
            </a:r>
            <a:endParaRPr lang="fr-FR"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fr-FR" sz="1400" b="0" u="none" strike="noStrike">
                <a:solidFill>
                  <a:srgbClr val="000000"/>
                </a:solidFill>
                <a:effectLst/>
                <a:uFillTx/>
                <a:latin typeface="Times New Roman"/>
              </a:defRPr>
            </a:lvl1pPr>
          </a:lstStyle>
          <a:p>
            <a:pPr indent="0" algn="l">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4D4D2861-2F15-4FB4-9A82-FA7310BCF86E}" type="slidenum">
              <a:rPr lang="fr-FR" sz="1400" b="0" u="none" strike="noStrike">
                <a:solidFill>
                  <a:srgbClr val="000000"/>
                </a:solidFill>
                <a:effectLst/>
                <a:uFillTx/>
                <a:latin typeface="Times New Roman"/>
              </a:rPr>
              <a:t>1</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685800" y="1143000"/>
            <a:ext cx="5486040" cy="3085920"/>
          </a:xfrm>
          <a:prstGeom prst="rect">
            <a:avLst/>
          </a:prstGeom>
          <a:ln w="0">
            <a:noFill/>
          </a:ln>
        </p:spPr>
      </p:sp>
      <p:sp>
        <p:nvSpPr>
          <p:cNvPr id="42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30"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19C3432-6AAE-4F8C-9172-04C099AED2D4}"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685800" y="1143000"/>
            <a:ext cx="5486040" cy="3085920"/>
          </a:xfrm>
          <a:prstGeom prst="rect">
            <a:avLst/>
          </a:prstGeom>
          <a:ln w="0">
            <a:noFill/>
          </a:ln>
        </p:spPr>
      </p:sp>
      <p:sp>
        <p:nvSpPr>
          <p:cNvPr id="43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33"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D6DEA9C-8EA4-4535-9AB2-DFBD591B4B83}"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685800" y="1143000"/>
            <a:ext cx="5486040" cy="3085920"/>
          </a:xfrm>
          <a:prstGeom prst="rect">
            <a:avLst/>
          </a:prstGeom>
          <a:ln w="0">
            <a:noFill/>
          </a:ln>
        </p:spPr>
      </p:sp>
      <p:sp>
        <p:nvSpPr>
          <p:cNvPr id="43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36"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109ED3B-DFC9-40A6-B2B3-57E7147D4F6C}"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685800" y="1143000"/>
            <a:ext cx="5486040" cy="3085920"/>
          </a:xfrm>
          <a:prstGeom prst="rect">
            <a:avLst/>
          </a:prstGeom>
          <a:ln w="0">
            <a:noFill/>
          </a:ln>
        </p:spPr>
      </p:sp>
      <p:sp>
        <p:nvSpPr>
          <p:cNvPr id="43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39"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00720B1-DD7C-4B2C-875B-E36878008919}"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685800" y="1143000"/>
            <a:ext cx="5486040" cy="3085920"/>
          </a:xfrm>
          <a:prstGeom prst="rect">
            <a:avLst/>
          </a:prstGeom>
          <a:ln w="0">
            <a:noFill/>
          </a:ln>
        </p:spPr>
      </p:sp>
      <p:sp>
        <p:nvSpPr>
          <p:cNvPr id="44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42"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9EF302-D3DC-4C48-9CCF-82549728DB34}"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685800" y="1143000"/>
            <a:ext cx="5486040" cy="3085920"/>
          </a:xfrm>
          <a:prstGeom prst="rect">
            <a:avLst/>
          </a:prstGeom>
          <a:ln w="0">
            <a:noFill/>
          </a:ln>
        </p:spPr>
      </p:sp>
      <p:sp>
        <p:nvSpPr>
          <p:cNvPr id="44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45"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31CA7B-F32D-40E9-9D07-963BE7CCFCF1}"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685800" y="1143000"/>
            <a:ext cx="5486040" cy="3085920"/>
          </a:xfrm>
          <a:prstGeom prst="rect">
            <a:avLst/>
          </a:prstGeom>
          <a:ln w="0">
            <a:noFill/>
          </a:ln>
        </p:spPr>
      </p:sp>
      <p:sp>
        <p:nvSpPr>
          <p:cNvPr id="44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48"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FCD0DF0-EC3E-4BAD-ADC2-C3520FFA1E56}"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685800" y="1143000"/>
            <a:ext cx="5486040" cy="3085920"/>
          </a:xfrm>
          <a:prstGeom prst="rect">
            <a:avLst/>
          </a:prstGeom>
          <a:ln w="0">
            <a:noFill/>
          </a:ln>
        </p:spPr>
      </p:sp>
      <p:sp>
        <p:nvSpPr>
          <p:cNvPr id="45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51"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0B99335-AB96-45ED-8AB5-5FD295FA76E8}"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685800" y="1143000"/>
            <a:ext cx="5486040" cy="3085920"/>
          </a:xfrm>
          <a:prstGeom prst="rect">
            <a:avLst/>
          </a:prstGeom>
          <a:ln w="0">
            <a:noFill/>
          </a:ln>
        </p:spPr>
      </p:sp>
      <p:sp>
        <p:nvSpPr>
          <p:cNvPr id="45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54"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80A3B7B-B291-4700-B392-98ED302B54DE}"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685800" y="1143000"/>
            <a:ext cx="5486040" cy="3085920"/>
          </a:xfrm>
          <a:prstGeom prst="rect">
            <a:avLst/>
          </a:prstGeom>
          <a:ln w="0">
            <a:noFill/>
          </a:ln>
        </p:spPr>
      </p:sp>
      <p:sp>
        <p:nvSpPr>
          <p:cNvPr id="45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57"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8236169-1283-492E-A6C5-C0CC57994C3E}"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685800" y="1143000"/>
            <a:ext cx="5486040" cy="3085920"/>
          </a:xfrm>
          <a:prstGeom prst="rect">
            <a:avLst/>
          </a:prstGeom>
          <a:ln w="0">
            <a:noFill/>
          </a:ln>
        </p:spPr>
      </p:sp>
      <p:sp>
        <p:nvSpPr>
          <p:cNvPr id="45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60"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7E7E3D-3F2E-4DB1-92A2-A674824AB34F}"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685800" y="1143000"/>
            <a:ext cx="5486040" cy="3085920"/>
          </a:xfrm>
          <a:prstGeom prst="rect">
            <a:avLst/>
          </a:prstGeom>
          <a:ln w="0">
            <a:noFill/>
          </a:ln>
        </p:spPr>
      </p:sp>
      <p:sp>
        <p:nvSpPr>
          <p:cNvPr id="46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63"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546727-7242-4145-8FFA-2C41B28CB071}"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685800" y="1143000"/>
            <a:ext cx="5486040" cy="3085920"/>
          </a:xfrm>
          <a:prstGeom prst="rect">
            <a:avLst/>
          </a:prstGeom>
          <a:ln w="0">
            <a:noFill/>
          </a:ln>
        </p:spPr>
      </p:sp>
      <p:sp>
        <p:nvSpPr>
          <p:cNvPr id="46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66"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980912-E8DF-49D4-9CBF-58A8A161748D}"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685800" y="1143000"/>
            <a:ext cx="5486040" cy="3085920"/>
          </a:xfrm>
          <a:prstGeom prst="rect">
            <a:avLst/>
          </a:prstGeom>
          <a:ln w="0">
            <a:noFill/>
          </a:ln>
        </p:spPr>
      </p:sp>
      <p:sp>
        <p:nvSpPr>
          <p:cNvPr id="46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69"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99F5BF7-0D3C-48A7-BCF5-B4D153ACA990}"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685800" y="1143000"/>
            <a:ext cx="5486040" cy="3085920"/>
          </a:xfrm>
          <a:prstGeom prst="rect">
            <a:avLst/>
          </a:prstGeom>
          <a:ln w="0">
            <a:noFill/>
          </a:ln>
        </p:spPr>
      </p:sp>
      <p:sp>
        <p:nvSpPr>
          <p:cNvPr id="47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72"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B91E87A-A285-4650-97A4-CAC2AFF75E55}"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685800" y="1143000"/>
            <a:ext cx="5486040" cy="3085920"/>
          </a:xfrm>
          <a:prstGeom prst="rect">
            <a:avLst/>
          </a:prstGeom>
          <a:ln w="0">
            <a:noFill/>
          </a:ln>
        </p:spPr>
      </p:sp>
      <p:sp>
        <p:nvSpPr>
          <p:cNvPr id="47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75"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87ED4CB-8BCB-4054-BF8D-2E8EC4916415}"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685800" y="1143000"/>
            <a:ext cx="5486040" cy="3085920"/>
          </a:xfrm>
          <a:prstGeom prst="rect">
            <a:avLst/>
          </a:prstGeom>
          <a:ln w="0">
            <a:noFill/>
          </a:ln>
        </p:spPr>
      </p:sp>
      <p:sp>
        <p:nvSpPr>
          <p:cNvPr id="47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78"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DC1CD37-29AC-444B-97B9-418F4C527D62}"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685800" y="1143000"/>
            <a:ext cx="5486040" cy="3085920"/>
          </a:xfrm>
          <a:prstGeom prst="rect">
            <a:avLst/>
          </a:prstGeom>
          <a:ln w="0">
            <a:noFill/>
          </a:ln>
        </p:spPr>
      </p:sp>
      <p:sp>
        <p:nvSpPr>
          <p:cNvPr id="48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81"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36B056-BB26-412A-ADB5-F8CAF3C47AFF}"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685800" y="1143000"/>
            <a:ext cx="5486040" cy="3085920"/>
          </a:xfrm>
          <a:prstGeom prst="rect">
            <a:avLst/>
          </a:prstGeom>
          <a:ln w="0">
            <a:noFill/>
          </a:ln>
        </p:spPr>
      </p:sp>
      <p:sp>
        <p:nvSpPr>
          <p:cNvPr id="48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84"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91C89C6-5A3F-4715-A976-5ABA7832178B}"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685800" y="1143000"/>
            <a:ext cx="5486040" cy="3085920"/>
          </a:xfrm>
          <a:prstGeom prst="rect">
            <a:avLst/>
          </a:prstGeom>
          <a:ln w="0">
            <a:noFill/>
          </a:ln>
        </p:spPr>
      </p:sp>
      <p:sp>
        <p:nvSpPr>
          <p:cNvPr id="48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87"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3CA7426-40CD-4AF0-A4D6-3582D5C6A908}"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685800" y="1143000"/>
            <a:ext cx="5486040" cy="3085920"/>
          </a:xfrm>
          <a:prstGeom prst="rect">
            <a:avLst/>
          </a:prstGeom>
          <a:ln w="0">
            <a:noFill/>
          </a:ln>
        </p:spPr>
      </p:sp>
      <p:sp>
        <p:nvSpPr>
          <p:cNvPr id="48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90"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2BB84DF-55C7-425A-B205-4B941F3B067B}"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685800" y="1143000"/>
            <a:ext cx="5486040" cy="3085920"/>
          </a:xfrm>
          <a:prstGeom prst="rect">
            <a:avLst/>
          </a:prstGeom>
          <a:ln w="0">
            <a:noFill/>
          </a:ln>
        </p:spPr>
      </p:sp>
      <p:sp>
        <p:nvSpPr>
          <p:cNvPr id="49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93" name="PlaceHolder 3"/>
          <p:cNvSpPr>
            <a:spLocks noGrp="1"/>
          </p:cNvSpPr>
          <p:nvPr>
            <p:ph type="sldNum" idx="2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A081951-D1DB-4ACF-B4C4-DD91A4A29885}"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685800" y="1143000"/>
            <a:ext cx="5486040" cy="3085920"/>
          </a:xfrm>
          <a:prstGeom prst="rect">
            <a:avLst/>
          </a:prstGeom>
          <a:ln w="0">
            <a:noFill/>
          </a:ln>
        </p:spPr>
      </p:sp>
      <p:sp>
        <p:nvSpPr>
          <p:cNvPr id="49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96" name="PlaceHolder 3"/>
          <p:cNvSpPr>
            <a:spLocks noGrp="1"/>
          </p:cNvSpPr>
          <p:nvPr>
            <p:ph type="sldNum" idx="2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2FBB682-C8E3-429F-A720-31E912B5AC8A}"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685800" y="1143000"/>
            <a:ext cx="5486040" cy="3085920"/>
          </a:xfrm>
          <a:prstGeom prst="rect">
            <a:avLst/>
          </a:prstGeom>
          <a:ln w="0">
            <a:noFill/>
          </a:ln>
        </p:spPr>
      </p:sp>
      <p:sp>
        <p:nvSpPr>
          <p:cNvPr id="49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499" name="PlaceHolder 3"/>
          <p:cNvSpPr>
            <a:spLocks noGrp="1"/>
          </p:cNvSpPr>
          <p:nvPr>
            <p:ph type="sldNum" idx="2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A189DB39-0BB1-4841-A3E1-A836147CF747}"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685800" y="1143000"/>
            <a:ext cx="5486040" cy="3085920"/>
          </a:xfrm>
          <a:prstGeom prst="rect">
            <a:avLst/>
          </a:prstGeom>
          <a:ln w="0">
            <a:noFill/>
          </a:ln>
        </p:spPr>
      </p:sp>
      <p:sp>
        <p:nvSpPr>
          <p:cNvPr id="50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502" name="PlaceHolder 3"/>
          <p:cNvSpPr>
            <a:spLocks noGrp="1"/>
          </p:cNvSpPr>
          <p:nvPr>
            <p:ph type="sldNum" idx="2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39B7EEF-28D3-422D-BF66-88E151764C93}" type="slidenum">
              <a:rPr lang="en-US" sz="1200" b="0" u="none" strike="noStrike">
                <a:solidFill>
                  <a:schemeClr val="dk1"/>
                </a:solidFill>
                <a:effectLst/>
                <a:uFillTx/>
                <a:latin typeface="+mn-lt"/>
                <a:ea typeface="+mn-ea"/>
              </a:rPr>
              <a:t>&lt;number&gt;</a:t>
            </a:fld>
            <a:endParaRPr lang="fr-FR"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685800" y="1143000"/>
            <a:ext cx="5486040" cy="3085920"/>
          </a:xfrm>
          <a:prstGeom prst="rect">
            <a:avLst/>
          </a:prstGeom>
          <a:ln w="0">
            <a:noFill/>
          </a:ln>
        </p:spPr>
      </p:sp>
      <p:sp>
        <p:nvSpPr>
          <p:cNvPr id="50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505" name="PlaceHolder 3"/>
          <p:cNvSpPr>
            <a:spLocks noGrp="1"/>
          </p:cNvSpPr>
          <p:nvPr>
            <p:ph type="sldNum" idx="2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47E75A6-DD6B-47DE-BF56-01C99D901D85}" type="slidenum">
              <a:rPr lang="en-US" sz="1200" b="0" u="none" strike="noStrike">
                <a:solidFill>
                  <a:schemeClr val="dk1"/>
                </a:solidFill>
                <a:effectLst/>
                <a:uFillTx/>
                <a:latin typeface="+mn-lt"/>
                <a:ea typeface="+mn-ea"/>
              </a:rPr>
              <a:t>&lt;number&gt;</a:t>
            </a:fld>
            <a:endParaRPr lang="fr-FR"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685800" y="1143000"/>
            <a:ext cx="5486040" cy="3085920"/>
          </a:xfrm>
          <a:prstGeom prst="rect">
            <a:avLst/>
          </a:prstGeom>
          <a:ln w="0">
            <a:noFill/>
          </a:ln>
        </p:spPr>
      </p:sp>
      <p:sp>
        <p:nvSpPr>
          <p:cNvPr id="50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508" name="PlaceHolder 3"/>
          <p:cNvSpPr>
            <a:spLocks noGrp="1"/>
          </p:cNvSpPr>
          <p:nvPr>
            <p:ph type="sldNum" idx="3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CD13418-E9EA-4673-A967-4045A5DD7BDB}" type="slidenum">
              <a:rPr lang="en-US" sz="1200" b="0" u="none" strike="noStrike">
                <a:solidFill>
                  <a:schemeClr val="dk1"/>
                </a:solidFill>
                <a:effectLst/>
                <a:uFillTx/>
                <a:latin typeface="+mn-lt"/>
                <a:ea typeface="+mn-ea"/>
              </a:rPr>
              <a:t>&lt;number&gt;</a:t>
            </a:fld>
            <a:endParaRPr lang="fr-FR"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685800" y="1143000"/>
            <a:ext cx="5486040" cy="3085920"/>
          </a:xfrm>
          <a:prstGeom prst="rect">
            <a:avLst/>
          </a:prstGeom>
          <a:ln w="0">
            <a:noFill/>
          </a:ln>
        </p:spPr>
      </p:sp>
      <p:sp>
        <p:nvSpPr>
          <p:cNvPr id="51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endParaRPr lang="fr-FR" sz="1800" b="0" u="none" strike="noStrike">
              <a:solidFill>
                <a:srgbClr val="000000"/>
              </a:solidFill>
              <a:effectLst/>
              <a:uFillTx/>
              <a:latin typeface="Arial"/>
            </a:endParaRPr>
          </a:p>
        </p:txBody>
      </p:sp>
      <p:sp>
        <p:nvSpPr>
          <p:cNvPr id="511" name="PlaceHolder 3"/>
          <p:cNvSpPr>
            <a:spLocks noGrp="1"/>
          </p:cNvSpPr>
          <p:nvPr>
            <p:ph type="sldNum" idx="3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CB1012D-C01B-46DB-AE02-BAD243DE35BE}" type="slidenum">
              <a:rPr lang="en-US" sz="1200" b="0" u="none" strike="noStrike">
                <a:solidFill>
                  <a:schemeClr val="dk1"/>
                </a:solidFill>
                <a:effectLst/>
                <a:uFillTx/>
                <a:latin typeface="+mn-lt"/>
                <a:ea typeface="+mn-ea"/>
              </a:rPr>
              <a:t>&lt;number&gt;</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fr-FR" sz="1800" b="0" u="none" strike="noStrike">
                <a:solidFill>
                  <a:schemeClr val="dk1"/>
                </a:solidFill>
                <a:effectLst/>
                <a:uFillTx/>
                <a:latin typeface="Calibri"/>
              </a:defRPr>
            </a:lvl1pPr>
          </a:lstStyle>
          <a:p>
            <a:pPr indent="0" algn="l">
              <a:buNone/>
            </a:pPr>
            <a:r>
              <a:rPr lang="fr-FR" sz="1800" b="0" u="none" strike="noStrike">
                <a:solidFill>
                  <a:schemeClr val="dk1"/>
                </a:solidFill>
                <a:effectLst/>
                <a:uFillTx/>
                <a:latin typeface="Calibri"/>
              </a:rPr>
              <a:t>Click to edit the title text format</a:t>
            </a:r>
            <a:endParaRPr lang="fr-FR"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fr-FR"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fr-FR"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fr-FR"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fr-FR"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fr-FR"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fr-FR"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fr-FR"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fr-FR" sz="3200" b="0" u="none" strike="noStrike">
                <a:solidFill>
                  <a:schemeClr val="dk1"/>
                </a:solidFill>
                <a:effectLst/>
                <a:uFillTx/>
                <a:latin typeface="Calibri"/>
              </a:rPr>
              <a:t>Click to edit the outline text format</a:t>
            </a:r>
            <a:endParaRPr lang="fr-FR"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fr-FR" sz="2400" b="0" u="none" strike="noStrike">
                <a:solidFill>
                  <a:schemeClr val="dk1"/>
                </a:solidFill>
                <a:effectLst/>
                <a:uFillTx/>
                <a:latin typeface="Calibri"/>
              </a:rPr>
              <a:t>Second Outline Level</a:t>
            </a:r>
            <a:endParaRPr lang="fr-FR"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fr-FR" sz="2000" b="0" u="none" strike="noStrike">
                <a:solidFill>
                  <a:schemeClr val="dk1"/>
                </a:solidFill>
                <a:effectLst/>
                <a:uFillTx/>
                <a:latin typeface="Calibri"/>
              </a:rPr>
              <a:t>Third Outline Level</a:t>
            </a:r>
            <a:endParaRPr lang="fr-FR"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fr-FR" sz="2000" b="0" u="none" strike="noStrike">
                <a:solidFill>
                  <a:schemeClr val="dk1"/>
                </a:solidFill>
                <a:effectLst/>
                <a:uFillTx/>
                <a:latin typeface="Calibri"/>
              </a:rPr>
              <a:t>Fourth Outline Level</a:t>
            </a:r>
            <a:endParaRPr lang="fr-FR"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fr-FR" sz="2000" b="0" u="none" strike="noStrike">
                <a:solidFill>
                  <a:schemeClr val="dk1"/>
                </a:solidFill>
                <a:effectLst/>
                <a:uFillTx/>
                <a:latin typeface="Calibri"/>
              </a:rPr>
              <a:t>Fifth Outline Level</a:t>
            </a:r>
            <a:endParaRPr lang="fr-FR"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fr-FR" sz="2000" b="0" u="none" strike="noStrike">
                <a:solidFill>
                  <a:schemeClr val="dk1"/>
                </a:solidFill>
                <a:effectLst/>
                <a:uFillTx/>
                <a:latin typeface="Calibri"/>
              </a:rPr>
              <a:t>Sixth Outline Level</a:t>
            </a:r>
            <a:endParaRPr lang="fr-FR"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fr-FR" sz="2000" b="0" u="none" strike="noStrike">
                <a:solidFill>
                  <a:schemeClr val="dk1"/>
                </a:solidFill>
                <a:effectLst/>
                <a:uFillTx/>
                <a:latin typeface="Calibri"/>
              </a:rPr>
              <a:t>Seventh Outline Level</a:t>
            </a:r>
            <a:endParaRPr lang="fr-FR"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10" name="Shape 0"/>
          <p:cNvSpPr/>
          <p:nvPr/>
        </p:nvSpPr>
        <p:spPr>
          <a:xfrm>
            <a:off x="0" y="0"/>
            <a:ext cx="12188520" cy="6857640"/>
          </a:xfrm>
          <a:prstGeom prst="rect">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1" name="Shape 1"/>
          <p:cNvSpPr/>
          <p:nvPr/>
        </p:nvSpPr>
        <p:spPr>
          <a:xfrm>
            <a:off x="8778240" y="-1645920"/>
            <a:ext cx="5028840" cy="50288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 name="Shape 2"/>
          <p:cNvSpPr/>
          <p:nvPr/>
        </p:nvSpPr>
        <p:spPr>
          <a:xfrm>
            <a:off x="-2011680" y="4572000"/>
            <a:ext cx="4114440" cy="41144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3" name="Text 3"/>
          <p:cNvSpPr/>
          <p:nvPr/>
        </p:nvSpPr>
        <p:spPr>
          <a:xfrm>
            <a:off x="822960" y="1554480"/>
            <a:ext cx="914364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pc="201" strike="noStrike">
                <a:solidFill>
                  <a:srgbClr val="F39C12"/>
                </a:solidFill>
                <a:effectLst/>
                <a:uFillTx/>
                <a:latin typeface="Calibri"/>
                <a:ea typeface="Calibri"/>
              </a:rPr>
              <a:t>SUPPORT DE COURS — JOURNÉE DE FORMATION</a:t>
            </a:r>
            <a:endParaRPr lang="fr-FR" sz="1400" b="0" u="none" strike="noStrike">
              <a:solidFill>
                <a:srgbClr val="FFFFFF"/>
              </a:solidFill>
              <a:effectLst/>
              <a:uFillTx/>
              <a:latin typeface="Arial"/>
            </a:endParaRPr>
          </a:p>
        </p:txBody>
      </p:sp>
      <p:sp>
        <p:nvSpPr>
          <p:cNvPr id="14" name="Text 4"/>
          <p:cNvSpPr/>
          <p:nvPr/>
        </p:nvSpPr>
        <p:spPr>
          <a:xfrm>
            <a:off x="777240" y="2057400"/>
            <a:ext cx="10058040" cy="2194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8000"/>
              </a:lnSpc>
              <a:tabLst>
                <a:tab pos="0" algn="l"/>
              </a:tabLst>
            </a:pPr>
            <a:r>
              <a:rPr lang="en-US" sz="4400" b="1" u="none" strike="noStrike">
                <a:solidFill>
                  <a:srgbClr val="F39C12"/>
                </a:solidFill>
                <a:effectLst/>
                <a:uFillTx/>
                <a:latin typeface="Cambria"/>
                <a:ea typeface="Cambria"/>
              </a:rPr>
              <a:t>Classification : Arbres de décision</a:t>
            </a:r>
            <a:endParaRPr lang="fr-FR" sz="4400" b="0" u="none" strike="noStrike">
              <a:solidFill>
                <a:srgbClr val="FFFFFF"/>
              </a:solidFill>
              <a:effectLst/>
              <a:uFillTx/>
              <a:latin typeface="Arial"/>
            </a:endParaRPr>
          </a:p>
          <a:p>
            <a:pPr defTabSz="914400">
              <a:lnSpc>
                <a:spcPct val="108000"/>
              </a:lnSpc>
              <a:tabLst>
                <a:tab pos="0" algn="l"/>
              </a:tabLst>
            </a:pPr>
            <a:r>
              <a:rPr lang="en-US" sz="4400" b="1" u="none" strike="noStrike">
                <a:solidFill>
                  <a:srgbClr val="F39C12"/>
                </a:solidFill>
                <a:effectLst/>
                <a:uFillTx/>
                <a:latin typeface="Cambria"/>
                <a:ea typeface="Cambria"/>
              </a:rPr>
              <a:t>et régression logistique</a:t>
            </a:r>
            <a:endParaRPr lang="fr-FR" sz="4400" b="0" u="none" strike="noStrike">
              <a:solidFill>
                <a:srgbClr val="FFFFFF"/>
              </a:solidFill>
              <a:effectLst/>
              <a:uFillTx/>
              <a:latin typeface="Arial"/>
            </a:endParaRPr>
          </a:p>
        </p:txBody>
      </p:sp>
      <p:sp>
        <p:nvSpPr>
          <p:cNvPr id="15" name="Text 5"/>
          <p:cNvSpPr/>
          <p:nvPr/>
        </p:nvSpPr>
        <p:spPr>
          <a:xfrm>
            <a:off x="822960" y="4160520"/>
            <a:ext cx="9600840" cy="548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CBD3F0"/>
                </a:solidFill>
                <a:effectLst/>
                <a:uFillTx/>
                <a:latin typeface="Calibri"/>
                <a:ea typeface="Calibri"/>
              </a:rPr>
              <a:t>Entropie · Gain d'information · Arbres de décision · Régression logistique · Python &amp; scikit-learn</a:t>
            </a:r>
            <a:endParaRPr lang="fr-FR" sz="1600" b="0" u="none" strike="noStrike">
              <a:solidFill>
                <a:srgbClr val="FFFFFF"/>
              </a:solidFill>
              <a:effectLst/>
              <a:uFillTx/>
              <a:latin typeface="Arial"/>
            </a:endParaRPr>
          </a:p>
        </p:txBody>
      </p:sp>
      <p:sp>
        <p:nvSpPr>
          <p:cNvPr id="16" name="Shape 6"/>
          <p:cNvSpPr/>
          <p:nvPr/>
        </p:nvSpPr>
        <p:spPr>
          <a:xfrm>
            <a:off x="822960" y="5212080"/>
            <a:ext cx="3017160" cy="548280"/>
          </a:xfrm>
          <a:prstGeom prst="roundRect">
            <a:avLst>
              <a:gd name="adj" fmla="val 20000"/>
            </a:avLst>
          </a:prstGeom>
          <a:solidFill>
            <a:srgbClr val="263177"/>
          </a:solidFill>
          <a:ln w="12700">
            <a:solidFill>
              <a:srgbClr val="F39C12"/>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 name="Text 7"/>
          <p:cNvSpPr/>
          <p:nvPr/>
        </p:nvSpPr>
        <p:spPr>
          <a:xfrm>
            <a:off x="822960" y="5212080"/>
            <a:ext cx="3017160" cy="548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MATIN · 8h00–12h00</a:t>
            </a:r>
            <a:endParaRPr lang="fr-FR" sz="1250" b="0" u="none" strike="noStrike">
              <a:solidFill>
                <a:srgbClr val="FFFFFF"/>
              </a:solidFill>
              <a:effectLst/>
              <a:uFillTx/>
              <a:latin typeface="Arial"/>
            </a:endParaRPr>
          </a:p>
        </p:txBody>
      </p:sp>
      <p:sp>
        <p:nvSpPr>
          <p:cNvPr id="18" name="Shape 8"/>
          <p:cNvSpPr/>
          <p:nvPr/>
        </p:nvSpPr>
        <p:spPr>
          <a:xfrm>
            <a:off x="4114800" y="5212080"/>
            <a:ext cx="3017160" cy="548280"/>
          </a:xfrm>
          <a:prstGeom prst="roundRect">
            <a:avLst>
              <a:gd name="adj" fmla="val 20000"/>
            </a:avLst>
          </a:prstGeom>
          <a:solidFill>
            <a:srgbClr val="263177"/>
          </a:solidFill>
          <a:ln w="12700">
            <a:solidFill>
              <a:srgbClr val="F39C12"/>
            </a:solidFill>
            <a:round/>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9" name="Text 9"/>
          <p:cNvSpPr/>
          <p:nvPr/>
        </p:nvSpPr>
        <p:spPr>
          <a:xfrm>
            <a:off x="4114800" y="5212080"/>
            <a:ext cx="3017160" cy="548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1" u="none" strike="noStrike">
                <a:solidFill>
                  <a:srgbClr val="FFFFFF"/>
                </a:solidFill>
                <a:effectLst/>
                <a:uFillTx/>
                <a:latin typeface="Calibri"/>
                <a:ea typeface="Calibri"/>
              </a:rPr>
              <a:t>APRÈS-MIDI · 13h30–16h30</a:t>
            </a:r>
            <a:endParaRPr lang="fr-FR" sz="12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INTRODUCTION</a:t>
            </a:r>
            <a:endParaRPr lang="fr-FR" sz="1200" b="0" u="none" strike="noStrike">
              <a:solidFill>
                <a:srgbClr val="000000"/>
              </a:solidFill>
              <a:effectLst/>
              <a:uFillTx/>
              <a:latin typeface="Arial"/>
            </a:endParaRPr>
          </a:p>
        </p:txBody>
      </p:sp>
      <p:sp>
        <p:nvSpPr>
          <p:cNvPr id="21"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Objectifs de la journée</a:t>
            </a:r>
            <a:endParaRPr lang="fr-FR" sz="3000" b="0" u="none" strike="noStrike">
              <a:solidFill>
                <a:srgbClr val="000000"/>
              </a:solidFill>
              <a:effectLst/>
              <a:uFillTx/>
              <a:latin typeface="Arial"/>
            </a:endParaRPr>
          </a:p>
        </p:txBody>
      </p:sp>
      <p:sp>
        <p:nvSpPr>
          <p:cNvPr id="22" name="Text 2"/>
          <p:cNvSpPr/>
          <p:nvPr/>
        </p:nvSpPr>
        <p:spPr>
          <a:xfrm>
            <a:off x="548640" y="1417320"/>
            <a:ext cx="6400440" cy="1737000"/>
          </a:xfrm>
          <a:prstGeom prst="rect">
            <a:avLst/>
          </a:prstGeom>
          <a:noFill/>
          <a:ln w="0">
            <a:noFill/>
          </a:ln>
        </p:spPr>
        <p:style>
          <a:lnRef idx="0"/>
          <a:fillRef idx="0"/>
          <a:effectRef idx="0"/>
          <a:fontRef idx="minor"/>
        </p:style>
        <p:txBody>
          <a:bodyPr lIns="90000" tIns="45000" rIns="90000" bIns="45000" anchor="t">
            <a:noAutofit/>
          </a:bodyPr>
          <a:p>
            <a:pPr defTabSz="914400">
              <a:lnSpc>
                <a:spcPct val="120000"/>
              </a:lnSpc>
              <a:tabLst>
                <a:tab pos="0" algn="l"/>
              </a:tabLst>
            </a:pPr>
            <a:r>
              <a:rPr lang="en-US" sz="1250" b="0" u="none" strike="noStrike">
                <a:solidFill>
                  <a:srgbClr val="1B1F3B"/>
                </a:solidFill>
                <a:effectLst/>
                <a:uFillTx/>
                <a:latin typeface="Calibri"/>
                <a:ea typeface="Calibri"/>
              </a:rPr>
              <a:t>Bienvenue à cette journée de formation ! Aujourd'hui, nous allons découvrir deux méthodes de classification très utilisées en machine learning : l'arbre de décision et la régression logistique. Vous connaissez déjà Python, c'est parfait : nous allons pouvoir rapidement passer à la pratique. Mais d'abord, nous allons poser des bases solides en comprenant les idées, les formules et les calculs pas à pas.</a:t>
            </a:r>
            <a:endParaRPr lang="fr-FR" sz="1250" b="0" u="none" strike="noStrike">
              <a:solidFill>
                <a:srgbClr val="000000"/>
              </a:solidFill>
              <a:effectLst/>
              <a:uFillTx/>
              <a:latin typeface="Arial"/>
            </a:endParaRPr>
          </a:p>
        </p:txBody>
      </p:sp>
      <p:sp>
        <p:nvSpPr>
          <p:cNvPr id="23" name="Text 3"/>
          <p:cNvSpPr/>
          <p:nvPr/>
        </p:nvSpPr>
        <p:spPr>
          <a:xfrm>
            <a:off x="548640" y="3246120"/>
            <a:ext cx="64004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E2761"/>
                </a:solidFill>
                <a:effectLst/>
                <a:uFillTx/>
                <a:latin typeface="Calibri"/>
                <a:ea typeface="Calibri"/>
              </a:rPr>
              <a:t>À la fin de cette formation, vous serez capables de :</a:t>
            </a:r>
            <a:endParaRPr lang="fr-FR" sz="1300" b="0" u="none" strike="noStrike">
              <a:solidFill>
                <a:srgbClr val="000000"/>
              </a:solidFill>
              <a:effectLst/>
              <a:uFillTx/>
              <a:latin typeface="Arial"/>
            </a:endParaRPr>
          </a:p>
        </p:txBody>
      </p:sp>
      <p:sp>
        <p:nvSpPr>
          <p:cNvPr id="24" name="Shape 4"/>
          <p:cNvSpPr/>
          <p:nvPr/>
        </p:nvSpPr>
        <p:spPr>
          <a:xfrm>
            <a:off x="548640" y="3712320"/>
            <a:ext cx="200880" cy="20088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5" name="Text 5"/>
          <p:cNvSpPr/>
          <p:nvPr/>
        </p:nvSpPr>
        <p:spPr>
          <a:xfrm>
            <a:off x="914400" y="3602880"/>
            <a:ext cx="612612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B1F3B"/>
                </a:solidFill>
                <a:effectLst/>
                <a:uFillTx/>
                <a:latin typeface="Calibri"/>
                <a:ea typeface="Calibri"/>
              </a:rPr>
              <a:t>Expliquer simplement l'entropie et le gain d'information.</a:t>
            </a:r>
            <a:endParaRPr lang="fr-FR" sz="1250" b="0" u="none" strike="noStrike">
              <a:solidFill>
                <a:srgbClr val="000000"/>
              </a:solidFill>
              <a:effectLst/>
              <a:uFillTx/>
              <a:latin typeface="Arial"/>
            </a:endParaRPr>
          </a:p>
        </p:txBody>
      </p:sp>
      <p:sp>
        <p:nvSpPr>
          <p:cNvPr id="26" name="Shape 6"/>
          <p:cNvSpPr/>
          <p:nvPr/>
        </p:nvSpPr>
        <p:spPr>
          <a:xfrm>
            <a:off x="548640" y="4279320"/>
            <a:ext cx="200880" cy="20088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7" name="Text 7"/>
          <p:cNvSpPr/>
          <p:nvPr/>
        </p:nvSpPr>
        <p:spPr>
          <a:xfrm>
            <a:off x="914400" y="4169520"/>
            <a:ext cx="612612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B1F3B"/>
                </a:solidFill>
                <a:effectLst/>
                <a:uFillTx/>
                <a:latin typeface="Calibri"/>
                <a:ea typeface="Calibri"/>
              </a:rPr>
              <a:t>Construire et interpréter un arbre de décision.</a:t>
            </a:r>
            <a:endParaRPr lang="fr-FR" sz="1250" b="0" u="none" strike="noStrike">
              <a:solidFill>
                <a:srgbClr val="000000"/>
              </a:solidFill>
              <a:effectLst/>
              <a:uFillTx/>
              <a:latin typeface="Arial"/>
            </a:endParaRPr>
          </a:p>
        </p:txBody>
      </p:sp>
      <p:sp>
        <p:nvSpPr>
          <p:cNvPr id="28" name="Shape 8"/>
          <p:cNvSpPr/>
          <p:nvPr/>
        </p:nvSpPr>
        <p:spPr>
          <a:xfrm>
            <a:off x="548640" y="4846320"/>
            <a:ext cx="200880" cy="20088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9" name="Text 9"/>
          <p:cNvSpPr/>
          <p:nvPr/>
        </p:nvSpPr>
        <p:spPr>
          <a:xfrm>
            <a:off x="914400" y="4736520"/>
            <a:ext cx="612612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B1F3B"/>
                </a:solidFill>
                <a:effectLst/>
                <a:uFillTx/>
                <a:latin typeface="Calibri"/>
                <a:ea typeface="Calibri"/>
              </a:rPr>
              <a:t>Expliquer et appliquer la régression logistique.</a:t>
            </a:r>
            <a:endParaRPr lang="fr-FR" sz="1250" b="0" u="none" strike="noStrike">
              <a:solidFill>
                <a:srgbClr val="000000"/>
              </a:solidFill>
              <a:effectLst/>
              <a:uFillTx/>
              <a:latin typeface="Arial"/>
            </a:endParaRPr>
          </a:p>
        </p:txBody>
      </p:sp>
      <p:sp>
        <p:nvSpPr>
          <p:cNvPr id="30" name="Shape 10"/>
          <p:cNvSpPr/>
          <p:nvPr/>
        </p:nvSpPr>
        <p:spPr>
          <a:xfrm>
            <a:off x="548640" y="5413320"/>
            <a:ext cx="200880" cy="20088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1" name="Text 11"/>
          <p:cNvSpPr/>
          <p:nvPr/>
        </p:nvSpPr>
        <p:spPr>
          <a:xfrm>
            <a:off x="914400" y="5303520"/>
            <a:ext cx="612612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B1F3B"/>
                </a:solidFill>
                <a:effectLst/>
                <a:uFillTx/>
                <a:latin typeface="Calibri"/>
                <a:ea typeface="Calibri"/>
              </a:rPr>
              <a:t>Implémenter un modèle de classification simple en Python.</a:t>
            </a:r>
            <a:endParaRPr lang="fr-FR" sz="1250" b="0" u="none" strike="noStrike">
              <a:solidFill>
                <a:srgbClr val="000000"/>
              </a:solidFill>
              <a:effectLst/>
              <a:uFillTx/>
              <a:latin typeface="Arial"/>
            </a:endParaRPr>
          </a:p>
        </p:txBody>
      </p:sp>
      <p:sp>
        <p:nvSpPr>
          <p:cNvPr id="32" name="Shape 12"/>
          <p:cNvSpPr/>
          <p:nvPr/>
        </p:nvSpPr>
        <p:spPr>
          <a:xfrm>
            <a:off x="7315200" y="1417320"/>
            <a:ext cx="4343040" cy="4845960"/>
          </a:xfrm>
          <a:prstGeom prst="roundRect">
            <a:avLst>
              <a:gd name="adj" fmla="val 1684"/>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3" name="Text 13"/>
          <p:cNvSpPr/>
          <p:nvPr/>
        </p:nvSpPr>
        <p:spPr>
          <a:xfrm>
            <a:off x="7635240" y="1600200"/>
            <a:ext cx="374868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150" strike="noStrike">
                <a:solidFill>
                  <a:srgbClr val="F39C12"/>
                </a:solidFill>
                <a:effectLst/>
                <a:uFillTx/>
                <a:latin typeface="Calibri"/>
                <a:ea typeface="Calibri"/>
              </a:rPr>
              <a:t>TABLE DES MATIÈRES</a:t>
            </a:r>
            <a:endParaRPr lang="fr-FR" sz="1200" b="0" u="none" strike="noStrike">
              <a:solidFill>
                <a:srgbClr val="000000"/>
              </a:solidFill>
              <a:effectLst/>
              <a:uFillTx/>
              <a:latin typeface="Arial"/>
            </a:endParaRPr>
          </a:p>
        </p:txBody>
      </p:sp>
      <p:sp>
        <p:nvSpPr>
          <p:cNvPr id="34" name="Text 14"/>
          <p:cNvSpPr/>
          <p:nvPr/>
        </p:nvSpPr>
        <p:spPr>
          <a:xfrm>
            <a:off x="7635240" y="201168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E2761"/>
                </a:solidFill>
                <a:effectLst/>
                <a:uFillTx/>
                <a:latin typeface="Calibri"/>
                <a:ea typeface="Calibri"/>
              </a:rPr>
              <a:t>Matin (8h00–12h00)</a:t>
            </a:r>
            <a:endParaRPr lang="fr-FR" sz="1150" b="0" u="none" strike="noStrike">
              <a:solidFill>
                <a:srgbClr val="000000"/>
              </a:solidFill>
              <a:effectLst/>
              <a:uFillTx/>
              <a:latin typeface="Arial"/>
            </a:endParaRPr>
          </a:p>
        </p:txBody>
      </p:sp>
      <p:sp>
        <p:nvSpPr>
          <p:cNvPr id="35" name="Text 15"/>
          <p:cNvSpPr/>
          <p:nvPr/>
        </p:nvSpPr>
        <p:spPr>
          <a:xfrm>
            <a:off x="7635240" y="232272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Introduction à la classification</a:t>
            </a:r>
            <a:endParaRPr lang="fr-FR" sz="1050" b="0" u="none" strike="noStrike">
              <a:solidFill>
                <a:srgbClr val="000000"/>
              </a:solidFill>
              <a:effectLst/>
              <a:uFillTx/>
              <a:latin typeface="Arial"/>
            </a:endParaRPr>
          </a:p>
        </p:txBody>
      </p:sp>
      <p:sp>
        <p:nvSpPr>
          <p:cNvPr id="36" name="Text 16"/>
          <p:cNvSpPr/>
          <p:nvPr/>
        </p:nvSpPr>
        <p:spPr>
          <a:xfrm>
            <a:off x="7635240" y="258768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L'entropie</a:t>
            </a:r>
            <a:endParaRPr lang="fr-FR" sz="1050" b="0" u="none" strike="noStrike">
              <a:solidFill>
                <a:srgbClr val="000000"/>
              </a:solidFill>
              <a:effectLst/>
              <a:uFillTx/>
              <a:latin typeface="Arial"/>
            </a:endParaRPr>
          </a:p>
        </p:txBody>
      </p:sp>
      <p:sp>
        <p:nvSpPr>
          <p:cNvPr id="37" name="Text 17"/>
          <p:cNvSpPr/>
          <p:nvPr/>
        </p:nvSpPr>
        <p:spPr>
          <a:xfrm>
            <a:off x="7635240" y="285300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Le gain d'information</a:t>
            </a:r>
            <a:endParaRPr lang="fr-FR" sz="1050" b="0" u="none" strike="noStrike">
              <a:solidFill>
                <a:srgbClr val="000000"/>
              </a:solidFill>
              <a:effectLst/>
              <a:uFillTx/>
              <a:latin typeface="Arial"/>
            </a:endParaRPr>
          </a:p>
        </p:txBody>
      </p:sp>
      <p:sp>
        <p:nvSpPr>
          <p:cNvPr id="38" name="Text 18"/>
          <p:cNvSpPr/>
          <p:nvPr/>
        </p:nvSpPr>
        <p:spPr>
          <a:xfrm>
            <a:off x="7635240" y="311796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Arbres de décision</a:t>
            </a:r>
            <a:endParaRPr lang="fr-FR" sz="1050" b="0" u="none" strike="noStrike">
              <a:solidFill>
                <a:srgbClr val="000000"/>
              </a:solidFill>
              <a:effectLst/>
              <a:uFillTx/>
              <a:latin typeface="Arial"/>
            </a:endParaRPr>
          </a:p>
        </p:txBody>
      </p:sp>
      <p:sp>
        <p:nvSpPr>
          <p:cNvPr id="39" name="Text 19"/>
          <p:cNvSpPr/>
          <p:nvPr/>
        </p:nvSpPr>
        <p:spPr>
          <a:xfrm>
            <a:off x="7635240" y="338328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Régression logistique</a:t>
            </a:r>
            <a:endParaRPr lang="fr-FR" sz="1050" b="0" u="none" strike="noStrike">
              <a:solidFill>
                <a:srgbClr val="000000"/>
              </a:solidFill>
              <a:effectLst/>
              <a:uFillTx/>
              <a:latin typeface="Arial"/>
            </a:endParaRPr>
          </a:p>
        </p:txBody>
      </p:sp>
      <p:sp>
        <p:nvSpPr>
          <p:cNvPr id="40" name="Text 20"/>
          <p:cNvSpPr/>
          <p:nvPr/>
        </p:nvSpPr>
        <p:spPr>
          <a:xfrm>
            <a:off x="7635240" y="364860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Comparaison et conclusion</a:t>
            </a:r>
            <a:endParaRPr lang="fr-FR" sz="1050" b="0" u="none" strike="noStrike">
              <a:solidFill>
                <a:srgbClr val="000000"/>
              </a:solidFill>
              <a:effectLst/>
              <a:uFillTx/>
              <a:latin typeface="Arial"/>
            </a:endParaRPr>
          </a:p>
        </p:txBody>
      </p:sp>
      <p:sp>
        <p:nvSpPr>
          <p:cNvPr id="41" name="Text 21"/>
          <p:cNvSpPr/>
          <p:nvPr/>
        </p:nvSpPr>
        <p:spPr>
          <a:xfrm>
            <a:off x="7635240" y="391356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E2761"/>
                </a:solidFill>
                <a:effectLst/>
                <a:uFillTx/>
                <a:latin typeface="Calibri"/>
                <a:ea typeface="Calibri"/>
              </a:rPr>
              <a:t>Après-midi (13h30–16h30)</a:t>
            </a:r>
            <a:endParaRPr lang="fr-FR" sz="1150" b="0" u="none" strike="noStrike">
              <a:solidFill>
                <a:srgbClr val="000000"/>
              </a:solidFill>
              <a:effectLst/>
              <a:uFillTx/>
              <a:latin typeface="Arial"/>
            </a:endParaRPr>
          </a:p>
        </p:txBody>
      </p:sp>
      <p:sp>
        <p:nvSpPr>
          <p:cNvPr id="42" name="Text 22"/>
          <p:cNvSpPr/>
          <p:nvPr/>
        </p:nvSpPr>
        <p:spPr>
          <a:xfrm>
            <a:off x="7635240" y="422460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Jeu de données &amp; mise en place</a:t>
            </a:r>
            <a:endParaRPr lang="fr-FR" sz="1050" b="0" u="none" strike="noStrike">
              <a:solidFill>
                <a:srgbClr val="000000"/>
              </a:solidFill>
              <a:effectLst/>
              <a:uFillTx/>
              <a:latin typeface="Arial"/>
            </a:endParaRPr>
          </a:p>
        </p:txBody>
      </p:sp>
      <p:sp>
        <p:nvSpPr>
          <p:cNvPr id="43" name="Text 23"/>
          <p:cNvSpPr/>
          <p:nvPr/>
        </p:nvSpPr>
        <p:spPr>
          <a:xfrm>
            <a:off x="7635240" y="448956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Implémentation en Python</a:t>
            </a:r>
            <a:endParaRPr lang="fr-FR" sz="1050" b="0" u="none" strike="noStrike">
              <a:solidFill>
                <a:srgbClr val="000000"/>
              </a:solidFill>
              <a:effectLst/>
              <a:uFillTx/>
              <a:latin typeface="Arial"/>
            </a:endParaRPr>
          </a:p>
        </p:txBody>
      </p:sp>
      <p:sp>
        <p:nvSpPr>
          <p:cNvPr id="44" name="Text 24"/>
          <p:cNvSpPr/>
          <p:nvPr/>
        </p:nvSpPr>
        <p:spPr>
          <a:xfrm>
            <a:off x="7635240" y="475488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Modèles avec scikit-learn</a:t>
            </a:r>
            <a:endParaRPr lang="fr-FR" sz="1050" b="0" u="none" strike="noStrike">
              <a:solidFill>
                <a:srgbClr val="000000"/>
              </a:solidFill>
              <a:effectLst/>
              <a:uFillTx/>
              <a:latin typeface="Arial"/>
            </a:endParaRPr>
          </a:p>
        </p:txBody>
      </p:sp>
      <p:sp>
        <p:nvSpPr>
          <p:cNvPr id="45" name="Text 25"/>
          <p:cNvSpPr/>
          <p:nvPr/>
        </p:nvSpPr>
        <p:spPr>
          <a:xfrm>
            <a:off x="7635240" y="502020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Visualisations supplémentaires</a:t>
            </a:r>
            <a:endParaRPr lang="fr-FR" sz="1050" b="0" u="none" strike="noStrike">
              <a:solidFill>
                <a:srgbClr val="000000"/>
              </a:solidFill>
              <a:effectLst/>
              <a:uFillTx/>
              <a:latin typeface="Arial"/>
            </a:endParaRPr>
          </a:p>
        </p:txBody>
      </p:sp>
      <p:sp>
        <p:nvSpPr>
          <p:cNvPr id="46" name="Text 26"/>
          <p:cNvSpPr/>
          <p:nvPr/>
        </p:nvSpPr>
        <p:spPr>
          <a:xfrm>
            <a:off x="7635240" y="528516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alibri"/>
                <a:ea typeface="Calibri"/>
              </a:rPr>
              <a:t>Interprétation &amp; discussion</a:t>
            </a:r>
            <a:endParaRPr lang="fr-FR" sz="1050" b="0" u="none" strike="noStrike">
              <a:solidFill>
                <a:srgbClr val="000000"/>
              </a:solidFill>
              <a:effectLst/>
              <a:uFillTx/>
              <a:latin typeface="Arial"/>
            </a:endParaRPr>
          </a:p>
        </p:txBody>
      </p:sp>
      <p:sp>
        <p:nvSpPr>
          <p:cNvPr id="47" name="Text 27"/>
          <p:cNvSpPr/>
          <p:nvPr/>
        </p:nvSpPr>
        <p:spPr>
          <a:xfrm>
            <a:off x="7635240" y="5550480"/>
            <a:ext cx="374868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1E2761"/>
                </a:solidFill>
                <a:effectLst/>
                <a:uFillTx/>
                <a:latin typeface="Calibri"/>
                <a:ea typeface="Calibri"/>
              </a:rPr>
              <a:t>Résumé final &amp; évaluation</a:t>
            </a:r>
            <a:endParaRPr lang="fr-FR" sz="1150" b="0" u="none" strike="noStrike">
              <a:solidFill>
                <a:srgbClr val="000000"/>
              </a:solidFill>
              <a:effectLst/>
              <a:uFillTx/>
              <a:latin typeface="Arial"/>
            </a:endParaRPr>
          </a:p>
        </p:txBody>
      </p:sp>
      <p:sp>
        <p:nvSpPr>
          <p:cNvPr id="48" name="Text 28"/>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2</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49" name="Shape 0"/>
          <p:cNvSpPr/>
          <p:nvPr/>
        </p:nvSpPr>
        <p:spPr>
          <a:xfrm>
            <a:off x="9326880" y="-2011680"/>
            <a:ext cx="5486040" cy="54860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50" name="Text 1"/>
          <p:cNvSpPr/>
          <p:nvPr/>
        </p:nvSpPr>
        <p:spPr>
          <a:xfrm>
            <a:off x="822960" y="2286000"/>
            <a:ext cx="2742840" cy="1279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0" b="1" u="none" strike="noStrike">
                <a:solidFill>
                  <a:srgbClr val="3A468F"/>
                </a:solidFill>
                <a:effectLst/>
                <a:uFillTx/>
                <a:latin typeface="Cambria"/>
                <a:ea typeface="Cambria"/>
              </a:rPr>
              <a:t>01</a:t>
            </a:r>
            <a:endParaRPr lang="fr-FR" sz="9000" b="0" u="none" strike="noStrike">
              <a:solidFill>
                <a:srgbClr val="FFFFFF"/>
              </a:solidFill>
              <a:effectLst/>
              <a:uFillTx/>
              <a:latin typeface="Arial"/>
            </a:endParaRPr>
          </a:p>
        </p:txBody>
      </p:sp>
      <p:sp>
        <p:nvSpPr>
          <p:cNvPr id="51" name="Text 2"/>
          <p:cNvSpPr/>
          <p:nvPr/>
        </p:nvSpPr>
        <p:spPr>
          <a:xfrm>
            <a:off x="822960" y="3291840"/>
            <a:ext cx="9143640" cy="1005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800" b="1" u="none" strike="noStrike">
                <a:solidFill>
                  <a:srgbClr val="F39C12"/>
                </a:solidFill>
                <a:effectLst/>
                <a:uFillTx/>
                <a:latin typeface="Cambria"/>
                <a:ea typeface="Cambria"/>
              </a:rPr>
              <a:t>MATIN — 9h00 à 12h00</a:t>
            </a:r>
            <a:endParaRPr lang="fr-FR" sz="3800" b="0" u="none" strike="noStrike">
              <a:solidFill>
                <a:srgbClr val="FFFFFF"/>
              </a:solidFill>
              <a:effectLst/>
              <a:uFillTx/>
              <a:latin typeface="Arial"/>
            </a:endParaRPr>
          </a:p>
        </p:txBody>
      </p:sp>
      <p:sp>
        <p:nvSpPr>
          <p:cNvPr id="52" name="Text 3"/>
          <p:cNvSpPr/>
          <p:nvPr/>
        </p:nvSpPr>
        <p:spPr>
          <a:xfrm>
            <a:off x="822960" y="4160520"/>
            <a:ext cx="8229240" cy="548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CBD3F0"/>
                </a:solidFill>
                <a:effectLst/>
                <a:uFillTx/>
                <a:latin typeface="Calibri"/>
                <a:ea typeface="Calibri"/>
              </a:rPr>
              <a:t>Fondations théoriques : entropie, gain d'information, arbres de décision, régression logistique</a:t>
            </a:r>
            <a:endParaRPr lang="fr-FR"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8H00 – 8H30 · INTRODUCTION À LA CLASSIFICATION</a:t>
            </a:r>
            <a:endParaRPr lang="fr-FR" sz="1200" b="0" u="none" strike="noStrike">
              <a:solidFill>
                <a:srgbClr val="000000"/>
              </a:solidFill>
              <a:effectLst/>
              <a:uFillTx/>
              <a:latin typeface="Arial"/>
            </a:endParaRPr>
          </a:p>
        </p:txBody>
      </p:sp>
      <p:sp>
        <p:nvSpPr>
          <p:cNvPr id="54"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Qu'est-ce que la classification ?</a:t>
            </a:r>
            <a:endParaRPr lang="fr-FR" sz="3000" b="0" u="none" strike="noStrike">
              <a:solidFill>
                <a:srgbClr val="000000"/>
              </a:solidFill>
              <a:effectLst/>
              <a:uFillTx/>
              <a:latin typeface="Arial"/>
            </a:endParaRPr>
          </a:p>
        </p:txBody>
      </p:sp>
      <p:sp>
        <p:nvSpPr>
          <p:cNvPr id="55" name="Text 2"/>
          <p:cNvSpPr/>
          <p:nvPr/>
        </p:nvSpPr>
        <p:spPr>
          <a:xfrm>
            <a:off x="548640" y="1417320"/>
            <a:ext cx="6309000" cy="1554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250" b="0" u="none" strike="noStrike">
                <a:solidFill>
                  <a:srgbClr val="1B1F3B"/>
                </a:solidFill>
                <a:effectLst/>
                <a:uFillTx/>
                <a:latin typeface="Calibri"/>
                <a:ea typeface="Calibri"/>
              </a:rPr>
              <a:t>La classification consiste à ranger des objets dans des catégories. En machine learning, on donne à l'ordinateur des exemples déjà étiquetés (avec la bonne réponse) pour qu'il apprenne à prédire la catégorie de nouveaux exemples. C'est ce qu'on appelle l'apprentissage supervisé.</a:t>
            </a:r>
            <a:endParaRPr lang="fr-FR" sz="1250" b="0" u="none" strike="noStrike">
              <a:solidFill>
                <a:srgbClr val="000000"/>
              </a:solidFill>
              <a:effectLst/>
              <a:uFillTx/>
              <a:latin typeface="Arial"/>
            </a:endParaRPr>
          </a:p>
        </p:txBody>
      </p:sp>
      <p:sp>
        <p:nvSpPr>
          <p:cNvPr id="56" name="Shape 3"/>
          <p:cNvSpPr/>
          <p:nvPr/>
        </p:nvSpPr>
        <p:spPr>
          <a:xfrm>
            <a:off x="548640" y="3063240"/>
            <a:ext cx="6309000" cy="594000"/>
          </a:xfrm>
          <a:prstGeom prst="roundRect">
            <a:avLst>
              <a:gd name="adj" fmla="val 9231"/>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57" name="Shape 4"/>
          <p:cNvSpPr/>
          <p:nvPr/>
        </p:nvSpPr>
        <p:spPr>
          <a:xfrm>
            <a:off x="713160" y="317304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58" name="Text 5"/>
          <p:cNvSpPr/>
          <p:nvPr/>
        </p:nvSpPr>
        <p:spPr>
          <a:xfrm>
            <a:off x="713160" y="317304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1B1F3B"/>
                </a:solidFill>
                <a:effectLst/>
                <a:uFillTx/>
                <a:latin typeface="Calibri"/>
                <a:ea typeface="Calibri"/>
              </a:rPr>
              <a:t>@</a:t>
            </a:r>
            <a:endParaRPr lang="fr-FR" sz="1500" b="0" u="none" strike="noStrike">
              <a:solidFill>
                <a:srgbClr val="000000"/>
              </a:solidFill>
              <a:effectLst/>
              <a:uFillTx/>
              <a:latin typeface="Arial"/>
            </a:endParaRPr>
          </a:p>
        </p:txBody>
      </p:sp>
      <p:sp>
        <p:nvSpPr>
          <p:cNvPr id="59" name="Text 6"/>
          <p:cNvSpPr/>
          <p:nvPr/>
        </p:nvSpPr>
        <p:spPr>
          <a:xfrm>
            <a:off x="1234440" y="3063240"/>
            <a:ext cx="553176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B1F3B"/>
                </a:solidFill>
                <a:effectLst/>
                <a:uFillTx/>
                <a:latin typeface="Calibri"/>
                <a:ea typeface="Calibri"/>
              </a:rPr>
              <a:t>Un email est spam ou non spam.</a:t>
            </a:r>
            <a:endParaRPr lang="fr-FR" sz="1250" b="0" u="none" strike="noStrike">
              <a:solidFill>
                <a:srgbClr val="000000"/>
              </a:solidFill>
              <a:effectLst/>
              <a:uFillTx/>
              <a:latin typeface="Arial"/>
            </a:endParaRPr>
          </a:p>
        </p:txBody>
      </p:sp>
      <p:sp>
        <p:nvSpPr>
          <p:cNvPr id="60" name="Shape 7"/>
          <p:cNvSpPr/>
          <p:nvPr/>
        </p:nvSpPr>
        <p:spPr>
          <a:xfrm>
            <a:off x="548640" y="3776400"/>
            <a:ext cx="6309000" cy="594000"/>
          </a:xfrm>
          <a:prstGeom prst="roundRect">
            <a:avLst>
              <a:gd name="adj" fmla="val 9231"/>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61" name="Shape 8"/>
          <p:cNvSpPr/>
          <p:nvPr/>
        </p:nvSpPr>
        <p:spPr>
          <a:xfrm>
            <a:off x="713160" y="388620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62" name="Text 9"/>
          <p:cNvSpPr/>
          <p:nvPr/>
        </p:nvSpPr>
        <p:spPr>
          <a:xfrm>
            <a:off x="713160" y="388620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1B1F3B"/>
                </a:solidFill>
                <a:effectLst/>
                <a:uFillTx/>
                <a:latin typeface="Calibri"/>
                <a:ea typeface="Calibri"/>
              </a:rPr>
              <a:t>C</a:t>
            </a:r>
            <a:endParaRPr lang="fr-FR" sz="1500" b="0" u="none" strike="noStrike">
              <a:solidFill>
                <a:srgbClr val="000000"/>
              </a:solidFill>
              <a:effectLst/>
              <a:uFillTx/>
              <a:latin typeface="Arial"/>
            </a:endParaRPr>
          </a:p>
        </p:txBody>
      </p:sp>
      <p:sp>
        <p:nvSpPr>
          <p:cNvPr id="63" name="Text 10"/>
          <p:cNvSpPr/>
          <p:nvPr/>
        </p:nvSpPr>
        <p:spPr>
          <a:xfrm>
            <a:off x="1234440" y="3776400"/>
            <a:ext cx="553176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B1F3B"/>
                </a:solidFill>
                <a:effectLst/>
                <a:uFillTx/>
                <a:latin typeface="Calibri"/>
                <a:ea typeface="Calibri"/>
              </a:rPr>
              <a:t>Un client va se désabonner ou rester.</a:t>
            </a:r>
            <a:endParaRPr lang="fr-FR" sz="1250" b="0" u="none" strike="noStrike">
              <a:solidFill>
                <a:srgbClr val="000000"/>
              </a:solidFill>
              <a:effectLst/>
              <a:uFillTx/>
              <a:latin typeface="Arial"/>
            </a:endParaRPr>
          </a:p>
        </p:txBody>
      </p:sp>
      <p:sp>
        <p:nvSpPr>
          <p:cNvPr id="64" name="Shape 11"/>
          <p:cNvSpPr/>
          <p:nvPr/>
        </p:nvSpPr>
        <p:spPr>
          <a:xfrm>
            <a:off x="548640" y="4489560"/>
            <a:ext cx="6309000" cy="594000"/>
          </a:xfrm>
          <a:prstGeom prst="roundRect">
            <a:avLst>
              <a:gd name="adj" fmla="val 9231"/>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65" name="Shape 12"/>
          <p:cNvSpPr/>
          <p:nvPr/>
        </p:nvSpPr>
        <p:spPr>
          <a:xfrm>
            <a:off x="713160" y="459936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66" name="Text 13"/>
          <p:cNvSpPr/>
          <p:nvPr/>
        </p:nvSpPr>
        <p:spPr>
          <a:xfrm>
            <a:off x="713160" y="459936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1B1F3B"/>
                </a:solidFill>
                <a:effectLst/>
                <a:uFillTx/>
                <a:latin typeface="Calibri"/>
                <a:ea typeface="Calibri"/>
              </a:rPr>
              <a:t>+</a:t>
            </a:r>
            <a:endParaRPr lang="fr-FR" sz="1500" b="0" u="none" strike="noStrike">
              <a:solidFill>
                <a:srgbClr val="000000"/>
              </a:solidFill>
              <a:effectLst/>
              <a:uFillTx/>
              <a:latin typeface="Arial"/>
            </a:endParaRPr>
          </a:p>
        </p:txBody>
      </p:sp>
      <p:sp>
        <p:nvSpPr>
          <p:cNvPr id="67" name="Text 14"/>
          <p:cNvSpPr/>
          <p:nvPr/>
        </p:nvSpPr>
        <p:spPr>
          <a:xfrm>
            <a:off x="1234440" y="4489560"/>
            <a:ext cx="553176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0" u="none" strike="noStrike">
                <a:solidFill>
                  <a:srgbClr val="1B1F3B"/>
                </a:solidFill>
                <a:effectLst/>
                <a:uFillTx/>
                <a:latin typeface="Calibri"/>
                <a:ea typeface="Calibri"/>
              </a:rPr>
              <a:t>Une tumeur est bénigne ou maligne.</a:t>
            </a:r>
            <a:endParaRPr lang="fr-FR" sz="1250" b="0" u="none" strike="noStrike">
              <a:solidFill>
                <a:srgbClr val="000000"/>
              </a:solidFill>
              <a:effectLst/>
              <a:uFillTx/>
              <a:latin typeface="Arial"/>
            </a:endParaRPr>
          </a:p>
        </p:txBody>
      </p:sp>
      <p:sp>
        <p:nvSpPr>
          <p:cNvPr id="68" name="Shape 15"/>
          <p:cNvSpPr/>
          <p:nvPr/>
        </p:nvSpPr>
        <p:spPr>
          <a:xfrm>
            <a:off x="7315200" y="1417320"/>
            <a:ext cx="4343040" cy="4845960"/>
          </a:xfrm>
          <a:prstGeom prst="roundRect">
            <a:avLst>
              <a:gd name="adj" fmla="val 1684"/>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69" name="Text 16"/>
          <p:cNvSpPr/>
          <p:nvPr/>
        </p:nvSpPr>
        <p:spPr>
          <a:xfrm>
            <a:off x="7635240" y="1645920"/>
            <a:ext cx="374868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99" strike="noStrike">
                <a:solidFill>
                  <a:srgbClr val="F39C12"/>
                </a:solidFill>
                <a:effectLst/>
                <a:uFillTx/>
                <a:latin typeface="Calibri"/>
                <a:ea typeface="Calibri"/>
              </a:rPr>
              <a:t>MINI-DÉFI : TRIEZ CES EMAILS</a:t>
            </a:r>
            <a:endParaRPr lang="fr-FR" sz="1200" b="0" u="none" strike="noStrike">
              <a:solidFill>
                <a:srgbClr val="000000"/>
              </a:solidFill>
              <a:effectLst/>
              <a:uFillTx/>
              <a:latin typeface="Arial"/>
            </a:endParaRPr>
          </a:p>
        </p:txBody>
      </p:sp>
      <p:sp>
        <p:nvSpPr>
          <p:cNvPr id="70" name="Shape 17"/>
          <p:cNvSpPr/>
          <p:nvPr/>
        </p:nvSpPr>
        <p:spPr>
          <a:xfrm>
            <a:off x="7589520" y="2148840"/>
            <a:ext cx="3794400" cy="1005480"/>
          </a:xfrm>
          <a:prstGeom prst="roundRect">
            <a:avLst>
              <a:gd name="adj" fmla="val 5455"/>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1" name="Text 18"/>
          <p:cNvSpPr/>
          <p:nvPr/>
        </p:nvSpPr>
        <p:spPr>
          <a:xfrm>
            <a:off x="7726680" y="2221920"/>
            <a:ext cx="352008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i="1" u="none" strike="noStrike">
                <a:solidFill>
                  <a:srgbClr val="FFFFFF"/>
                </a:solidFill>
                <a:effectLst/>
                <a:uFillTx/>
                <a:latin typeface="Calibri"/>
                <a:ea typeface="Calibri"/>
              </a:rPr>
              <a:t>"Compte-rendu de la réunion en pièce jointe."</a:t>
            </a:r>
            <a:endParaRPr lang="fr-FR" sz="1050" b="0" u="none" strike="noStrike">
              <a:solidFill>
                <a:srgbClr val="000000"/>
              </a:solidFill>
              <a:effectLst/>
              <a:uFillTx/>
              <a:latin typeface="Arial"/>
            </a:endParaRPr>
          </a:p>
        </p:txBody>
      </p:sp>
      <p:sp>
        <p:nvSpPr>
          <p:cNvPr id="72" name="Shape 19"/>
          <p:cNvSpPr/>
          <p:nvPr/>
        </p:nvSpPr>
        <p:spPr>
          <a:xfrm>
            <a:off x="7726680" y="2807280"/>
            <a:ext cx="1188360" cy="255600"/>
          </a:xfrm>
          <a:prstGeom prst="roundRect">
            <a:avLst>
              <a:gd name="adj" fmla="val 21429"/>
            </a:avLst>
          </a:prstGeom>
          <a:solidFill>
            <a:srgbClr val="27AE60"/>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3" name="Text 20"/>
          <p:cNvSpPr/>
          <p:nvPr/>
        </p:nvSpPr>
        <p:spPr>
          <a:xfrm>
            <a:off x="7726680" y="2807280"/>
            <a:ext cx="118836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FFFFFF"/>
                </a:solidFill>
                <a:effectLst/>
                <a:uFillTx/>
                <a:latin typeface="Calibri"/>
                <a:ea typeface="Calibri"/>
              </a:rPr>
              <a:t>Non spam</a:t>
            </a:r>
            <a:endParaRPr lang="fr-FR" sz="950" b="0" u="none" strike="noStrike">
              <a:solidFill>
                <a:srgbClr val="000000"/>
              </a:solidFill>
              <a:effectLst/>
              <a:uFillTx/>
              <a:latin typeface="Arial"/>
            </a:endParaRPr>
          </a:p>
        </p:txBody>
      </p:sp>
      <p:sp>
        <p:nvSpPr>
          <p:cNvPr id="74" name="Shape 21"/>
          <p:cNvSpPr/>
          <p:nvPr/>
        </p:nvSpPr>
        <p:spPr>
          <a:xfrm>
            <a:off x="7589520" y="3355920"/>
            <a:ext cx="3794400" cy="1005480"/>
          </a:xfrm>
          <a:prstGeom prst="roundRect">
            <a:avLst>
              <a:gd name="adj" fmla="val 5455"/>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5" name="Text 22"/>
          <p:cNvSpPr/>
          <p:nvPr/>
        </p:nvSpPr>
        <p:spPr>
          <a:xfrm>
            <a:off x="7726680" y="3429000"/>
            <a:ext cx="352008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i="1" u="none" strike="noStrike">
                <a:solidFill>
                  <a:srgbClr val="FFFFFF"/>
                </a:solidFill>
                <a:effectLst/>
                <a:uFillTx/>
                <a:latin typeface="Calibri"/>
                <a:ea typeface="Calibri"/>
              </a:rPr>
              <a:t>"FÉLICITATIONS !!! iPhone GRATUIT ! Cliquez ici."</a:t>
            </a:r>
            <a:endParaRPr lang="fr-FR" sz="1050" b="0" u="none" strike="noStrike">
              <a:solidFill>
                <a:srgbClr val="000000"/>
              </a:solidFill>
              <a:effectLst/>
              <a:uFillTx/>
              <a:latin typeface="Arial"/>
            </a:endParaRPr>
          </a:p>
        </p:txBody>
      </p:sp>
      <p:sp>
        <p:nvSpPr>
          <p:cNvPr id="76" name="Shape 23"/>
          <p:cNvSpPr/>
          <p:nvPr/>
        </p:nvSpPr>
        <p:spPr>
          <a:xfrm>
            <a:off x="7726680" y="4014360"/>
            <a:ext cx="1188360" cy="255600"/>
          </a:xfrm>
          <a:prstGeom prst="roundRect">
            <a:avLst>
              <a:gd name="adj" fmla="val 21429"/>
            </a:avLst>
          </a:prstGeom>
          <a:solidFill>
            <a:srgbClr val="E74C3C"/>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7" name="Text 24"/>
          <p:cNvSpPr/>
          <p:nvPr/>
        </p:nvSpPr>
        <p:spPr>
          <a:xfrm>
            <a:off x="7726680" y="4014360"/>
            <a:ext cx="118836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FFFFFF"/>
                </a:solidFill>
                <a:effectLst/>
                <a:uFillTx/>
                <a:latin typeface="Calibri"/>
                <a:ea typeface="Calibri"/>
              </a:rPr>
              <a:t>Spam</a:t>
            </a:r>
            <a:endParaRPr lang="fr-FR" sz="950" b="0" u="none" strike="noStrike">
              <a:solidFill>
                <a:srgbClr val="000000"/>
              </a:solidFill>
              <a:effectLst/>
              <a:uFillTx/>
              <a:latin typeface="Arial"/>
            </a:endParaRPr>
          </a:p>
        </p:txBody>
      </p:sp>
      <p:sp>
        <p:nvSpPr>
          <p:cNvPr id="78" name="Shape 25"/>
          <p:cNvSpPr/>
          <p:nvPr/>
        </p:nvSpPr>
        <p:spPr>
          <a:xfrm>
            <a:off x="7589520" y="4563000"/>
            <a:ext cx="3794400" cy="1005480"/>
          </a:xfrm>
          <a:prstGeom prst="roundRect">
            <a:avLst>
              <a:gd name="adj" fmla="val 5455"/>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79" name="Text 26"/>
          <p:cNvSpPr/>
          <p:nvPr/>
        </p:nvSpPr>
        <p:spPr>
          <a:xfrm>
            <a:off x="7726680" y="4636080"/>
            <a:ext cx="3520080" cy="594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i="1" u="none" strike="noStrike">
                <a:solidFill>
                  <a:srgbClr val="FFFFFF"/>
                </a:solidFill>
                <a:effectLst/>
                <a:uFillTx/>
                <a:latin typeface="Calibri"/>
                <a:ea typeface="Calibri"/>
              </a:rPr>
              <a:t>"Votre abonnement arrive à échéance demain."</a:t>
            </a:r>
            <a:endParaRPr lang="fr-FR" sz="1050" b="0" u="none" strike="noStrike">
              <a:solidFill>
                <a:srgbClr val="000000"/>
              </a:solidFill>
              <a:effectLst/>
              <a:uFillTx/>
              <a:latin typeface="Arial"/>
            </a:endParaRPr>
          </a:p>
        </p:txBody>
      </p:sp>
      <p:sp>
        <p:nvSpPr>
          <p:cNvPr id="80" name="Shape 27"/>
          <p:cNvSpPr/>
          <p:nvPr/>
        </p:nvSpPr>
        <p:spPr>
          <a:xfrm>
            <a:off x="7726680" y="5221080"/>
            <a:ext cx="1188360" cy="255600"/>
          </a:xfrm>
          <a:prstGeom prst="roundRect">
            <a:avLst>
              <a:gd name="adj" fmla="val 21429"/>
            </a:avLst>
          </a:prstGeom>
          <a:solidFill>
            <a:srgbClr val="27AE60"/>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81" name="Text 28"/>
          <p:cNvSpPr/>
          <p:nvPr/>
        </p:nvSpPr>
        <p:spPr>
          <a:xfrm>
            <a:off x="7726680" y="5221080"/>
            <a:ext cx="1188360" cy="255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FFFFFF"/>
                </a:solidFill>
                <a:effectLst/>
                <a:uFillTx/>
                <a:latin typeface="Calibri"/>
                <a:ea typeface="Calibri"/>
              </a:rPr>
              <a:t>Non spam</a:t>
            </a:r>
            <a:endParaRPr lang="fr-FR" sz="950" b="0" u="none" strike="noStrike">
              <a:solidFill>
                <a:srgbClr val="000000"/>
              </a:solidFill>
              <a:effectLst/>
              <a:uFillTx/>
              <a:latin typeface="Arial"/>
            </a:endParaRPr>
          </a:p>
        </p:txBody>
      </p:sp>
      <p:sp>
        <p:nvSpPr>
          <p:cNvPr id="82" name="Text 29"/>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5</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3"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8H00 – 8H30 · INTRODUCTION À LA CLASSIFICATION</a:t>
            </a:r>
            <a:endParaRPr lang="fr-FR" sz="1200" b="0" u="none" strike="noStrike">
              <a:solidFill>
                <a:srgbClr val="000000"/>
              </a:solidFill>
              <a:effectLst/>
              <a:uFillTx/>
              <a:latin typeface="Arial"/>
            </a:endParaRPr>
          </a:p>
        </p:txBody>
      </p:sp>
      <p:sp>
        <p:nvSpPr>
          <p:cNvPr id="84"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Micro-activité 1 (5 min)</a:t>
            </a:r>
            <a:endParaRPr lang="fr-FR" sz="3000" b="0" u="none" strike="noStrike">
              <a:solidFill>
                <a:srgbClr val="000000"/>
              </a:solidFill>
              <a:effectLst/>
              <a:uFillTx/>
              <a:latin typeface="Arial"/>
            </a:endParaRPr>
          </a:p>
        </p:txBody>
      </p:sp>
      <p:sp>
        <p:nvSpPr>
          <p:cNvPr id="85" name="Shape 2"/>
          <p:cNvSpPr/>
          <p:nvPr/>
        </p:nvSpPr>
        <p:spPr>
          <a:xfrm>
            <a:off x="548640" y="1463040"/>
            <a:ext cx="11063880" cy="1234080"/>
          </a:xfrm>
          <a:prstGeom prst="roundRect">
            <a:avLst>
              <a:gd name="adj" fmla="val 5926"/>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86" name="Text 3"/>
          <p:cNvSpPr/>
          <p:nvPr/>
        </p:nvSpPr>
        <p:spPr>
          <a:xfrm>
            <a:off x="777240" y="1572840"/>
            <a:ext cx="45716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Question interactive</a:t>
            </a:r>
            <a:endParaRPr lang="fr-FR" sz="1150" b="0" u="none" strike="noStrike">
              <a:solidFill>
                <a:srgbClr val="000000"/>
              </a:solidFill>
              <a:effectLst/>
              <a:uFillTx/>
              <a:latin typeface="Arial"/>
            </a:endParaRPr>
          </a:p>
        </p:txBody>
      </p:sp>
      <p:sp>
        <p:nvSpPr>
          <p:cNvPr id="87" name="Text 4"/>
          <p:cNvSpPr/>
          <p:nvPr/>
        </p:nvSpPr>
        <p:spPr>
          <a:xfrm>
            <a:off x="777240" y="1847160"/>
            <a:ext cx="10606680" cy="77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250" b="0" u="none" strike="noStrike">
                <a:solidFill>
                  <a:srgbClr val="1B1F3B"/>
                </a:solidFill>
                <a:effectLst/>
                <a:uFillTx/>
                <a:latin typeface="Calibri"/>
                <a:ea typeface="Calibri"/>
              </a:rPr>
              <a:t>Imaginez que vous devez trier automatiquement des emails en « spam » ou « non spam ». Quelles informations (caractéristiques) pourriez-vous utiliser pour prendre votre décision ?</a:t>
            </a:r>
            <a:endParaRPr lang="fr-FR" sz="1250" b="0" u="none" strike="noStrike">
              <a:solidFill>
                <a:srgbClr val="000000"/>
              </a:solidFill>
              <a:effectLst/>
              <a:uFillTx/>
              <a:latin typeface="Arial"/>
            </a:endParaRPr>
          </a:p>
        </p:txBody>
      </p:sp>
      <p:sp>
        <p:nvSpPr>
          <p:cNvPr id="88" name="Text 5"/>
          <p:cNvSpPr/>
          <p:nvPr/>
        </p:nvSpPr>
        <p:spPr>
          <a:xfrm>
            <a:off x="548640" y="2880360"/>
            <a:ext cx="11063880" cy="548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i="1" u="none" strike="noStrike">
                <a:solidFill>
                  <a:srgbClr val="5A5F73"/>
                </a:solidFill>
                <a:effectLst/>
                <a:uFillTx/>
                <a:latin typeface="Calibri"/>
                <a:ea typeface="Calibri"/>
              </a:rPr>
              <a:t>Réponses attendues : présence de certains mots (« gratuit », « argent », « cliquez ici »), nombre de fautes d'orthographe, expéditeur inconnu, heure d'envoi, etc.</a:t>
            </a:r>
            <a:endParaRPr lang="fr-FR" sz="1200" b="0" u="none" strike="noStrike">
              <a:solidFill>
                <a:srgbClr val="000000"/>
              </a:solidFill>
              <a:effectLst/>
              <a:uFillTx/>
              <a:latin typeface="Arial"/>
            </a:endParaRPr>
          </a:p>
        </p:txBody>
      </p:sp>
      <p:sp>
        <p:nvSpPr>
          <p:cNvPr id="89" name="Text 6"/>
          <p:cNvSpPr/>
          <p:nvPr/>
        </p:nvSpPr>
        <p:spPr>
          <a:xfrm>
            <a:off x="548640" y="3611880"/>
            <a:ext cx="91436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E2761"/>
                </a:solidFill>
                <a:effectLst/>
                <a:uFillTx/>
                <a:latin typeface="Calibri"/>
                <a:ea typeface="Calibri"/>
              </a:rPr>
              <a:t>MINI-DÉFI — Classez à la main ces trois emails (spam ou non) :</a:t>
            </a:r>
            <a:endParaRPr lang="fr-FR" sz="1300" b="0" u="none" strike="noStrike">
              <a:solidFill>
                <a:srgbClr val="000000"/>
              </a:solidFill>
              <a:effectLst/>
              <a:uFillTx/>
              <a:latin typeface="Arial"/>
            </a:endParaRPr>
          </a:p>
        </p:txBody>
      </p:sp>
      <p:sp>
        <p:nvSpPr>
          <p:cNvPr id="90" name="Shape 7"/>
          <p:cNvSpPr/>
          <p:nvPr/>
        </p:nvSpPr>
        <p:spPr>
          <a:xfrm>
            <a:off x="548640" y="4023360"/>
            <a:ext cx="383760" cy="38376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1" name="Text 8"/>
          <p:cNvSpPr/>
          <p:nvPr/>
        </p:nvSpPr>
        <p:spPr>
          <a:xfrm>
            <a:off x="548640" y="402336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fr-FR" sz="1300" b="0" u="none" strike="noStrike">
              <a:solidFill>
                <a:srgbClr val="000000"/>
              </a:solidFill>
              <a:effectLst/>
              <a:uFillTx/>
              <a:latin typeface="Arial"/>
            </a:endParaRPr>
          </a:p>
        </p:txBody>
      </p:sp>
      <p:sp>
        <p:nvSpPr>
          <p:cNvPr id="92" name="Text 9"/>
          <p:cNvSpPr/>
          <p:nvPr/>
        </p:nvSpPr>
        <p:spPr>
          <a:xfrm>
            <a:off x="1097280" y="4023360"/>
            <a:ext cx="8503560" cy="383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u="none" strike="noStrike">
                <a:solidFill>
                  <a:srgbClr val="1B1F3B"/>
                </a:solidFill>
                <a:effectLst/>
                <a:uFillTx/>
                <a:latin typeface="Calibri"/>
                <a:ea typeface="Calibri"/>
              </a:rPr>
              <a:t>"Bonjour, veuillez trouver le compte-rendu de la réunion en pièce jointe."</a:t>
            </a:r>
            <a:endParaRPr lang="fr-FR" sz="1150" b="0" u="none" strike="noStrike">
              <a:solidFill>
                <a:srgbClr val="000000"/>
              </a:solidFill>
              <a:effectLst/>
              <a:uFillTx/>
              <a:latin typeface="Arial"/>
            </a:endParaRPr>
          </a:p>
        </p:txBody>
      </p:sp>
      <p:sp>
        <p:nvSpPr>
          <p:cNvPr id="93" name="Shape 10"/>
          <p:cNvSpPr/>
          <p:nvPr/>
        </p:nvSpPr>
        <p:spPr>
          <a:xfrm>
            <a:off x="9784080" y="4050720"/>
            <a:ext cx="1828440" cy="328680"/>
          </a:xfrm>
          <a:prstGeom prst="roundRect">
            <a:avLst>
              <a:gd name="adj" fmla="val 16667"/>
            </a:avLst>
          </a:prstGeom>
          <a:solidFill>
            <a:srgbClr val="27AE60"/>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4" name="Text 11"/>
          <p:cNvSpPr/>
          <p:nvPr/>
        </p:nvSpPr>
        <p:spPr>
          <a:xfrm>
            <a:off x="9784080" y="4050720"/>
            <a:ext cx="1828440" cy="328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FFFFFF"/>
                </a:solidFill>
                <a:effectLst/>
                <a:uFillTx/>
                <a:latin typeface="Calibri"/>
                <a:ea typeface="Calibri"/>
              </a:rPr>
              <a:t>Non spam</a:t>
            </a:r>
            <a:endParaRPr lang="fr-FR" sz="950" b="0" u="none" strike="noStrike">
              <a:solidFill>
                <a:srgbClr val="000000"/>
              </a:solidFill>
              <a:effectLst/>
              <a:uFillTx/>
              <a:latin typeface="Arial"/>
            </a:endParaRPr>
          </a:p>
        </p:txBody>
      </p:sp>
      <p:sp>
        <p:nvSpPr>
          <p:cNvPr id="95" name="Shape 12"/>
          <p:cNvSpPr/>
          <p:nvPr/>
        </p:nvSpPr>
        <p:spPr>
          <a:xfrm>
            <a:off x="548640" y="4590360"/>
            <a:ext cx="383760" cy="38376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6" name="Text 13"/>
          <p:cNvSpPr/>
          <p:nvPr/>
        </p:nvSpPr>
        <p:spPr>
          <a:xfrm>
            <a:off x="548640" y="459036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fr-FR" sz="1300" b="0" u="none" strike="noStrike">
              <a:solidFill>
                <a:srgbClr val="000000"/>
              </a:solidFill>
              <a:effectLst/>
              <a:uFillTx/>
              <a:latin typeface="Arial"/>
            </a:endParaRPr>
          </a:p>
        </p:txBody>
      </p:sp>
      <p:sp>
        <p:nvSpPr>
          <p:cNvPr id="97" name="Text 14"/>
          <p:cNvSpPr/>
          <p:nvPr/>
        </p:nvSpPr>
        <p:spPr>
          <a:xfrm>
            <a:off x="1097280" y="4590360"/>
            <a:ext cx="8503560" cy="383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u="none" strike="noStrike">
                <a:solidFill>
                  <a:srgbClr val="1B1F3B"/>
                </a:solidFill>
                <a:effectLst/>
                <a:uFillTx/>
                <a:latin typeface="Calibri"/>
                <a:ea typeface="Calibri"/>
              </a:rPr>
              <a:t>"FÉLICITATIONS !!! Vous avez gagné un iPhone GRATUIT ! Cliquez ici pour réclamer votre prix."</a:t>
            </a:r>
            <a:endParaRPr lang="fr-FR" sz="1150" b="0" u="none" strike="noStrike">
              <a:solidFill>
                <a:srgbClr val="000000"/>
              </a:solidFill>
              <a:effectLst/>
              <a:uFillTx/>
              <a:latin typeface="Arial"/>
            </a:endParaRPr>
          </a:p>
        </p:txBody>
      </p:sp>
      <p:sp>
        <p:nvSpPr>
          <p:cNvPr id="98" name="Shape 15"/>
          <p:cNvSpPr/>
          <p:nvPr/>
        </p:nvSpPr>
        <p:spPr>
          <a:xfrm>
            <a:off x="9784080" y="4617720"/>
            <a:ext cx="1828440" cy="328680"/>
          </a:xfrm>
          <a:prstGeom prst="roundRect">
            <a:avLst>
              <a:gd name="adj" fmla="val 16667"/>
            </a:avLst>
          </a:prstGeom>
          <a:solidFill>
            <a:srgbClr val="E74C3C"/>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99" name="Text 16"/>
          <p:cNvSpPr/>
          <p:nvPr/>
        </p:nvSpPr>
        <p:spPr>
          <a:xfrm>
            <a:off x="9784080" y="4617720"/>
            <a:ext cx="1828440" cy="328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FFFFFF"/>
                </a:solidFill>
                <a:effectLst/>
                <a:uFillTx/>
                <a:latin typeface="Calibri"/>
                <a:ea typeface="Calibri"/>
              </a:rPr>
              <a:t>Spam</a:t>
            </a:r>
            <a:endParaRPr lang="fr-FR" sz="950" b="0" u="none" strike="noStrike">
              <a:solidFill>
                <a:srgbClr val="000000"/>
              </a:solidFill>
              <a:effectLst/>
              <a:uFillTx/>
              <a:latin typeface="Arial"/>
            </a:endParaRPr>
          </a:p>
        </p:txBody>
      </p:sp>
      <p:sp>
        <p:nvSpPr>
          <p:cNvPr id="100" name="Shape 17"/>
          <p:cNvSpPr/>
          <p:nvPr/>
        </p:nvSpPr>
        <p:spPr>
          <a:xfrm>
            <a:off x="548640" y="5157360"/>
            <a:ext cx="383760" cy="38376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01" name="Text 18"/>
          <p:cNvSpPr/>
          <p:nvPr/>
        </p:nvSpPr>
        <p:spPr>
          <a:xfrm>
            <a:off x="548640" y="5157360"/>
            <a:ext cx="383760" cy="3837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fr-FR" sz="1300" b="0" u="none" strike="noStrike">
              <a:solidFill>
                <a:srgbClr val="000000"/>
              </a:solidFill>
              <a:effectLst/>
              <a:uFillTx/>
              <a:latin typeface="Arial"/>
            </a:endParaRPr>
          </a:p>
        </p:txBody>
      </p:sp>
      <p:sp>
        <p:nvSpPr>
          <p:cNvPr id="102" name="Text 19"/>
          <p:cNvSpPr/>
          <p:nvPr/>
        </p:nvSpPr>
        <p:spPr>
          <a:xfrm>
            <a:off x="1097280" y="5157360"/>
            <a:ext cx="8503560" cy="383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0" u="none" strike="noStrike">
                <a:solidFill>
                  <a:srgbClr val="1B1F3B"/>
                </a:solidFill>
                <a:effectLst/>
                <a:uFillTx/>
                <a:latin typeface="Calibri"/>
                <a:ea typeface="Calibri"/>
              </a:rPr>
              <a:t>"Rappel : votre abonnement arrive à échéance demain."</a:t>
            </a:r>
            <a:endParaRPr lang="fr-FR" sz="1150" b="0" u="none" strike="noStrike">
              <a:solidFill>
                <a:srgbClr val="000000"/>
              </a:solidFill>
              <a:effectLst/>
              <a:uFillTx/>
              <a:latin typeface="Arial"/>
            </a:endParaRPr>
          </a:p>
        </p:txBody>
      </p:sp>
      <p:sp>
        <p:nvSpPr>
          <p:cNvPr id="103" name="Shape 20"/>
          <p:cNvSpPr/>
          <p:nvPr/>
        </p:nvSpPr>
        <p:spPr>
          <a:xfrm>
            <a:off x="9784080" y="5184720"/>
            <a:ext cx="1828440" cy="328680"/>
          </a:xfrm>
          <a:prstGeom prst="roundRect">
            <a:avLst>
              <a:gd name="adj" fmla="val 16667"/>
            </a:avLst>
          </a:prstGeom>
          <a:solidFill>
            <a:srgbClr val="27AE60"/>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04" name="Text 21"/>
          <p:cNvSpPr/>
          <p:nvPr/>
        </p:nvSpPr>
        <p:spPr>
          <a:xfrm>
            <a:off x="9784080" y="5184720"/>
            <a:ext cx="1828440" cy="3286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FFFFFF"/>
                </a:solidFill>
                <a:effectLst/>
                <a:uFillTx/>
                <a:latin typeface="Calibri"/>
                <a:ea typeface="Calibri"/>
              </a:rPr>
              <a:t>Non spam (ou limite)</a:t>
            </a:r>
            <a:endParaRPr lang="fr-FR" sz="950" b="0" u="none" strike="noStrike">
              <a:solidFill>
                <a:srgbClr val="000000"/>
              </a:solidFill>
              <a:effectLst/>
              <a:uFillTx/>
              <a:latin typeface="Arial"/>
            </a:endParaRPr>
          </a:p>
        </p:txBody>
      </p:sp>
      <p:sp>
        <p:nvSpPr>
          <p:cNvPr id="105" name="Text 22"/>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7</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6"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8H30 – 9H30 · L'ENTROPIE</a:t>
            </a:r>
            <a:endParaRPr lang="fr-FR" sz="1200" b="0" u="none" strike="noStrike">
              <a:solidFill>
                <a:srgbClr val="000000"/>
              </a:solidFill>
              <a:effectLst/>
              <a:uFillTx/>
              <a:latin typeface="Arial"/>
            </a:endParaRPr>
          </a:p>
        </p:txBody>
      </p:sp>
      <p:sp>
        <p:nvSpPr>
          <p:cNvPr id="107"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Pourquoi l'entropie ?</a:t>
            </a:r>
            <a:endParaRPr lang="fr-FR" sz="3000" b="0" u="none" strike="noStrike">
              <a:solidFill>
                <a:srgbClr val="000000"/>
              </a:solidFill>
              <a:effectLst/>
              <a:uFillTx/>
              <a:latin typeface="Arial"/>
            </a:endParaRPr>
          </a:p>
        </p:txBody>
      </p:sp>
      <p:sp>
        <p:nvSpPr>
          <p:cNvPr id="108" name="Text 2"/>
          <p:cNvSpPr/>
          <p:nvPr/>
        </p:nvSpPr>
        <p:spPr>
          <a:xfrm>
            <a:off x="548640" y="1417320"/>
            <a:ext cx="6309000" cy="1554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250" b="0" u="none" strike="noStrike">
                <a:solidFill>
                  <a:srgbClr val="1B1F3B"/>
                </a:solidFill>
                <a:effectLst/>
                <a:uFillTx/>
                <a:latin typeface="Calibri"/>
                <a:ea typeface="Calibri"/>
              </a:rPr>
              <a:t>Pour construire un arbre de décision, nous avons besoin de mesurer l'incertitude d'un ensemble de données. Si toutes les étiquettes sont identiques, l'incertitude est nulle. Si les étiquettes sont mélangées à parts égales, l'incertitude est maximale. Cette mesure s'appelle l'entropie.</a:t>
            </a:r>
            <a:endParaRPr lang="fr-FR" sz="1250" b="0" u="none" strike="noStrike">
              <a:solidFill>
                <a:srgbClr val="000000"/>
              </a:solidFill>
              <a:effectLst/>
              <a:uFillTx/>
              <a:latin typeface="Arial"/>
            </a:endParaRPr>
          </a:p>
        </p:txBody>
      </p:sp>
      <p:sp>
        <p:nvSpPr>
          <p:cNvPr id="109" name="Text 3"/>
          <p:cNvSpPr/>
          <p:nvPr/>
        </p:nvSpPr>
        <p:spPr>
          <a:xfrm>
            <a:off x="548640" y="2971800"/>
            <a:ext cx="64004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E2761"/>
                </a:solidFill>
                <a:effectLst/>
                <a:uFillTx/>
                <a:latin typeface="Calibri"/>
                <a:ea typeface="Calibri"/>
              </a:rPr>
              <a:t>ANALOGIE — Un sac de billes rouges et bleues</a:t>
            </a:r>
            <a:endParaRPr lang="fr-FR" sz="1300" b="0" u="none" strike="noStrike">
              <a:solidFill>
                <a:srgbClr val="000000"/>
              </a:solidFill>
              <a:effectLst/>
              <a:uFillTx/>
              <a:latin typeface="Arial"/>
            </a:endParaRPr>
          </a:p>
        </p:txBody>
      </p:sp>
      <p:sp>
        <p:nvSpPr>
          <p:cNvPr id="110" name="Shape 4"/>
          <p:cNvSpPr/>
          <p:nvPr/>
        </p:nvSpPr>
        <p:spPr>
          <a:xfrm>
            <a:off x="548640" y="3383280"/>
            <a:ext cx="145800" cy="1458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1" name="Text 5"/>
          <p:cNvSpPr/>
          <p:nvPr/>
        </p:nvSpPr>
        <p:spPr>
          <a:xfrm>
            <a:off x="822960" y="3264480"/>
            <a:ext cx="603468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180" b="1" u="none" strike="noStrike">
                <a:solidFill>
                  <a:srgbClr val="1E2761"/>
                </a:solidFill>
                <a:effectLst/>
                <a:uFillTx/>
                <a:latin typeface="Calibri"/>
                <a:ea typeface="Calibri"/>
              </a:rPr>
              <a:t>Que des billes rouges </a:t>
            </a:r>
            <a:r>
              <a:rPr lang="en-US" sz="1180" b="0" u="none" strike="noStrike">
                <a:solidFill>
                  <a:srgbClr val="1B1F3B"/>
                </a:solidFill>
                <a:effectLst/>
                <a:uFillTx/>
                <a:latin typeface="Calibri"/>
                <a:ea typeface="Calibri"/>
              </a:rPr>
              <a:t>→ certain de tirer rouge : incertitude nulle.</a:t>
            </a:r>
            <a:endParaRPr lang="fr-FR" sz="1180" b="0" u="none" strike="noStrike">
              <a:solidFill>
                <a:srgbClr val="000000"/>
              </a:solidFill>
              <a:effectLst/>
              <a:uFillTx/>
              <a:latin typeface="Arial"/>
            </a:endParaRPr>
          </a:p>
        </p:txBody>
      </p:sp>
      <p:sp>
        <p:nvSpPr>
          <p:cNvPr id="112" name="Shape 6"/>
          <p:cNvSpPr/>
          <p:nvPr/>
        </p:nvSpPr>
        <p:spPr>
          <a:xfrm>
            <a:off x="548640" y="3950280"/>
            <a:ext cx="145800" cy="1458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3" name="Text 7"/>
          <p:cNvSpPr/>
          <p:nvPr/>
        </p:nvSpPr>
        <p:spPr>
          <a:xfrm>
            <a:off x="822960" y="3831480"/>
            <a:ext cx="603468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180" b="1" u="none" strike="noStrike">
                <a:solidFill>
                  <a:srgbClr val="1E2761"/>
                </a:solidFill>
                <a:effectLst/>
                <a:uFillTx/>
                <a:latin typeface="Calibri"/>
                <a:ea typeface="Calibri"/>
              </a:rPr>
              <a:t>50% rouges / 50% bleues </a:t>
            </a:r>
            <a:r>
              <a:rPr lang="en-US" sz="1180" b="0" u="none" strike="noStrike">
                <a:solidFill>
                  <a:srgbClr val="1B1F3B"/>
                </a:solidFill>
                <a:effectLst/>
                <a:uFillTx/>
                <a:latin typeface="Calibri"/>
                <a:ea typeface="Calibri"/>
              </a:rPr>
              <a:t>→ impossible de deviner : incertitude maximale.</a:t>
            </a:r>
            <a:endParaRPr lang="fr-FR" sz="1180" b="0" u="none" strike="noStrike">
              <a:solidFill>
                <a:srgbClr val="000000"/>
              </a:solidFill>
              <a:effectLst/>
              <a:uFillTx/>
              <a:latin typeface="Arial"/>
            </a:endParaRPr>
          </a:p>
        </p:txBody>
      </p:sp>
      <p:sp>
        <p:nvSpPr>
          <p:cNvPr id="114" name="Shape 8"/>
          <p:cNvSpPr/>
          <p:nvPr/>
        </p:nvSpPr>
        <p:spPr>
          <a:xfrm>
            <a:off x="548640" y="4517280"/>
            <a:ext cx="145800" cy="1458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15" name="Text 9"/>
          <p:cNvSpPr/>
          <p:nvPr/>
        </p:nvSpPr>
        <p:spPr>
          <a:xfrm>
            <a:off x="822960" y="4398120"/>
            <a:ext cx="603468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180" b="1" u="none" strike="noStrike">
                <a:solidFill>
                  <a:srgbClr val="1E2761"/>
                </a:solidFill>
                <a:effectLst/>
                <a:uFillTx/>
                <a:latin typeface="Calibri"/>
                <a:ea typeface="Calibri"/>
              </a:rPr>
              <a:t>80% rouges / 20% bleues </a:t>
            </a:r>
            <a:r>
              <a:rPr lang="en-US" sz="1180" b="0" u="none" strike="noStrike">
                <a:solidFill>
                  <a:srgbClr val="1B1F3B"/>
                </a:solidFill>
                <a:effectLst/>
                <a:uFillTx/>
                <a:latin typeface="Calibri"/>
                <a:ea typeface="Calibri"/>
              </a:rPr>
              <a:t>→ presque sûr de tirer rouge : incertitude faible.</a:t>
            </a:r>
            <a:endParaRPr lang="fr-FR" sz="1180" b="0" u="none" strike="noStrike">
              <a:solidFill>
                <a:srgbClr val="000000"/>
              </a:solidFill>
              <a:effectLst/>
              <a:uFillTx/>
              <a:latin typeface="Arial"/>
            </a:endParaRPr>
          </a:p>
        </p:txBody>
      </p:sp>
      <p:sp>
        <p:nvSpPr>
          <p:cNvPr id="116" name="Text 10"/>
          <p:cNvSpPr/>
          <p:nvPr/>
        </p:nvSpPr>
        <p:spPr>
          <a:xfrm>
            <a:off x="548640" y="5175360"/>
            <a:ext cx="630900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i="1" u="none" strike="noStrike">
                <a:solidFill>
                  <a:srgbClr val="5A5F73"/>
                </a:solidFill>
                <a:effectLst/>
                <a:uFillTx/>
                <a:latin typeface="Calibri"/>
                <a:ea typeface="Calibri"/>
              </a:rPr>
              <a:t>L'entropie mesure ce degré de surprise ou de désordre.</a:t>
            </a:r>
            <a:endParaRPr lang="fr-FR" sz="1200" b="0" u="none" strike="noStrike">
              <a:solidFill>
                <a:srgbClr val="000000"/>
              </a:solidFill>
              <a:effectLst/>
              <a:uFillTx/>
              <a:latin typeface="Arial"/>
            </a:endParaRPr>
          </a:p>
        </p:txBody>
      </p:sp>
      <p:pic>
        <p:nvPicPr>
          <p:cNvPr id="117" name="Image 0" descr="images/entropy_bars.png"/>
          <p:cNvPicPr/>
          <p:nvPr/>
        </p:nvPicPr>
        <p:blipFill>
          <a:blip r:embed="rId1"/>
          <a:stretch/>
        </p:blipFill>
        <p:spPr>
          <a:xfrm>
            <a:off x="7223760" y="1463040"/>
            <a:ext cx="4480200" cy="2742840"/>
          </a:xfrm>
          <a:prstGeom prst="rect">
            <a:avLst/>
          </a:prstGeom>
          <a:noFill/>
          <a:ln w="0">
            <a:noFill/>
          </a:ln>
        </p:spPr>
      </p:pic>
      <p:sp>
        <p:nvSpPr>
          <p:cNvPr id="118" name="Text 11"/>
          <p:cNvSpPr/>
          <p:nvPr/>
        </p:nvSpPr>
        <p:spPr>
          <a:xfrm>
            <a:off x="7223760" y="4251960"/>
            <a:ext cx="44802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i="1" u="none" strike="noStrike">
                <a:solidFill>
                  <a:srgbClr val="5A5F73"/>
                </a:solidFill>
                <a:effectLst/>
                <a:uFillTx/>
                <a:latin typeface="Calibri"/>
                <a:ea typeface="Calibri"/>
              </a:rPr>
              <a:t>Entropie selon la répartition (exemple pièce de monnaie)</a:t>
            </a:r>
            <a:endParaRPr lang="fr-FR" sz="1050" b="0" u="none" strike="noStrike">
              <a:solidFill>
                <a:srgbClr val="000000"/>
              </a:solidFill>
              <a:effectLst/>
              <a:uFillTx/>
              <a:latin typeface="Arial"/>
            </a:endParaRPr>
          </a:p>
        </p:txBody>
      </p:sp>
      <p:sp>
        <p:nvSpPr>
          <p:cNvPr id="119" name="Text 12"/>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8</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0"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8H30 – 9H30 · L'ENTROPIE</a:t>
            </a:r>
            <a:endParaRPr lang="fr-FR" sz="1200" b="0" u="none" strike="noStrike">
              <a:solidFill>
                <a:srgbClr val="000000"/>
              </a:solidFill>
              <a:effectLst/>
              <a:uFillTx/>
              <a:latin typeface="Arial"/>
            </a:endParaRPr>
          </a:p>
        </p:txBody>
      </p:sp>
      <p:sp>
        <p:nvSpPr>
          <p:cNvPr id="121"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Formule de l'entropie de Shannon</a:t>
            </a:r>
            <a:endParaRPr lang="fr-FR" sz="3000" b="0" u="none" strike="noStrike">
              <a:solidFill>
                <a:srgbClr val="000000"/>
              </a:solidFill>
              <a:effectLst/>
              <a:uFillTx/>
              <a:latin typeface="Arial"/>
            </a:endParaRPr>
          </a:p>
        </p:txBody>
      </p:sp>
      <p:sp>
        <p:nvSpPr>
          <p:cNvPr id="122" name="Shape 2"/>
          <p:cNvSpPr/>
          <p:nvPr/>
        </p:nvSpPr>
        <p:spPr>
          <a:xfrm>
            <a:off x="548640" y="1417320"/>
            <a:ext cx="5668920" cy="4845960"/>
          </a:xfrm>
          <a:prstGeom prst="roundRect">
            <a:avLst>
              <a:gd name="adj" fmla="val 1509"/>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3" name="Text 3"/>
          <p:cNvSpPr/>
          <p:nvPr/>
        </p:nvSpPr>
        <p:spPr>
          <a:xfrm>
            <a:off x="822960" y="1600200"/>
            <a:ext cx="512028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99" strike="noStrike">
                <a:solidFill>
                  <a:srgbClr val="F39C12"/>
                </a:solidFill>
                <a:effectLst/>
                <a:uFillTx/>
                <a:latin typeface="Calibri"/>
                <a:ea typeface="Calibri"/>
              </a:rPr>
              <a:t>ENCADRÉ — ENTROPIE DE SHANNON</a:t>
            </a:r>
            <a:endParaRPr lang="fr-FR" sz="1150" b="0" u="none" strike="noStrike">
              <a:solidFill>
                <a:srgbClr val="000000"/>
              </a:solidFill>
              <a:effectLst/>
              <a:uFillTx/>
              <a:latin typeface="Arial"/>
            </a:endParaRPr>
          </a:p>
        </p:txBody>
      </p:sp>
      <p:sp>
        <p:nvSpPr>
          <p:cNvPr id="124" name="Text 4"/>
          <p:cNvSpPr/>
          <p:nvPr/>
        </p:nvSpPr>
        <p:spPr>
          <a:xfrm>
            <a:off x="822960" y="1965960"/>
            <a:ext cx="5120280" cy="1554120"/>
          </a:xfrm>
          <a:prstGeom prst="rect">
            <a:avLst/>
          </a:prstGeom>
          <a:noFill/>
          <a:ln w="0">
            <a:noFill/>
          </a:ln>
        </p:spPr>
        <p:style>
          <a:lnRef idx="0"/>
          <a:fillRef idx="0"/>
          <a:effectRef idx="0"/>
          <a:fontRef idx="minor"/>
        </p:style>
        <p:txBody>
          <a:bodyPr lIns="90000" tIns="45000" rIns="90000" bIns="45000" anchor="ctr">
            <a:noAutofit/>
          </a:bodyPr>
          <a:p>
            <a:r>
              <a:rPr lang="en-US" sz="1150" b="1" u="none" strike="noStrike">
                <a:solidFill>
                  <a:srgbClr val="F39C12"/>
                </a:solidFill>
                <a:effectLst/>
                <a:uFillTx/>
                <a:latin typeface="Calibri"/>
                <a:ea typeface="Calibri"/>
              </a:rPr>
              <a:t>À quoi ça sert ?  </a:t>
            </a:r>
            <a:r>
              <a:rPr lang="en-US" sz="1150" b="0" u="none" strike="noStrike">
                <a:solidFill>
                  <a:srgbClr val="FFFFFF"/>
                </a:solidFill>
                <a:effectLst/>
                <a:uFillTx/>
                <a:latin typeface="Calibri"/>
                <a:ea typeface="Calibri"/>
              </a:rPr>
              <a:t>Mesurer l'incertitude ou le désordre d'un ensemble de données, en fonction de la proportion de chaque classe.</a:t>
            </a:r>
            <a:endParaRPr lang="fr-FR" sz="1150" b="0" u="none" strike="noStrike">
              <a:solidFill>
                <a:srgbClr val="000000"/>
              </a:solidFill>
              <a:effectLst/>
              <a:uFillTx/>
              <a:latin typeface="Arial"/>
            </a:endParaRPr>
          </a:p>
          <a:p>
            <a:endParaRPr lang="fr-FR" sz="1150" b="0" u="none" strike="noStrike">
              <a:solidFill>
                <a:srgbClr val="000000"/>
              </a:solidFill>
              <a:effectLst/>
              <a:uFillTx/>
              <a:latin typeface="Arial"/>
            </a:endParaRPr>
          </a:p>
          <a:p>
            <a:pPr defTabSz="914400">
              <a:lnSpc>
                <a:spcPct val="120000"/>
              </a:lnSpc>
              <a:tabLst>
                <a:tab pos="0" algn="l"/>
              </a:tabLst>
            </a:pPr>
            <a:r>
              <a:rPr lang="en-US" sz="1150" b="1" u="none" strike="noStrike">
                <a:solidFill>
                  <a:srgbClr val="F39C12"/>
                </a:solidFill>
                <a:effectLst/>
                <a:uFillTx/>
                <a:latin typeface="Calibri"/>
                <a:ea typeface="Calibri"/>
              </a:rPr>
              <a:t>Quand l'utiliser ?  </a:t>
            </a:r>
            <a:r>
              <a:rPr lang="en-US" sz="1150" b="0" u="none" strike="noStrike">
                <a:solidFill>
                  <a:srgbClr val="FFFFFF"/>
                </a:solidFill>
                <a:effectLst/>
                <a:uFillTx/>
                <a:latin typeface="Calibri"/>
                <a:ea typeface="Calibri"/>
              </a:rPr>
              <a:t>Pour choisir la meilleure question à poser lors de la construction d'un arbre de décision, ou pour évaluer la pureté d'un nœud.</a:t>
            </a:r>
            <a:endParaRPr lang="fr-FR" sz="1150" b="0" u="none" strike="noStrike">
              <a:solidFill>
                <a:srgbClr val="000000"/>
              </a:solidFill>
              <a:effectLst/>
              <a:uFillTx/>
              <a:latin typeface="Arial"/>
            </a:endParaRPr>
          </a:p>
        </p:txBody>
      </p:sp>
      <p:sp>
        <p:nvSpPr>
          <p:cNvPr id="125" name="Shape 5"/>
          <p:cNvSpPr/>
          <p:nvPr/>
        </p:nvSpPr>
        <p:spPr>
          <a:xfrm>
            <a:off x="822960" y="3611880"/>
            <a:ext cx="5120280" cy="776880"/>
          </a:xfrm>
          <a:prstGeom prst="roundRect">
            <a:avLst>
              <a:gd name="adj" fmla="val 705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26" name="Text 6"/>
          <p:cNvSpPr/>
          <p:nvPr/>
        </p:nvSpPr>
        <p:spPr>
          <a:xfrm>
            <a:off x="822960" y="3611880"/>
            <a:ext cx="5120280" cy="7768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700" b="1" u="none" strike="noStrike">
                <a:solidFill>
                  <a:srgbClr val="FFFFFF"/>
                </a:solidFill>
                <a:effectLst/>
                <a:uFillTx/>
                <a:latin typeface="Cambria Math"/>
                <a:ea typeface="Cambria Math"/>
              </a:rPr>
              <a:t>H(S) = − Σ pᵢ · log₂(pᵢ)   (i = 1..K)</a:t>
            </a:r>
            <a:endParaRPr lang="fr-FR" sz="1700" b="0" u="none" strike="noStrike">
              <a:solidFill>
                <a:srgbClr val="000000"/>
              </a:solidFill>
              <a:effectLst/>
              <a:uFillTx/>
              <a:latin typeface="Arial"/>
            </a:endParaRPr>
          </a:p>
        </p:txBody>
      </p:sp>
      <p:sp>
        <p:nvSpPr>
          <p:cNvPr id="127" name="Text 7"/>
          <p:cNvSpPr/>
          <p:nvPr/>
        </p:nvSpPr>
        <p:spPr>
          <a:xfrm>
            <a:off x="822960" y="4572000"/>
            <a:ext cx="5120280" cy="1462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100" b="1" u="none" strike="noStrike">
                <a:solidFill>
                  <a:srgbClr val="F39C12"/>
                </a:solidFill>
                <a:effectLst/>
                <a:uFillTx/>
                <a:latin typeface="Calibri"/>
                <a:ea typeface="Calibri"/>
              </a:rPr>
              <a:t>Erreur fréquente à éviter :  </a:t>
            </a:r>
            <a:r>
              <a:rPr lang="en-US" sz="1100" b="0" u="none" strike="noStrike">
                <a:solidFill>
                  <a:srgbClr val="FFFFFF"/>
                </a:solidFill>
                <a:effectLst/>
                <a:uFillTx/>
                <a:latin typeface="Calibri"/>
                <a:ea typeface="Calibri"/>
              </a:rPr>
              <a:t>Oublier le signe négatif. Sans lui, l'entropie serait négative. Si pᵢ = 0, on convient que 0 × log₂(0) = 0 (par continuité).</a:t>
            </a:r>
            <a:endParaRPr lang="fr-FR" sz="1100" b="0" u="none" strike="noStrike">
              <a:solidFill>
                <a:srgbClr val="000000"/>
              </a:solidFill>
              <a:effectLst/>
              <a:uFillTx/>
              <a:latin typeface="Arial"/>
            </a:endParaRPr>
          </a:p>
        </p:txBody>
      </p:sp>
      <p:sp>
        <p:nvSpPr>
          <p:cNvPr id="128" name="Shape 8"/>
          <p:cNvSpPr/>
          <p:nvPr/>
        </p:nvSpPr>
        <p:spPr>
          <a:xfrm>
            <a:off x="6446520" y="1417320"/>
            <a:ext cx="5211720" cy="4845960"/>
          </a:xfrm>
          <a:prstGeom prst="roundRect">
            <a:avLst>
              <a:gd name="adj" fmla="val 1509"/>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29" name="Text 9"/>
          <p:cNvSpPr/>
          <p:nvPr/>
        </p:nvSpPr>
        <p:spPr>
          <a:xfrm>
            <a:off x="6720840" y="1600200"/>
            <a:ext cx="45716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pc="99" strike="noStrike">
                <a:solidFill>
                  <a:srgbClr val="F39C12"/>
                </a:solidFill>
                <a:effectLst/>
                <a:uFillTx/>
                <a:latin typeface="Calibri"/>
                <a:ea typeface="Calibri"/>
              </a:rPr>
              <a:t>EXEMPLE SIMPLE</a:t>
            </a:r>
            <a:endParaRPr lang="fr-FR" sz="1150" b="0" u="none" strike="noStrike">
              <a:solidFill>
                <a:srgbClr val="000000"/>
              </a:solidFill>
              <a:effectLst/>
              <a:uFillTx/>
              <a:latin typeface="Arial"/>
            </a:endParaRPr>
          </a:p>
        </p:txBody>
      </p:sp>
      <p:sp>
        <p:nvSpPr>
          <p:cNvPr id="130" name="Text 10"/>
          <p:cNvSpPr/>
          <p:nvPr/>
        </p:nvSpPr>
        <p:spPr>
          <a:xfrm>
            <a:off x="6720840" y="1965960"/>
            <a:ext cx="466308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1E2761"/>
                </a:solidFill>
                <a:effectLst/>
                <a:uFillTx/>
                <a:latin typeface="Calibri"/>
                <a:ea typeface="Calibri"/>
              </a:rPr>
              <a:t>S contient 4 billes rouges et 2 billes bleues.</a:t>
            </a:r>
            <a:endParaRPr lang="fr-FR" sz="1200" b="0" u="none" strike="noStrike">
              <a:solidFill>
                <a:srgbClr val="000000"/>
              </a:solidFill>
              <a:effectLst/>
              <a:uFillTx/>
              <a:latin typeface="Arial"/>
            </a:endParaRPr>
          </a:p>
        </p:txBody>
      </p:sp>
      <p:sp>
        <p:nvSpPr>
          <p:cNvPr id="131" name="Text 11"/>
          <p:cNvSpPr/>
          <p:nvPr/>
        </p:nvSpPr>
        <p:spPr>
          <a:xfrm>
            <a:off x="6720840" y="2331720"/>
            <a:ext cx="4663080" cy="2194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250" b="0" u="none" strike="noStrike">
                <a:solidFill>
                  <a:srgbClr val="1B1F3B"/>
                </a:solidFill>
                <a:effectLst/>
                <a:uFillTx/>
                <a:latin typeface="Consolas"/>
                <a:ea typeface="Consolas"/>
              </a:rPr>
              <a:t>p_rouge = 4/6 ≈ 0.667      p_bleu = 2/6 ≈ 0.333</a:t>
            </a:r>
            <a:endParaRPr lang="fr-FR" sz="1250" b="0" u="none" strike="noStrike">
              <a:solidFill>
                <a:srgbClr val="000000"/>
              </a:solidFill>
              <a:effectLst/>
              <a:uFillTx/>
              <a:latin typeface="Arial"/>
            </a:endParaRPr>
          </a:p>
          <a:p>
            <a:pPr defTabSz="914400">
              <a:lnSpc>
                <a:spcPct val="130000"/>
              </a:lnSpc>
              <a:tabLst>
                <a:tab pos="0" algn="l"/>
              </a:tabLst>
            </a:pPr>
            <a:r>
              <a:rPr lang="en-US" sz="1250" b="0" u="none" strike="noStrike">
                <a:solidFill>
                  <a:srgbClr val="1B1F3B"/>
                </a:solidFill>
                <a:effectLst/>
                <a:uFillTx/>
                <a:latin typeface="Consolas"/>
                <a:ea typeface="Consolas"/>
              </a:rPr>
              <a:t>log2(0.667) ≈ -0.585</a:t>
            </a:r>
            <a:endParaRPr lang="fr-FR" sz="1250" b="0" u="none" strike="noStrike">
              <a:solidFill>
                <a:srgbClr val="000000"/>
              </a:solidFill>
              <a:effectLst/>
              <a:uFillTx/>
              <a:latin typeface="Arial"/>
            </a:endParaRPr>
          </a:p>
          <a:p>
            <a:pPr defTabSz="914400">
              <a:lnSpc>
                <a:spcPct val="130000"/>
              </a:lnSpc>
              <a:tabLst>
                <a:tab pos="0" algn="l"/>
              </a:tabLst>
            </a:pPr>
            <a:r>
              <a:rPr lang="en-US" sz="1250" b="0" u="none" strike="noStrike">
                <a:solidFill>
                  <a:srgbClr val="1B1F3B"/>
                </a:solidFill>
                <a:effectLst/>
                <a:uFillTx/>
                <a:latin typeface="Consolas"/>
                <a:ea typeface="Consolas"/>
              </a:rPr>
              <a:t>log2(0.333) ≈ -1.585</a:t>
            </a:r>
            <a:endParaRPr lang="fr-FR" sz="1250" b="0" u="none" strike="noStrike">
              <a:solidFill>
                <a:srgbClr val="000000"/>
              </a:solidFill>
              <a:effectLst/>
              <a:uFillTx/>
              <a:latin typeface="Arial"/>
            </a:endParaRPr>
          </a:p>
          <a:p>
            <a:pPr defTabSz="914400">
              <a:lnSpc>
                <a:spcPct val="130000"/>
              </a:lnSpc>
              <a:tabLst>
                <a:tab pos="0" algn="l"/>
              </a:tabLst>
            </a:pPr>
            <a:r>
              <a:rPr lang="en-US" sz="1250" b="0" u="none" strike="noStrike">
                <a:solidFill>
                  <a:srgbClr val="1B1F3B"/>
                </a:solidFill>
                <a:effectLst/>
                <a:uFillTx/>
                <a:latin typeface="Consolas"/>
                <a:ea typeface="Consolas"/>
              </a:rPr>
              <a:t>H(S) = -(0.667×(-0.585) + 0.333×(-1.585))</a:t>
            </a:r>
            <a:endParaRPr lang="fr-FR" sz="1250" b="0" u="none" strike="noStrike">
              <a:solidFill>
                <a:srgbClr val="000000"/>
              </a:solidFill>
              <a:effectLst/>
              <a:uFillTx/>
              <a:latin typeface="Arial"/>
            </a:endParaRPr>
          </a:p>
          <a:p>
            <a:pPr defTabSz="914400">
              <a:lnSpc>
                <a:spcPct val="130000"/>
              </a:lnSpc>
              <a:tabLst>
                <a:tab pos="0" algn="l"/>
              </a:tabLst>
            </a:pPr>
            <a:r>
              <a:rPr lang="en-US" sz="1250" b="0" u="none" strike="noStrike">
                <a:solidFill>
                  <a:srgbClr val="1B1F3B"/>
                </a:solidFill>
                <a:effectLst/>
                <a:uFillTx/>
                <a:latin typeface="Consolas"/>
                <a:ea typeface="Consolas"/>
              </a:rPr>
              <a:t>     = -(-0.390 - 0.528)</a:t>
            </a:r>
            <a:endParaRPr lang="fr-FR" sz="1250" b="0" u="none" strike="noStrike">
              <a:solidFill>
                <a:srgbClr val="000000"/>
              </a:solidFill>
              <a:effectLst/>
              <a:uFillTx/>
              <a:latin typeface="Arial"/>
            </a:endParaRPr>
          </a:p>
          <a:p>
            <a:pPr defTabSz="914400">
              <a:lnSpc>
                <a:spcPct val="130000"/>
              </a:lnSpc>
              <a:tabLst>
                <a:tab pos="0" algn="l"/>
              </a:tabLst>
            </a:pPr>
            <a:r>
              <a:rPr lang="en-US" sz="1250" b="0" u="none" strike="noStrike">
                <a:solidFill>
                  <a:srgbClr val="1B1F3B"/>
                </a:solidFill>
                <a:effectLst/>
                <a:uFillTx/>
                <a:latin typeface="Consolas"/>
                <a:ea typeface="Consolas"/>
              </a:rPr>
              <a:t>     = 0.918 bits</a:t>
            </a:r>
            <a:endParaRPr lang="fr-FR" sz="1250" b="0" u="none" strike="noStrike">
              <a:solidFill>
                <a:srgbClr val="000000"/>
              </a:solidFill>
              <a:effectLst/>
              <a:uFillTx/>
              <a:latin typeface="Arial"/>
            </a:endParaRPr>
          </a:p>
        </p:txBody>
      </p:sp>
      <p:sp>
        <p:nvSpPr>
          <p:cNvPr id="132" name="Shape 12"/>
          <p:cNvSpPr/>
          <p:nvPr/>
        </p:nvSpPr>
        <p:spPr>
          <a:xfrm>
            <a:off x="6720840" y="4663440"/>
            <a:ext cx="4663080" cy="1371240"/>
          </a:xfrm>
          <a:prstGeom prst="roundRect">
            <a:avLst>
              <a:gd name="adj" fmla="val 4000"/>
            </a:avLst>
          </a:prstGeom>
          <a:solidFill>
            <a:srgbClr val="FFFFFF"/>
          </a:solidFill>
          <a:ln w="15240">
            <a:solidFill>
              <a:srgbClr val="F39C12"/>
            </a:solidFill>
            <a:round/>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33" name="Text 13"/>
          <p:cNvSpPr/>
          <p:nvPr/>
        </p:nvSpPr>
        <p:spPr>
          <a:xfrm>
            <a:off x="6903720" y="4754880"/>
            <a:ext cx="4297320" cy="118836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100" b="0" u="none" strike="noStrike">
                <a:solidFill>
                  <a:srgbClr val="1B1F3B"/>
                </a:solidFill>
                <a:effectLst/>
                <a:uFillTx/>
                <a:latin typeface="Calibri"/>
                <a:ea typeface="Calibri"/>
              </a:rPr>
              <a:t>Pile ou face équilibrée : H = 1 bit</a:t>
            </a:r>
            <a:endParaRPr lang="fr-FR" sz="1100" b="0" u="none" strike="noStrike">
              <a:solidFill>
                <a:srgbClr val="000000"/>
              </a:solidFill>
              <a:effectLst/>
              <a:uFillTx/>
              <a:latin typeface="Arial"/>
            </a:endParaRPr>
          </a:p>
          <a:p>
            <a:pPr defTabSz="914400">
              <a:lnSpc>
                <a:spcPct val="125000"/>
              </a:lnSpc>
              <a:tabLst>
                <a:tab pos="0" algn="l"/>
              </a:tabLst>
            </a:pPr>
            <a:r>
              <a:rPr lang="en-US" sz="1100" b="0" u="none" strike="noStrike">
                <a:solidFill>
                  <a:srgbClr val="1B1F3B"/>
                </a:solidFill>
                <a:effectLst/>
                <a:uFillTx/>
                <a:latin typeface="Calibri"/>
                <a:ea typeface="Calibri"/>
              </a:rPr>
              <a:t>Pièce toujours pile : H = 0 bit</a:t>
            </a:r>
            <a:endParaRPr lang="fr-FR" sz="1100" b="0" u="none" strike="noStrike">
              <a:solidFill>
                <a:srgbClr val="000000"/>
              </a:solidFill>
              <a:effectLst/>
              <a:uFillTx/>
              <a:latin typeface="Arial"/>
            </a:endParaRPr>
          </a:p>
          <a:p>
            <a:pPr defTabSz="914400">
              <a:lnSpc>
                <a:spcPct val="125000"/>
              </a:lnSpc>
              <a:tabLst>
                <a:tab pos="0" algn="l"/>
              </a:tabLst>
            </a:pPr>
            <a:r>
              <a:rPr lang="en-US" sz="1100" b="0" u="none" strike="noStrike">
                <a:solidFill>
                  <a:srgbClr val="1B1F3B"/>
                </a:solidFill>
                <a:effectLst/>
                <a:uFillTx/>
                <a:latin typeface="Calibri"/>
                <a:ea typeface="Calibri"/>
              </a:rPr>
              <a:t>Pièce 80%/20% : H ≈ 0.722 bit</a:t>
            </a:r>
            <a:endParaRPr lang="fr-FR" sz="1100" b="0" u="none" strike="noStrike">
              <a:solidFill>
                <a:srgbClr val="000000"/>
              </a:solidFill>
              <a:effectLst/>
              <a:uFillTx/>
              <a:latin typeface="Arial"/>
            </a:endParaRPr>
          </a:p>
        </p:txBody>
      </p:sp>
      <p:sp>
        <p:nvSpPr>
          <p:cNvPr id="134" name="Text 14"/>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9</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5"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8H30 – 9H30 · L'ENTROPIE</a:t>
            </a:r>
            <a:endParaRPr lang="fr-FR" sz="1200" b="0" u="none" strike="noStrike">
              <a:solidFill>
                <a:srgbClr val="000000"/>
              </a:solidFill>
              <a:effectLst/>
              <a:uFillTx/>
              <a:latin typeface="Arial"/>
            </a:endParaRPr>
          </a:p>
        </p:txBody>
      </p:sp>
      <p:sp>
        <p:nvSpPr>
          <p:cNvPr id="136"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Exemple pas à pas : pile ou face</a:t>
            </a:r>
            <a:endParaRPr lang="fr-FR" sz="3000" b="0" u="none" strike="noStrike">
              <a:solidFill>
                <a:srgbClr val="000000"/>
              </a:solidFill>
              <a:effectLst/>
              <a:uFillTx/>
              <a:latin typeface="Arial"/>
            </a:endParaRPr>
          </a:p>
        </p:txBody>
      </p:sp>
      <p:pic>
        <p:nvPicPr>
          <p:cNvPr id="137" name="Image 0" descr="images/entropy_curve.png"/>
          <p:cNvPicPr/>
          <p:nvPr/>
        </p:nvPicPr>
        <p:blipFill>
          <a:blip r:embed="rId1"/>
          <a:stretch/>
        </p:blipFill>
        <p:spPr>
          <a:xfrm>
            <a:off x="6309360" y="1417320"/>
            <a:ext cx="5394600" cy="3291480"/>
          </a:xfrm>
          <a:prstGeom prst="rect">
            <a:avLst/>
          </a:prstGeom>
          <a:noFill/>
          <a:ln w="0">
            <a:noFill/>
          </a:ln>
        </p:spPr>
      </p:pic>
      <p:sp>
        <p:nvSpPr>
          <p:cNvPr id="138" name="Text 2"/>
          <p:cNvSpPr/>
          <p:nvPr/>
        </p:nvSpPr>
        <p:spPr>
          <a:xfrm>
            <a:off x="6309360" y="4709160"/>
            <a:ext cx="53946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50" b="0" i="1" u="none" strike="noStrike">
                <a:solidFill>
                  <a:srgbClr val="5A5F73"/>
                </a:solidFill>
                <a:effectLst/>
                <a:uFillTx/>
                <a:latin typeface="Calibri"/>
                <a:ea typeface="Calibri"/>
              </a:rPr>
              <a:t>Courbe de l'entropie binaire H(p) selon la proportion p</a:t>
            </a:r>
            <a:endParaRPr lang="fr-FR" sz="1050" b="0" u="none" strike="noStrike">
              <a:solidFill>
                <a:srgbClr val="000000"/>
              </a:solidFill>
              <a:effectLst/>
              <a:uFillTx/>
              <a:latin typeface="Arial"/>
            </a:endParaRPr>
          </a:p>
        </p:txBody>
      </p:sp>
      <p:sp>
        <p:nvSpPr>
          <p:cNvPr id="139" name="Shape 3"/>
          <p:cNvSpPr/>
          <p:nvPr/>
        </p:nvSpPr>
        <p:spPr>
          <a:xfrm>
            <a:off x="548640" y="1463040"/>
            <a:ext cx="5577480" cy="1051200"/>
          </a:xfrm>
          <a:prstGeom prst="roundRect">
            <a:avLst>
              <a:gd name="adj" fmla="val 5217"/>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0" name="Text 4"/>
          <p:cNvSpPr/>
          <p:nvPr/>
        </p:nvSpPr>
        <p:spPr>
          <a:xfrm>
            <a:off x="731520" y="155448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E2761"/>
                </a:solidFill>
                <a:effectLst/>
                <a:uFillTx/>
                <a:latin typeface="Calibri"/>
                <a:ea typeface="Calibri"/>
              </a:rPr>
              <a:t>Pièce équilibrée</a:t>
            </a:r>
            <a:endParaRPr lang="fr-FR" sz="1250" b="0" u="none" strike="noStrike">
              <a:solidFill>
                <a:srgbClr val="000000"/>
              </a:solidFill>
              <a:effectLst/>
              <a:uFillTx/>
              <a:latin typeface="Arial"/>
            </a:endParaRPr>
          </a:p>
        </p:txBody>
      </p:sp>
      <p:sp>
        <p:nvSpPr>
          <p:cNvPr id="141" name="Text 5"/>
          <p:cNvSpPr/>
          <p:nvPr/>
        </p:nvSpPr>
        <p:spPr>
          <a:xfrm>
            <a:off x="731520" y="1828800"/>
            <a:ext cx="521172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onsolas"/>
                <a:ea typeface="Consolas"/>
              </a:rPr>
              <a:t>P(pile)=0.5, P(face)=0.5</a:t>
            </a:r>
            <a:endParaRPr lang="fr-FR" sz="1050" b="0" u="none" strike="noStrike">
              <a:solidFill>
                <a:srgbClr val="000000"/>
              </a:solidFill>
              <a:effectLst/>
              <a:uFillTx/>
              <a:latin typeface="Arial"/>
            </a:endParaRPr>
          </a:p>
        </p:txBody>
      </p:sp>
      <p:sp>
        <p:nvSpPr>
          <p:cNvPr id="142" name="Text 6"/>
          <p:cNvSpPr/>
          <p:nvPr/>
        </p:nvSpPr>
        <p:spPr>
          <a:xfrm>
            <a:off x="731520" y="2084760"/>
            <a:ext cx="521172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80" b="0" u="none" strike="noStrike">
                <a:solidFill>
                  <a:srgbClr val="1B1F3B"/>
                </a:solidFill>
                <a:effectLst/>
                <a:uFillTx/>
                <a:latin typeface="Calibri"/>
                <a:ea typeface="Calibri"/>
              </a:rPr>
              <a:t>H = 1 bit → incertitude maximale : on ne peut pas prédire.</a:t>
            </a:r>
            <a:endParaRPr lang="fr-FR" sz="1080" b="0" u="none" strike="noStrike">
              <a:solidFill>
                <a:srgbClr val="000000"/>
              </a:solidFill>
              <a:effectLst/>
              <a:uFillTx/>
              <a:latin typeface="Arial"/>
            </a:endParaRPr>
          </a:p>
        </p:txBody>
      </p:sp>
      <p:sp>
        <p:nvSpPr>
          <p:cNvPr id="143" name="Shape 7"/>
          <p:cNvSpPr/>
          <p:nvPr/>
        </p:nvSpPr>
        <p:spPr>
          <a:xfrm>
            <a:off x="548640" y="2670120"/>
            <a:ext cx="5577480" cy="1051200"/>
          </a:xfrm>
          <a:prstGeom prst="roundRect">
            <a:avLst>
              <a:gd name="adj" fmla="val 5217"/>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4" name="Text 8"/>
          <p:cNvSpPr/>
          <p:nvPr/>
        </p:nvSpPr>
        <p:spPr>
          <a:xfrm>
            <a:off x="731520" y="276156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E2761"/>
                </a:solidFill>
                <a:effectLst/>
                <a:uFillTx/>
                <a:latin typeface="Calibri"/>
                <a:ea typeface="Calibri"/>
              </a:rPr>
              <a:t>Pièce truquée (toujours pile)</a:t>
            </a:r>
            <a:endParaRPr lang="fr-FR" sz="1250" b="0" u="none" strike="noStrike">
              <a:solidFill>
                <a:srgbClr val="000000"/>
              </a:solidFill>
              <a:effectLst/>
              <a:uFillTx/>
              <a:latin typeface="Arial"/>
            </a:endParaRPr>
          </a:p>
        </p:txBody>
      </p:sp>
      <p:sp>
        <p:nvSpPr>
          <p:cNvPr id="145" name="Text 9"/>
          <p:cNvSpPr/>
          <p:nvPr/>
        </p:nvSpPr>
        <p:spPr>
          <a:xfrm>
            <a:off x="731520" y="3035880"/>
            <a:ext cx="521172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onsolas"/>
                <a:ea typeface="Consolas"/>
              </a:rPr>
              <a:t>P(pile)=1, P(face)=0</a:t>
            </a:r>
            <a:endParaRPr lang="fr-FR" sz="1050" b="0" u="none" strike="noStrike">
              <a:solidFill>
                <a:srgbClr val="000000"/>
              </a:solidFill>
              <a:effectLst/>
              <a:uFillTx/>
              <a:latin typeface="Arial"/>
            </a:endParaRPr>
          </a:p>
        </p:txBody>
      </p:sp>
      <p:sp>
        <p:nvSpPr>
          <p:cNvPr id="146" name="Text 10"/>
          <p:cNvSpPr/>
          <p:nvPr/>
        </p:nvSpPr>
        <p:spPr>
          <a:xfrm>
            <a:off x="731520" y="3291840"/>
            <a:ext cx="521172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80" b="0" u="none" strike="noStrike">
                <a:solidFill>
                  <a:srgbClr val="1B1F3B"/>
                </a:solidFill>
                <a:effectLst/>
                <a:uFillTx/>
                <a:latin typeface="Calibri"/>
                <a:ea typeface="Calibri"/>
              </a:rPr>
              <a:t>H = 0 bit → incertitude nulle : on sait que ce sera pile.</a:t>
            </a:r>
            <a:endParaRPr lang="fr-FR" sz="1080" b="0" u="none" strike="noStrike">
              <a:solidFill>
                <a:srgbClr val="000000"/>
              </a:solidFill>
              <a:effectLst/>
              <a:uFillTx/>
              <a:latin typeface="Arial"/>
            </a:endParaRPr>
          </a:p>
        </p:txBody>
      </p:sp>
      <p:sp>
        <p:nvSpPr>
          <p:cNvPr id="147" name="Shape 11"/>
          <p:cNvSpPr/>
          <p:nvPr/>
        </p:nvSpPr>
        <p:spPr>
          <a:xfrm>
            <a:off x="548640" y="3877200"/>
            <a:ext cx="5577480" cy="1051200"/>
          </a:xfrm>
          <a:prstGeom prst="roundRect">
            <a:avLst>
              <a:gd name="adj" fmla="val 5217"/>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48" name="Text 12"/>
          <p:cNvSpPr/>
          <p:nvPr/>
        </p:nvSpPr>
        <p:spPr>
          <a:xfrm>
            <a:off x="731520" y="3968640"/>
            <a:ext cx="52117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E2761"/>
                </a:solidFill>
                <a:effectLst/>
                <a:uFillTx/>
                <a:latin typeface="Calibri"/>
                <a:ea typeface="Calibri"/>
              </a:rPr>
              <a:t>Pièce biaisée à 80%</a:t>
            </a:r>
            <a:endParaRPr lang="fr-FR" sz="1250" b="0" u="none" strike="noStrike">
              <a:solidFill>
                <a:srgbClr val="000000"/>
              </a:solidFill>
              <a:effectLst/>
              <a:uFillTx/>
              <a:latin typeface="Arial"/>
            </a:endParaRPr>
          </a:p>
        </p:txBody>
      </p:sp>
      <p:sp>
        <p:nvSpPr>
          <p:cNvPr id="149" name="Text 13"/>
          <p:cNvSpPr/>
          <p:nvPr/>
        </p:nvSpPr>
        <p:spPr>
          <a:xfrm>
            <a:off x="731520" y="4242960"/>
            <a:ext cx="5211720" cy="255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5A5F73"/>
                </a:solidFill>
                <a:effectLst/>
                <a:uFillTx/>
                <a:latin typeface="Consolas"/>
                <a:ea typeface="Consolas"/>
              </a:rPr>
              <a:t>P(pile)=0.8, P(face)=0.2</a:t>
            </a:r>
            <a:endParaRPr lang="fr-FR" sz="1050" b="0" u="none" strike="noStrike">
              <a:solidFill>
                <a:srgbClr val="000000"/>
              </a:solidFill>
              <a:effectLst/>
              <a:uFillTx/>
              <a:latin typeface="Arial"/>
            </a:endParaRPr>
          </a:p>
        </p:txBody>
      </p:sp>
      <p:sp>
        <p:nvSpPr>
          <p:cNvPr id="150" name="Text 14"/>
          <p:cNvSpPr/>
          <p:nvPr/>
        </p:nvSpPr>
        <p:spPr>
          <a:xfrm>
            <a:off x="731520" y="4498920"/>
            <a:ext cx="521172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80" b="0" u="none" strike="noStrike">
                <a:solidFill>
                  <a:srgbClr val="1B1F3B"/>
                </a:solidFill>
                <a:effectLst/>
                <a:uFillTx/>
                <a:latin typeface="Calibri"/>
                <a:ea typeface="Calibri"/>
              </a:rPr>
              <a:t>H ≈ 0.722 bit → incertitude plus faible que 1 bit.</a:t>
            </a:r>
            <a:endParaRPr lang="fr-FR" sz="1080" b="0" u="none" strike="noStrike">
              <a:solidFill>
                <a:srgbClr val="000000"/>
              </a:solidFill>
              <a:effectLst/>
              <a:uFillTx/>
              <a:latin typeface="Arial"/>
            </a:endParaRPr>
          </a:p>
        </p:txBody>
      </p:sp>
      <p:sp>
        <p:nvSpPr>
          <p:cNvPr id="151" name="Text 15"/>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10</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8H30 – 9H30 · L'ENTROPIE</a:t>
            </a:r>
            <a:endParaRPr lang="fr-FR" sz="1200" b="0" u="none" strike="noStrike">
              <a:solidFill>
                <a:srgbClr val="000000"/>
              </a:solidFill>
              <a:effectLst/>
              <a:uFillTx/>
              <a:latin typeface="Arial"/>
            </a:endParaRPr>
          </a:p>
        </p:txBody>
      </p:sp>
      <p:sp>
        <p:nvSpPr>
          <p:cNvPr id="153"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Exercice 1 (facile) — Entropie d'un dé</a:t>
            </a:r>
            <a:endParaRPr lang="fr-FR" sz="3000" b="0" u="none" strike="noStrike">
              <a:solidFill>
                <a:srgbClr val="000000"/>
              </a:solidFill>
              <a:effectLst/>
              <a:uFillTx/>
              <a:latin typeface="Arial"/>
            </a:endParaRPr>
          </a:p>
        </p:txBody>
      </p:sp>
      <p:sp>
        <p:nvSpPr>
          <p:cNvPr id="154" name="Shape 2"/>
          <p:cNvSpPr/>
          <p:nvPr/>
        </p:nvSpPr>
        <p:spPr>
          <a:xfrm>
            <a:off x="548640" y="1463040"/>
            <a:ext cx="11063880" cy="1005480"/>
          </a:xfrm>
          <a:prstGeom prst="roundRect">
            <a:avLst>
              <a:gd name="adj" fmla="val 7273"/>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5" name="Text 3"/>
          <p:cNvSpPr/>
          <p:nvPr/>
        </p:nvSpPr>
        <p:spPr>
          <a:xfrm>
            <a:off x="822960" y="1554480"/>
            <a:ext cx="10515240" cy="822600"/>
          </a:xfrm>
          <a:prstGeom prst="rect">
            <a:avLst/>
          </a:prstGeom>
          <a:noFill/>
          <a:ln w="0">
            <a:noFill/>
          </a:ln>
        </p:spPr>
        <p:style>
          <a:lnRef idx="0"/>
          <a:fillRef idx="0"/>
          <a:effectRef idx="0"/>
          <a:fontRef idx="minor"/>
        </p:style>
        <p:txBody>
          <a:bodyPr lIns="90000" tIns="45000" rIns="90000" bIns="45000" anchor="ctr">
            <a:noAutofit/>
          </a:bodyPr>
          <a:p>
            <a:r>
              <a:rPr lang="en-US" sz="1300" b="1" u="none" strike="noStrike">
                <a:solidFill>
                  <a:srgbClr val="1B1F3B"/>
                </a:solidFill>
                <a:effectLst/>
                <a:uFillTx/>
                <a:latin typeface="Calibri"/>
                <a:ea typeface="Calibri"/>
              </a:rPr>
              <a:t>Énoncé : </a:t>
            </a:r>
            <a:r>
              <a:rPr lang="en-US" sz="1300" b="0" u="none" strike="noStrike">
                <a:solidFill>
                  <a:srgbClr val="1B1F3B"/>
                </a:solidFill>
                <a:effectLst/>
                <a:uFillTx/>
                <a:latin typeface="Calibri"/>
                <a:ea typeface="Calibri"/>
              </a:rPr>
              <a:t>Un dé à 6 faces est équilibré. Calculez l'entropie du résultat d'un lancer.</a:t>
            </a:r>
            <a:endParaRPr lang="fr-FR" sz="1300" b="0" u="none" strike="noStrike">
              <a:solidFill>
                <a:srgbClr val="000000"/>
              </a:solidFill>
              <a:effectLst/>
              <a:uFillTx/>
              <a:latin typeface="Arial"/>
            </a:endParaRPr>
          </a:p>
          <a:p>
            <a:pPr defTabSz="914400">
              <a:lnSpc>
                <a:spcPct val="120000"/>
              </a:lnSpc>
              <a:tabLst>
                <a:tab pos="0" algn="l"/>
              </a:tabLst>
            </a:pPr>
            <a:r>
              <a:rPr lang="en-US" sz="1300" b="1" i="1" u="none" strike="noStrike">
                <a:solidFill>
                  <a:srgbClr val="1B1F3B"/>
                </a:solidFill>
                <a:effectLst/>
                <a:uFillTx/>
                <a:latin typeface="Calibri"/>
                <a:ea typeface="Calibri"/>
              </a:rPr>
              <a:t>Indice : </a:t>
            </a:r>
            <a:r>
              <a:rPr lang="en-US" sz="1300" b="0" i="1" u="none" strike="noStrike">
                <a:solidFill>
                  <a:srgbClr val="1B1F3B"/>
                </a:solidFill>
                <a:effectLst/>
                <a:uFillTx/>
                <a:latin typeface="Calibri"/>
                <a:ea typeface="Calibri"/>
              </a:rPr>
              <a:t>il y a 6 classes équiprobables, donc pᵢ = 1/6 pour chaque i.</a:t>
            </a:r>
            <a:endParaRPr lang="fr-FR" sz="1300" b="0" u="none" strike="noStrike">
              <a:solidFill>
                <a:srgbClr val="000000"/>
              </a:solidFill>
              <a:effectLst/>
              <a:uFillTx/>
              <a:latin typeface="Arial"/>
            </a:endParaRPr>
          </a:p>
        </p:txBody>
      </p:sp>
      <p:sp>
        <p:nvSpPr>
          <p:cNvPr id="156" name="Text 4"/>
          <p:cNvSpPr/>
          <p:nvPr/>
        </p:nvSpPr>
        <p:spPr>
          <a:xfrm>
            <a:off x="548640" y="2697480"/>
            <a:ext cx="45716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E2761"/>
                </a:solidFill>
                <a:effectLst/>
                <a:uFillTx/>
                <a:latin typeface="Calibri"/>
                <a:ea typeface="Calibri"/>
              </a:rPr>
              <a:t>CORRECTION DÉTAILLÉE</a:t>
            </a:r>
            <a:endParaRPr lang="fr-FR" sz="1250" b="0" u="none" strike="noStrike">
              <a:solidFill>
                <a:srgbClr val="000000"/>
              </a:solidFill>
              <a:effectLst/>
              <a:uFillTx/>
              <a:latin typeface="Arial"/>
            </a:endParaRPr>
          </a:p>
        </p:txBody>
      </p:sp>
      <p:sp>
        <p:nvSpPr>
          <p:cNvPr id="157" name="Text 5"/>
          <p:cNvSpPr/>
          <p:nvPr/>
        </p:nvSpPr>
        <p:spPr>
          <a:xfrm>
            <a:off x="548640" y="3063240"/>
            <a:ext cx="6491880" cy="1737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40000"/>
              </a:lnSpc>
              <a:tabLst>
                <a:tab pos="0" algn="l"/>
              </a:tabLst>
            </a:pPr>
            <a:r>
              <a:rPr lang="en-US" sz="1300" b="0" u="none" strike="noStrike">
                <a:solidFill>
                  <a:srgbClr val="1B1F3B"/>
                </a:solidFill>
                <a:effectLst/>
                <a:uFillTx/>
                <a:latin typeface="Consolas"/>
                <a:ea typeface="Consolas"/>
              </a:rPr>
              <a:t>• Chaque face a probabilité 1/6.</a:t>
            </a:r>
            <a:endParaRPr lang="fr-FR" sz="1300" b="0" u="none" strike="noStrike">
              <a:solidFill>
                <a:srgbClr val="000000"/>
              </a:solidFill>
              <a:effectLst/>
              <a:uFillTx/>
              <a:latin typeface="Arial"/>
            </a:endParaRPr>
          </a:p>
          <a:p>
            <a:pPr defTabSz="914400">
              <a:lnSpc>
                <a:spcPct val="140000"/>
              </a:lnSpc>
              <a:tabLst>
                <a:tab pos="0" algn="l"/>
              </a:tabLst>
            </a:pPr>
            <a:r>
              <a:rPr lang="en-US" sz="1300" b="0" u="none" strike="noStrike">
                <a:solidFill>
                  <a:srgbClr val="1B1F3B"/>
                </a:solidFill>
                <a:effectLst/>
                <a:uFillTx/>
                <a:latin typeface="Consolas"/>
                <a:ea typeface="Consolas"/>
              </a:rPr>
              <a:t>• H = − 6 × (1/6 × log2(1/6))</a:t>
            </a:r>
            <a:endParaRPr lang="fr-FR" sz="1300" b="0" u="none" strike="noStrike">
              <a:solidFill>
                <a:srgbClr val="000000"/>
              </a:solidFill>
              <a:effectLst/>
              <a:uFillTx/>
              <a:latin typeface="Arial"/>
            </a:endParaRPr>
          </a:p>
          <a:p>
            <a:pPr defTabSz="914400">
              <a:lnSpc>
                <a:spcPct val="140000"/>
              </a:lnSpc>
              <a:tabLst>
                <a:tab pos="0" algn="l"/>
              </a:tabLst>
            </a:pPr>
            <a:r>
              <a:rPr lang="en-US" sz="1300" b="0" u="none" strike="noStrike">
                <a:solidFill>
                  <a:srgbClr val="1B1F3B"/>
                </a:solidFill>
                <a:effectLst/>
                <a:uFillTx/>
                <a:latin typeface="Consolas"/>
                <a:ea typeface="Consolas"/>
              </a:rPr>
              <a:t>• log2(1/6) = log2(1) − log2(6) = 0 − 2.585 = −2.585</a:t>
            </a:r>
            <a:endParaRPr lang="fr-FR" sz="1300" b="0" u="none" strike="noStrike">
              <a:solidFill>
                <a:srgbClr val="000000"/>
              </a:solidFill>
              <a:effectLst/>
              <a:uFillTx/>
              <a:latin typeface="Arial"/>
            </a:endParaRPr>
          </a:p>
          <a:p>
            <a:pPr defTabSz="914400">
              <a:lnSpc>
                <a:spcPct val="140000"/>
              </a:lnSpc>
              <a:tabLst>
                <a:tab pos="0" algn="l"/>
              </a:tabLst>
            </a:pPr>
            <a:r>
              <a:rPr lang="en-US" sz="1300" b="0" u="none" strike="noStrike">
                <a:solidFill>
                  <a:srgbClr val="1B1F3B"/>
                </a:solidFill>
                <a:effectLst/>
                <a:uFillTx/>
                <a:latin typeface="Consolas"/>
                <a:ea typeface="Consolas"/>
              </a:rPr>
              <a:t>• H = − 6 × (1/6 × (−2.585)) = − 6 × (−0.4308) = 2.585 bits</a:t>
            </a:r>
            <a:endParaRPr lang="fr-FR" sz="1300" b="0" u="none" strike="noStrike">
              <a:solidFill>
                <a:srgbClr val="000000"/>
              </a:solidFill>
              <a:effectLst/>
              <a:uFillTx/>
              <a:latin typeface="Arial"/>
            </a:endParaRPr>
          </a:p>
        </p:txBody>
      </p:sp>
      <p:sp>
        <p:nvSpPr>
          <p:cNvPr id="158" name="Shape 6"/>
          <p:cNvSpPr/>
          <p:nvPr/>
        </p:nvSpPr>
        <p:spPr>
          <a:xfrm>
            <a:off x="548640" y="4892040"/>
            <a:ext cx="6491880" cy="1188360"/>
          </a:xfrm>
          <a:prstGeom prst="roundRect">
            <a:avLst>
              <a:gd name="adj" fmla="val 6154"/>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59" name="Text 7"/>
          <p:cNvSpPr/>
          <p:nvPr/>
        </p:nvSpPr>
        <p:spPr>
          <a:xfrm>
            <a:off x="777240" y="4892040"/>
            <a:ext cx="6034680" cy="118836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250" b="1" u="none" strike="noStrike">
                <a:solidFill>
                  <a:srgbClr val="1E2761"/>
                </a:solidFill>
                <a:effectLst/>
                <a:uFillTx/>
                <a:latin typeface="Calibri"/>
                <a:ea typeface="Calibri"/>
              </a:rPr>
              <a:t>Interprétation : </a:t>
            </a:r>
            <a:r>
              <a:rPr lang="en-US" sz="1250" b="0" u="none" strike="noStrike">
                <a:solidFill>
                  <a:srgbClr val="1B1F3B"/>
                </a:solidFill>
                <a:effectLst/>
                <a:uFillTx/>
                <a:latin typeface="Calibri"/>
                <a:ea typeface="Calibri"/>
              </a:rPr>
              <a:t>il y a plus d'incertitude qu'avec une pièce (2.585 &gt; 1) car il y a plus de possibilités.</a:t>
            </a:r>
            <a:endParaRPr lang="fr-FR" sz="1250" b="0" u="none" strike="noStrike">
              <a:solidFill>
                <a:srgbClr val="000000"/>
              </a:solidFill>
              <a:effectLst/>
              <a:uFillTx/>
              <a:latin typeface="Arial"/>
            </a:endParaRPr>
          </a:p>
        </p:txBody>
      </p:sp>
      <p:sp>
        <p:nvSpPr>
          <p:cNvPr id="160" name="Shape 8"/>
          <p:cNvSpPr/>
          <p:nvPr/>
        </p:nvSpPr>
        <p:spPr>
          <a:xfrm>
            <a:off x="7315200" y="1463040"/>
            <a:ext cx="4343040" cy="4617360"/>
          </a:xfrm>
          <a:prstGeom prst="roundRect">
            <a:avLst>
              <a:gd name="adj" fmla="val 1684"/>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61" name="Text 9"/>
          <p:cNvSpPr/>
          <p:nvPr/>
        </p:nvSpPr>
        <p:spPr>
          <a:xfrm>
            <a:off x="7315200" y="2651760"/>
            <a:ext cx="4343040" cy="9140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4400" b="1" u="none" strike="noStrike">
                <a:solidFill>
                  <a:srgbClr val="F39C12"/>
                </a:solidFill>
                <a:effectLst/>
                <a:uFillTx/>
                <a:latin typeface="Cambria"/>
                <a:ea typeface="Cambria"/>
              </a:rPr>
              <a:t>2.585 bits</a:t>
            </a:r>
            <a:endParaRPr lang="fr-FR" sz="4400" b="0" u="none" strike="noStrike">
              <a:solidFill>
                <a:srgbClr val="000000"/>
              </a:solidFill>
              <a:effectLst/>
              <a:uFillTx/>
              <a:latin typeface="Arial"/>
            </a:endParaRPr>
          </a:p>
        </p:txBody>
      </p:sp>
      <p:sp>
        <p:nvSpPr>
          <p:cNvPr id="162" name="Text 10"/>
          <p:cNvSpPr/>
          <p:nvPr/>
        </p:nvSpPr>
        <p:spPr>
          <a:xfrm>
            <a:off x="7589520" y="3611880"/>
            <a:ext cx="379440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20000"/>
              </a:lnSpc>
              <a:tabLst>
                <a:tab pos="0" algn="l"/>
              </a:tabLst>
            </a:pPr>
            <a:r>
              <a:rPr lang="en-US" sz="1200" b="0" u="none" strike="noStrike">
                <a:solidFill>
                  <a:srgbClr val="FFFFFF"/>
                </a:solidFill>
                <a:effectLst/>
                <a:uFillTx/>
                <a:latin typeface="Calibri"/>
                <a:ea typeface="Calibri"/>
              </a:rPr>
              <a:t>Entropie d'un dé à 6 faces</a:t>
            </a:r>
            <a:endParaRPr lang="fr-FR" sz="1200" b="0" u="none" strike="noStrike">
              <a:solidFill>
                <a:srgbClr val="000000"/>
              </a:solidFill>
              <a:effectLst/>
              <a:uFillTx/>
              <a:latin typeface="Arial"/>
            </a:endParaRPr>
          </a:p>
          <a:p>
            <a:pPr algn="ctr" defTabSz="914400">
              <a:lnSpc>
                <a:spcPct val="120000"/>
              </a:lnSpc>
              <a:tabLst>
                <a:tab pos="0" algn="l"/>
              </a:tabLst>
            </a:pPr>
            <a:r>
              <a:rPr lang="en-US" sz="1200" b="0" u="none" strike="noStrike">
                <a:solidFill>
                  <a:srgbClr val="FFFFFF"/>
                </a:solidFill>
                <a:effectLst/>
                <a:uFillTx/>
                <a:latin typeface="Calibri"/>
                <a:ea typeface="Calibri"/>
              </a:rPr>
              <a:t>(comparée à 1 bit pour une pièce équilibrée)</a:t>
            </a:r>
            <a:endParaRPr lang="fr-FR" sz="1200" b="0" u="none" strike="noStrike">
              <a:solidFill>
                <a:srgbClr val="000000"/>
              </a:solidFill>
              <a:effectLst/>
              <a:uFillTx/>
              <a:latin typeface="Arial"/>
            </a:endParaRPr>
          </a:p>
        </p:txBody>
      </p:sp>
      <p:sp>
        <p:nvSpPr>
          <p:cNvPr id="163" name="Text 11"/>
          <p:cNvSpPr/>
          <p:nvPr/>
        </p:nvSpPr>
        <p:spPr>
          <a:xfrm>
            <a:off x="7589520" y="4572000"/>
            <a:ext cx="3794400" cy="1279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050" b="0" i="1" u="none" strike="noStrike">
                <a:solidFill>
                  <a:srgbClr val="CBD3F0"/>
                </a:solidFill>
                <a:effectLst/>
                <a:uFillTx/>
                <a:latin typeface="Calibri"/>
                <a:ea typeface="Calibri"/>
              </a:rPr>
              <a:t>Pause active : « Quelle est l'entropie d'un ensemble 100% homogène ? » → 0 bit.</a:t>
            </a:r>
            <a:endParaRPr lang="fr-FR" sz="1050" b="0" u="none" strike="noStrike">
              <a:solidFill>
                <a:srgbClr val="000000"/>
              </a:solidFill>
              <a:effectLst/>
              <a:uFillTx/>
              <a:latin typeface="Arial"/>
            </a:endParaRPr>
          </a:p>
          <a:p>
            <a:pPr defTabSz="914400">
              <a:lnSpc>
                <a:spcPct val="125000"/>
              </a:lnSpc>
              <a:tabLst>
                <a:tab pos="0" algn="l"/>
              </a:tabLst>
            </a:pPr>
            <a:r>
              <a:rPr lang="en-US" sz="1050" b="0" i="1" u="none" strike="noStrike">
                <a:solidFill>
                  <a:srgbClr val="CBD3F0"/>
                </a:solidFill>
                <a:effectLst/>
                <a:uFillTx/>
                <a:latin typeface="Calibri"/>
                <a:ea typeface="Calibri"/>
              </a:rPr>
              <a:t>« Et si 2 classes sont réparties également ? » → 1 bit.</a:t>
            </a:r>
            <a:endParaRPr lang="fr-FR" sz="1050" b="0" u="none" strike="noStrike">
              <a:solidFill>
                <a:srgbClr val="000000"/>
              </a:solidFill>
              <a:effectLst/>
              <a:uFillTx/>
              <a:latin typeface="Arial"/>
            </a:endParaRPr>
          </a:p>
        </p:txBody>
      </p:sp>
      <p:sp>
        <p:nvSpPr>
          <p:cNvPr id="164" name="Text 12"/>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11</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5"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9H30 – 10H15 · LE GAIN D'INFORMATION</a:t>
            </a:r>
            <a:endParaRPr lang="fr-FR" sz="1200" b="0" u="none" strike="noStrike">
              <a:solidFill>
                <a:srgbClr val="000000"/>
              </a:solidFill>
              <a:effectLst/>
              <a:uFillTx/>
              <a:latin typeface="Arial"/>
            </a:endParaRPr>
          </a:p>
        </p:txBody>
      </p:sp>
      <p:sp>
        <p:nvSpPr>
          <p:cNvPr id="166"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Principe du gain d'information</a:t>
            </a:r>
            <a:endParaRPr lang="fr-FR" sz="3000" b="0" u="none" strike="noStrike">
              <a:solidFill>
                <a:srgbClr val="000000"/>
              </a:solidFill>
              <a:effectLst/>
              <a:uFillTx/>
              <a:latin typeface="Arial"/>
            </a:endParaRPr>
          </a:p>
        </p:txBody>
      </p:sp>
      <p:sp>
        <p:nvSpPr>
          <p:cNvPr id="167" name="Text 2"/>
          <p:cNvSpPr/>
          <p:nvPr/>
        </p:nvSpPr>
        <p:spPr>
          <a:xfrm>
            <a:off x="548640" y="1417320"/>
            <a:ext cx="6309000" cy="2194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300" b="0" u="none" strike="noStrike">
                <a:solidFill>
                  <a:srgbClr val="1B1F3B"/>
                </a:solidFill>
                <a:effectLst/>
                <a:uFillTx/>
                <a:latin typeface="Calibri"/>
                <a:ea typeface="Calibri"/>
              </a:rPr>
              <a:t>Le gain d'information mesure la réduction d'entropie obtenue en séparant les données selon une caractéristique donnée. Autrement dit : si je pose une question (par exemple « est-ce qu'il pleut ? »), à quel point cela réduit-il l'incertitude sur la classe à prédire (par exemple « jouer au tennis ou non ») ? Plus le gain est grand, plus la question est informative.</a:t>
            </a:r>
            <a:endParaRPr lang="fr-FR" sz="1300" b="0" u="none" strike="noStrike">
              <a:solidFill>
                <a:srgbClr val="000000"/>
              </a:solidFill>
              <a:effectLst/>
              <a:uFillTx/>
              <a:latin typeface="Arial"/>
            </a:endParaRPr>
          </a:p>
        </p:txBody>
      </p:sp>
      <p:sp>
        <p:nvSpPr>
          <p:cNvPr id="168" name="Shape 3"/>
          <p:cNvSpPr/>
          <p:nvPr/>
        </p:nvSpPr>
        <p:spPr>
          <a:xfrm>
            <a:off x="548640" y="3749040"/>
            <a:ext cx="6309000" cy="2468520"/>
          </a:xfrm>
          <a:prstGeom prst="roundRect">
            <a:avLst>
              <a:gd name="adj" fmla="val 2963"/>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69" name="Text 4"/>
          <p:cNvSpPr/>
          <p:nvPr/>
        </p:nvSpPr>
        <p:spPr>
          <a:xfrm>
            <a:off x="777240" y="3886200"/>
            <a:ext cx="576036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EXEMPLE SIMPLE — Emails « gratuit »</a:t>
            </a:r>
            <a:endParaRPr lang="fr-FR" sz="1150" b="0" u="none" strike="noStrike">
              <a:solidFill>
                <a:srgbClr val="000000"/>
              </a:solidFill>
              <a:effectLst/>
              <a:uFillTx/>
              <a:latin typeface="Arial"/>
            </a:endParaRPr>
          </a:p>
        </p:txBody>
      </p:sp>
      <p:sp>
        <p:nvSpPr>
          <p:cNvPr id="170" name="Text 5"/>
          <p:cNvSpPr/>
          <p:nvPr/>
        </p:nvSpPr>
        <p:spPr>
          <a:xfrm>
            <a:off x="777240" y="4206240"/>
            <a:ext cx="5851800" cy="1919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100" b="0" u="none" strike="noStrike">
                <a:solidFill>
                  <a:srgbClr val="1B1F3B"/>
                </a:solidFill>
                <a:effectLst/>
                <a:uFillTx/>
                <a:latin typeface="Consolas"/>
                <a:ea typeface="Consolas"/>
              </a:rPr>
              <a:t>S : 10 emails (6 spam, 4 non spam) → H(S) = 0.971 bits</a:t>
            </a:r>
            <a:endParaRPr lang="fr-FR" sz="1100" b="0" u="none" strike="noStrike">
              <a:solidFill>
                <a:srgbClr val="000000"/>
              </a:solidFill>
              <a:effectLst/>
              <a:uFillTx/>
              <a:latin typeface="Arial"/>
            </a:endParaRPr>
          </a:p>
          <a:p>
            <a:pPr defTabSz="914400">
              <a:lnSpc>
                <a:spcPct val="130000"/>
              </a:lnSpc>
              <a:tabLst>
                <a:tab pos="0" algn="l"/>
              </a:tabLst>
            </a:pPr>
            <a:r>
              <a:rPr lang="en-US" sz="1100" b="0" u="none" strike="noStrike">
                <a:solidFill>
                  <a:srgbClr val="1B1F3B"/>
                </a:solidFill>
                <a:effectLst/>
                <a:uFillTx/>
                <a:latin typeface="Consolas"/>
                <a:ea typeface="Consolas"/>
              </a:rPr>
              <a:t>Caractéristique A = « contient le mot gratuit »</a:t>
            </a:r>
            <a:endParaRPr lang="fr-FR" sz="1100" b="0" u="none" strike="noStrike">
              <a:solidFill>
                <a:srgbClr val="000000"/>
              </a:solidFill>
              <a:effectLst/>
              <a:uFillTx/>
              <a:latin typeface="Arial"/>
            </a:endParaRPr>
          </a:p>
          <a:p>
            <a:pPr defTabSz="914400">
              <a:lnSpc>
                <a:spcPct val="130000"/>
              </a:lnSpc>
              <a:tabLst>
                <a:tab pos="0" algn="l"/>
              </a:tabLst>
            </a:pPr>
            <a:r>
              <a:rPr lang="en-US" sz="1100" b="0" u="none" strike="noStrike">
                <a:solidFill>
                  <a:srgbClr val="1B1F3B"/>
                </a:solidFill>
                <a:effectLst/>
                <a:uFillTx/>
                <a:latin typeface="Consolas"/>
                <a:ea typeface="Consolas"/>
              </a:rPr>
              <a:t>• 4 contiennent « gratuit » (tous spam) → H = 0</a:t>
            </a:r>
            <a:endParaRPr lang="fr-FR" sz="1100" b="0" u="none" strike="noStrike">
              <a:solidFill>
                <a:srgbClr val="000000"/>
              </a:solidFill>
              <a:effectLst/>
              <a:uFillTx/>
              <a:latin typeface="Arial"/>
            </a:endParaRPr>
          </a:p>
          <a:p>
            <a:pPr defTabSz="914400">
              <a:lnSpc>
                <a:spcPct val="130000"/>
              </a:lnSpc>
              <a:tabLst>
                <a:tab pos="0" algn="l"/>
              </a:tabLst>
            </a:pPr>
            <a:r>
              <a:rPr lang="en-US" sz="1100" b="0" u="none" strike="noStrike">
                <a:solidFill>
                  <a:srgbClr val="1B1F3B"/>
                </a:solidFill>
                <a:effectLst/>
                <a:uFillTx/>
                <a:latin typeface="Consolas"/>
                <a:ea typeface="Consolas"/>
              </a:rPr>
              <a:t>• 6 ne le contiennent pas (2 spam, 4 non) → H = 0.918</a:t>
            </a:r>
            <a:endParaRPr lang="fr-FR" sz="1100" b="0" u="none" strike="noStrike">
              <a:solidFill>
                <a:srgbClr val="000000"/>
              </a:solidFill>
              <a:effectLst/>
              <a:uFillTx/>
              <a:latin typeface="Arial"/>
            </a:endParaRPr>
          </a:p>
          <a:p>
            <a:pPr defTabSz="914400">
              <a:lnSpc>
                <a:spcPct val="130000"/>
              </a:lnSpc>
              <a:tabLst>
                <a:tab pos="0" algn="l"/>
              </a:tabLst>
            </a:pPr>
            <a:r>
              <a:rPr lang="en-US" sz="1100" b="0" u="none" strike="noStrike">
                <a:solidFill>
                  <a:srgbClr val="1B1F3B"/>
                </a:solidFill>
                <a:effectLst/>
                <a:uFillTx/>
                <a:latin typeface="Consolas"/>
                <a:ea typeface="Consolas"/>
              </a:rPr>
              <a:t>Gain = 0.971 − (4/10×0 + 6/10×0.918) = 0.420 bit</a:t>
            </a:r>
            <a:endParaRPr lang="fr-FR" sz="1100" b="0" u="none" strike="noStrike">
              <a:solidFill>
                <a:srgbClr val="000000"/>
              </a:solidFill>
              <a:effectLst/>
              <a:uFillTx/>
              <a:latin typeface="Arial"/>
            </a:endParaRPr>
          </a:p>
        </p:txBody>
      </p:sp>
      <p:sp>
        <p:nvSpPr>
          <p:cNvPr id="171" name="Shape 6"/>
          <p:cNvSpPr/>
          <p:nvPr/>
        </p:nvSpPr>
        <p:spPr>
          <a:xfrm>
            <a:off x="7223760" y="1417320"/>
            <a:ext cx="4434480" cy="2925720"/>
          </a:xfrm>
          <a:prstGeom prst="roundRect">
            <a:avLst>
              <a:gd name="adj" fmla="val 2500"/>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72" name="Text 7"/>
          <p:cNvSpPr/>
          <p:nvPr/>
        </p:nvSpPr>
        <p:spPr>
          <a:xfrm>
            <a:off x="7452360" y="1554480"/>
            <a:ext cx="39315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00" b="1" u="none" spc="99" strike="noStrike">
                <a:solidFill>
                  <a:srgbClr val="F39C12"/>
                </a:solidFill>
                <a:effectLst/>
                <a:uFillTx/>
                <a:latin typeface="Calibri"/>
                <a:ea typeface="Calibri"/>
              </a:rPr>
              <a:t>FORMULE</a:t>
            </a:r>
            <a:endParaRPr lang="fr-FR" sz="1100" b="0" u="none" strike="noStrike">
              <a:solidFill>
                <a:srgbClr val="000000"/>
              </a:solidFill>
              <a:effectLst/>
              <a:uFillTx/>
              <a:latin typeface="Arial"/>
            </a:endParaRPr>
          </a:p>
        </p:txBody>
      </p:sp>
      <p:sp>
        <p:nvSpPr>
          <p:cNvPr id="173" name="Text 8"/>
          <p:cNvSpPr/>
          <p:nvPr/>
        </p:nvSpPr>
        <p:spPr>
          <a:xfrm>
            <a:off x="7452360" y="1965960"/>
            <a:ext cx="402300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50" b="1" u="none" strike="noStrike">
                <a:solidFill>
                  <a:srgbClr val="FFFFFF"/>
                </a:solidFill>
                <a:effectLst/>
                <a:uFillTx/>
                <a:latin typeface="Cambria Math"/>
                <a:ea typeface="Cambria Math"/>
              </a:rPr>
              <a:t>Gain(S,A) = H(S) − Σᵥ (|Sᵥ|/|S|) · H(Sᵥ)</a:t>
            </a:r>
            <a:endParaRPr lang="fr-FR" sz="1450" b="0" u="none" strike="noStrike">
              <a:solidFill>
                <a:srgbClr val="000000"/>
              </a:solidFill>
              <a:effectLst/>
              <a:uFillTx/>
              <a:latin typeface="Arial"/>
            </a:endParaRPr>
          </a:p>
        </p:txBody>
      </p:sp>
      <p:sp>
        <p:nvSpPr>
          <p:cNvPr id="174" name="Text 9"/>
          <p:cNvSpPr/>
          <p:nvPr/>
        </p:nvSpPr>
        <p:spPr>
          <a:xfrm>
            <a:off x="7452360" y="2788920"/>
            <a:ext cx="40230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CBD3F0"/>
                </a:solidFill>
                <a:effectLst/>
                <a:uFillTx/>
                <a:latin typeface="Calibri"/>
                <a:ea typeface="Calibri"/>
              </a:rPr>
              <a:t>Sᵥ est le sous-ensemble de S pour lequel A = v, et |S| désigne le nombre d'échantillons.</a:t>
            </a:r>
            <a:endParaRPr lang="fr-FR" sz="1050" b="0" u="none" strike="noStrike">
              <a:solidFill>
                <a:srgbClr val="000000"/>
              </a:solidFill>
              <a:effectLst/>
              <a:uFillTx/>
              <a:latin typeface="Arial"/>
            </a:endParaRPr>
          </a:p>
        </p:txBody>
      </p:sp>
      <p:sp>
        <p:nvSpPr>
          <p:cNvPr id="175" name="Text 10"/>
          <p:cNvSpPr/>
          <p:nvPr/>
        </p:nvSpPr>
        <p:spPr>
          <a:xfrm>
            <a:off x="7452360" y="3520440"/>
            <a:ext cx="4023000" cy="77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000" b="1" u="none" strike="noStrike">
                <a:solidFill>
                  <a:srgbClr val="F39C12"/>
                </a:solidFill>
                <a:effectLst/>
                <a:uFillTx/>
                <a:latin typeface="Calibri"/>
                <a:ea typeface="Calibri"/>
              </a:rPr>
              <a:t>Erreur à éviter : </a:t>
            </a:r>
            <a:r>
              <a:rPr lang="en-US" sz="1000" b="0" u="none" strike="noStrike">
                <a:solidFill>
                  <a:srgbClr val="FFFFFF"/>
                </a:solidFill>
                <a:effectLst/>
                <a:uFillTx/>
                <a:latin typeface="Calibri"/>
                <a:ea typeface="Calibri"/>
              </a:rPr>
              <a:t>oublier de pondérer les entropies des sous-ensembles par leur taille relative — on ne fait pas simplement une moyenne.</a:t>
            </a:r>
            <a:endParaRPr lang="fr-FR" sz="1000" b="0" u="none" strike="noStrike">
              <a:solidFill>
                <a:srgbClr val="000000"/>
              </a:solidFill>
              <a:effectLst/>
              <a:uFillTx/>
              <a:latin typeface="Arial"/>
            </a:endParaRPr>
          </a:p>
        </p:txBody>
      </p:sp>
      <p:pic>
        <p:nvPicPr>
          <p:cNvPr id="176" name="Image 0" descr="images/gain_bars.png"/>
          <p:cNvPicPr/>
          <p:nvPr/>
        </p:nvPicPr>
        <p:blipFill>
          <a:blip r:embed="rId1"/>
          <a:stretch/>
        </p:blipFill>
        <p:spPr>
          <a:xfrm>
            <a:off x="7223760" y="4480560"/>
            <a:ext cx="4434480" cy="1919880"/>
          </a:xfrm>
          <a:prstGeom prst="rect">
            <a:avLst/>
          </a:prstGeom>
          <a:noFill/>
          <a:ln w="0">
            <a:noFill/>
          </a:ln>
        </p:spPr>
      </p:pic>
      <p:sp>
        <p:nvSpPr>
          <p:cNvPr id="177" name="Text 11"/>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12</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8"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9H30 – 10H15 · LE GAIN D'INFORMATION</a:t>
            </a:r>
            <a:endParaRPr lang="fr-FR" sz="1200" b="0" u="none" strike="noStrike">
              <a:solidFill>
                <a:srgbClr val="000000"/>
              </a:solidFill>
              <a:effectLst/>
              <a:uFillTx/>
              <a:latin typeface="Arial"/>
            </a:endParaRPr>
          </a:p>
        </p:txBody>
      </p:sp>
      <p:sp>
        <p:nvSpPr>
          <p:cNvPr id="179"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Exemple détaillé : jouer au tennis selon la météo</a:t>
            </a:r>
            <a:endParaRPr lang="fr-FR" sz="3000" b="0" u="none" strike="noStrike">
              <a:solidFill>
                <a:srgbClr val="000000"/>
              </a:solidFill>
              <a:effectLst/>
              <a:uFillTx/>
              <a:latin typeface="Arial"/>
            </a:endParaRPr>
          </a:p>
        </p:txBody>
      </p:sp>
      <p:graphicFrame>
        <p:nvGraphicFramePr>
          <p:cNvPr id="180" name="Table 0"/>
          <p:cNvGraphicFramePr/>
          <p:nvPr/>
        </p:nvGraphicFramePr>
        <p:xfrm>
          <a:off x="548640" y="1417320"/>
          <a:ext cx="5668920" cy="3565800"/>
        </p:xfrm>
        <a:graphic>
          <a:graphicData uri="http://schemas.openxmlformats.org/drawingml/2006/table">
            <a:tbl>
              <a:tblPr/>
              <a:tblGrid>
                <a:gridCol w="640080"/>
                <a:gridCol w="1371600"/>
                <a:gridCol w="1463040"/>
                <a:gridCol w="1280160"/>
                <a:gridCol w="914400"/>
              </a:tblGrid>
              <a:tr h="324000">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Jour</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Temps</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Humidité</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Vent</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Jouer</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1</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Soleil</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2</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Soleil</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3</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Couvert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1" u="none" strike="noStrike">
                          <a:solidFill>
                            <a:srgbClr val="27AE60"/>
                          </a:solidFill>
                          <a:effectLst/>
                          <a:uFillTx/>
                          <a:latin typeface="Calibri"/>
                          <a:ea typeface="Calibri"/>
                        </a:rPr>
                        <a:t>Oui</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4</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Pluie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27AE60"/>
                          </a:solidFill>
                          <a:effectLst/>
                          <a:uFillTx/>
                          <a:latin typeface="Calibri"/>
                          <a:ea typeface="Calibri"/>
                        </a:rPr>
                        <a:t>Oui</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5</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Pluie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6</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Pluie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7</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Couvert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1" u="none" strike="noStrike">
                          <a:solidFill>
                            <a:srgbClr val="27AE60"/>
                          </a:solidFill>
                          <a:effectLst/>
                          <a:uFillTx/>
                          <a:latin typeface="Calibri"/>
                          <a:ea typeface="Calibri"/>
                        </a:rPr>
                        <a:t>Oui</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8</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Soleil</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27AE60"/>
                          </a:solidFill>
                          <a:effectLst/>
                          <a:uFillTx/>
                          <a:latin typeface="Calibri"/>
                          <a:ea typeface="Calibri"/>
                        </a:rPr>
                        <a:t>Oui</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9</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Soleil</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10</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Pluie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27AE60"/>
                          </a:solidFill>
                          <a:effectLst/>
                          <a:uFillTx/>
                          <a:latin typeface="Calibri"/>
                          <a:ea typeface="Calibri"/>
                        </a:rPr>
                        <a:t>Oui</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r>
            </a:tbl>
          </a:graphicData>
        </a:graphic>
      </p:graphicFrame>
      <p:sp>
        <p:nvSpPr>
          <p:cNvPr id="181" name="Shape 2"/>
          <p:cNvSpPr/>
          <p:nvPr/>
        </p:nvSpPr>
        <p:spPr>
          <a:xfrm>
            <a:off x="7315200" y="1417320"/>
            <a:ext cx="4343040" cy="2148480"/>
          </a:xfrm>
          <a:prstGeom prst="roundRect">
            <a:avLst>
              <a:gd name="adj" fmla="val 3404"/>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82" name="Text 3"/>
          <p:cNvSpPr/>
          <p:nvPr/>
        </p:nvSpPr>
        <p:spPr>
          <a:xfrm>
            <a:off x="7543800" y="1572840"/>
            <a:ext cx="384012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ÉTAPE 1 — Entropie initiale H(S)</a:t>
            </a:r>
            <a:endParaRPr lang="fr-FR" sz="1150" b="0" u="none" strike="noStrike">
              <a:solidFill>
                <a:srgbClr val="000000"/>
              </a:solidFill>
              <a:effectLst/>
              <a:uFillTx/>
              <a:latin typeface="Arial"/>
            </a:endParaRPr>
          </a:p>
        </p:txBody>
      </p:sp>
      <p:sp>
        <p:nvSpPr>
          <p:cNvPr id="183" name="Text 4"/>
          <p:cNvSpPr/>
          <p:nvPr/>
        </p:nvSpPr>
        <p:spPr>
          <a:xfrm>
            <a:off x="7543800" y="1920240"/>
            <a:ext cx="3885840" cy="1554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35000"/>
              </a:lnSpc>
              <a:tabLst>
                <a:tab pos="0" algn="l"/>
              </a:tabLst>
            </a:pPr>
            <a:r>
              <a:rPr lang="en-US" sz="1200" b="0" u="none" strike="noStrike">
                <a:solidFill>
                  <a:srgbClr val="1B1F3B"/>
                </a:solidFill>
                <a:effectLst/>
                <a:uFillTx/>
                <a:latin typeface="Consolas"/>
                <a:ea typeface="Consolas"/>
              </a:rPr>
              <a:t>10 jours, 5 « Oui » et 5 « Non ».</a:t>
            </a:r>
            <a:endParaRPr lang="fr-FR" sz="1200" b="0" u="none" strike="noStrike">
              <a:solidFill>
                <a:srgbClr val="000000"/>
              </a:solidFill>
              <a:effectLst/>
              <a:uFillTx/>
              <a:latin typeface="Arial"/>
            </a:endParaRPr>
          </a:p>
          <a:p>
            <a:pPr defTabSz="914400">
              <a:lnSpc>
                <a:spcPct val="135000"/>
              </a:lnSpc>
              <a:tabLst>
                <a:tab pos="0" algn="l"/>
              </a:tabLst>
            </a:pPr>
            <a:endParaRPr lang="fr-FR" sz="1200" b="0" u="none" strike="noStrike">
              <a:solidFill>
                <a:srgbClr val="000000"/>
              </a:solidFill>
              <a:effectLst/>
              <a:uFillTx/>
              <a:latin typeface="Arial"/>
            </a:endParaRPr>
          </a:p>
          <a:p>
            <a:pPr defTabSz="914400">
              <a:lnSpc>
                <a:spcPct val="135000"/>
              </a:lnSpc>
              <a:tabLst>
                <a:tab pos="0" algn="l"/>
              </a:tabLst>
            </a:pPr>
            <a:r>
              <a:rPr lang="en-US" sz="1200" b="0" u="none" strike="noStrike">
                <a:solidFill>
                  <a:srgbClr val="1B1F3B"/>
                </a:solidFill>
                <a:effectLst/>
                <a:uFillTx/>
                <a:latin typeface="Consolas"/>
                <a:ea typeface="Consolas"/>
              </a:rPr>
              <a:t>H(S) = −(0.5·log₂0.5 + 0.5·log₂0.5)</a:t>
            </a:r>
            <a:endParaRPr lang="fr-FR" sz="1200" b="0" u="none" strike="noStrike">
              <a:solidFill>
                <a:srgbClr val="000000"/>
              </a:solidFill>
              <a:effectLst/>
              <a:uFillTx/>
              <a:latin typeface="Arial"/>
            </a:endParaRPr>
          </a:p>
          <a:p>
            <a:pPr defTabSz="914400">
              <a:lnSpc>
                <a:spcPct val="135000"/>
              </a:lnSpc>
              <a:tabLst>
                <a:tab pos="0" algn="l"/>
              </a:tabLst>
            </a:pPr>
            <a:r>
              <a:rPr lang="en-US" sz="1200" b="0" u="none" strike="noStrike">
                <a:solidFill>
                  <a:srgbClr val="1B1F3B"/>
                </a:solidFill>
                <a:effectLst/>
                <a:uFillTx/>
                <a:latin typeface="Consolas"/>
                <a:ea typeface="Consolas"/>
              </a:rPr>
              <a:t>     = 1 bit</a:t>
            </a:r>
            <a:endParaRPr lang="fr-FR" sz="1200" b="0" u="none" strike="noStrike">
              <a:solidFill>
                <a:srgbClr val="000000"/>
              </a:solidFill>
              <a:effectLst/>
              <a:uFillTx/>
              <a:latin typeface="Arial"/>
            </a:endParaRPr>
          </a:p>
        </p:txBody>
      </p:sp>
      <p:sp>
        <p:nvSpPr>
          <p:cNvPr id="184" name="Shape 5"/>
          <p:cNvSpPr/>
          <p:nvPr/>
        </p:nvSpPr>
        <p:spPr>
          <a:xfrm>
            <a:off x="7315200" y="3749040"/>
            <a:ext cx="4343040" cy="2514240"/>
          </a:xfrm>
          <a:prstGeom prst="roundRect">
            <a:avLst>
              <a:gd name="adj" fmla="val 2909"/>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185" name="Text 6"/>
          <p:cNvSpPr/>
          <p:nvPr/>
        </p:nvSpPr>
        <p:spPr>
          <a:xfrm>
            <a:off x="7543800" y="3886200"/>
            <a:ext cx="3840120" cy="292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ÉTAPE 2 — Gain pour « Temps »</a:t>
            </a:r>
            <a:endParaRPr lang="fr-FR" sz="1150" b="0" u="none" strike="noStrike">
              <a:solidFill>
                <a:srgbClr val="000000"/>
              </a:solidFill>
              <a:effectLst/>
              <a:uFillTx/>
              <a:latin typeface="Arial"/>
            </a:endParaRPr>
          </a:p>
        </p:txBody>
      </p:sp>
      <p:sp>
        <p:nvSpPr>
          <p:cNvPr id="186" name="Text 7"/>
          <p:cNvSpPr/>
          <p:nvPr/>
        </p:nvSpPr>
        <p:spPr>
          <a:xfrm>
            <a:off x="7543800" y="4206240"/>
            <a:ext cx="3931560" cy="1919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080" b="0" u="none" strike="noStrike">
                <a:solidFill>
                  <a:srgbClr val="FFFFFF"/>
                </a:solidFill>
                <a:effectLst/>
                <a:uFillTx/>
                <a:latin typeface="Consolas"/>
                <a:ea typeface="Consolas"/>
              </a:rPr>
              <a:t>Soleil (4j): 2O,2N → H=1</a:t>
            </a:r>
            <a:endParaRPr lang="fr-FR" sz="1080" b="0" u="none" strike="noStrike">
              <a:solidFill>
                <a:srgbClr val="000000"/>
              </a:solidFill>
              <a:effectLst/>
              <a:uFillTx/>
              <a:latin typeface="Arial"/>
            </a:endParaRPr>
          </a:p>
          <a:p>
            <a:pPr defTabSz="914400">
              <a:lnSpc>
                <a:spcPct val="130000"/>
              </a:lnSpc>
              <a:tabLst>
                <a:tab pos="0" algn="l"/>
              </a:tabLst>
            </a:pPr>
            <a:r>
              <a:rPr lang="en-US" sz="1080" b="0" u="none" strike="noStrike">
                <a:solidFill>
                  <a:srgbClr val="FFFFFF"/>
                </a:solidFill>
                <a:effectLst/>
                <a:uFillTx/>
                <a:latin typeface="Consolas"/>
                <a:ea typeface="Consolas"/>
              </a:rPr>
              <a:t>Couvert (2j): 2O,0N → H=0</a:t>
            </a:r>
            <a:endParaRPr lang="fr-FR" sz="1080" b="0" u="none" strike="noStrike">
              <a:solidFill>
                <a:srgbClr val="000000"/>
              </a:solidFill>
              <a:effectLst/>
              <a:uFillTx/>
              <a:latin typeface="Arial"/>
            </a:endParaRPr>
          </a:p>
          <a:p>
            <a:pPr defTabSz="914400">
              <a:lnSpc>
                <a:spcPct val="130000"/>
              </a:lnSpc>
              <a:tabLst>
                <a:tab pos="0" algn="l"/>
              </a:tabLst>
            </a:pPr>
            <a:r>
              <a:rPr lang="en-US" sz="1080" b="0" u="none" strike="noStrike">
                <a:solidFill>
                  <a:srgbClr val="FFFFFF"/>
                </a:solidFill>
                <a:effectLst/>
                <a:uFillTx/>
                <a:latin typeface="Consolas"/>
                <a:ea typeface="Consolas"/>
              </a:rPr>
              <a:t>Pluie (4j): 1O,3N → H≈0.811</a:t>
            </a:r>
            <a:endParaRPr lang="fr-FR" sz="1080" b="0" u="none" strike="noStrike">
              <a:solidFill>
                <a:srgbClr val="000000"/>
              </a:solidFill>
              <a:effectLst/>
              <a:uFillTx/>
              <a:latin typeface="Arial"/>
            </a:endParaRPr>
          </a:p>
          <a:p>
            <a:pPr defTabSz="914400">
              <a:lnSpc>
                <a:spcPct val="130000"/>
              </a:lnSpc>
              <a:tabLst>
                <a:tab pos="0" algn="l"/>
              </a:tabLst>
            </a:pPr>
            <a:r>
              <a:rPr lang="en-US" sz="1080" b="0" u="none" strike="noStrike">
                <a:solidFill>
                  <a:srgbClr val="FFFFFF"/>
                </a:solidFill>
                <a:effectLst/>
                <a:uFillTx/>
                <a:latin typeface="Consolas"/>
                <a:ea typeface="Consolas"/>
              </a:rPr>
              <a:t>Gain = 1−(0.4·1+0.2·0+0.4·0.811)</a:t>
            </a:r>
            <a:endParaRPr lang="fr-FR" sz="1080" b="0" u="none" strike="noStrike">
              <a:solidFill>
                <a:srgbClr val="000000"/>
              </a:solidFill>
              <a:effectLst/>
              <a:uFillTx/>
              <a:latin typeface="Arial"/>
            </a:endParaRPr>
          </a:p>
          <a:p>
            <a:pPr defTabSz="914400">
              <a:lnSpc>
                <a:spcPct val="130000"/>
              </a:lnSpc>
              <a:tabLst>
                <a:tab pos="0" algn="l"/>
              </a:tabLst>
            </a:pPr>
            <a:r>
              <a:rPr lang="en-US" sz="1080" b="0" u="none" strike="noStrike">
                <a:solidFill>
                  <a:srgbClr val="FFFFFF"/>
                </a:solidFill>
                <a:effectLst/>
                <a:uFillTx/>
                <a:latin typeface="Consolas"/>
                <a:ea typeface="Consolas"/>
              </a:rPr>
              <a:t>     = 1 − 0.7244 = 0.2756 bit</a:t>
            </a:r>
            <a:endParaRPr lang="fr-FR" sz="1080" b="0" u="none" strike="noStrike">
              <a:solidFill>
                <a:srgbClr val="000000"/>
              </a:solidFill>
              <a:effectLst/>
              <a:uFillTx/>
              <a:latin typeface="Arial"/>
            </a:endParaRPr>
          </a:p>
        </p:txBody>
      </p:sp>
      <p:sp>
        <p:nvSpPr>
          <p:cNvPr id="187" name="Text 8"/>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13</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8"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9H30 – 10H15 · LE GAIN D'INFORMATION</a:t>
            </a:r>
            <a:endParaRPr lang="fr-FR" sz="1200" b="0" u="none" strike="noStrike">
              <a:solidFill>
                <a:srgbClr val="000000"/>
              </a:solidFill>
              <a:effectLst/>
              <a:uFillTx/>
              <a:latin typeface="Arial"/>
            </a:endParaRPr>
          </a:p>
        </p:txBody>
      </p:sp>
      <p:sp>
        <p:nvSpPr>
          <p:cNvPr id="189"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Gain pour Humidité et Vent — conclusion</a:t>
            </a:r>
            <a:endParaRPr lang="fr-FR" sz="3000" b="0" u="none" strike="noStrike">
              <a:solidFill>
                <a:srgbClr val="000000"/>
              </a:solidFill>
              <a:effectLst/>
              <a:uFillTx/>
              <a:latin typeface="Arial"/>
            </a:endParaRPr>
          </a:p>
        </p:txBody>
      </p:sp>
      <p:sp>
        <p:nvSpPr>
          <p:cNvPr id="190" name="Shape 2"/>
          <p:cNvSpPr/>
          <p:nvPr/>
        </p:nvSpPr>
        <p:spPr>
          <a:xfrm>
            <a:off x="548640" y="1463040"/>
            <a:ext cx="5394600" cy="2377080"/>
          </a:xfrm>
          <a:prstGeom prst="roundRect">
            <a:avLst>
              <a:gd name="adj" fmla="val 3077"/>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1" name="Text 3"/>
          <p:cNvSpPr/>
          <p:nvPr/>
        </p:nvSpPr>
        <p:spPr>
          <a:xfrm>
            <a:off x="777240" y="1627560"/>
            <a:ext cx="45716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1E2761"/>
                </a:solidFill>
                <a:effectLst/>
                <a:uFillTx/>
                <a:latin typeface="Calibri"/>
                <a:ea typeface="Calibri"/>
              </a:rPr>
              <a:t>ÉTAPE 3 — Humidité</a:t>
            </a:r>
            <a:endParaRPr lang="fr-FR" sz="1200" b="0" u="none" strike="noStrike">
              <a:solidFill>
                <a:srgbClr val="000000"/>
              </a:solidFill>
              <a:effectLst/>
              <a:uFillTx/>
              <a:latin typeface="Arial"/>
            </a:endParaRPr>
          </a:p>
        </p:txBody>
      </p:sp>
      <p:sp>
        <p:nvSpPr>
          <p:cNvPr id="192" name="Text 4"/>
          <p:cNvSpPr/>
          <p:nvPr/>
        </p:nvSpPr>
        <p:spPr>
          <a:xfrm>
            <a:off x="777240" y="1965960"/>
            <a:ext cx="4937400" cy="1737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35000"/>
              </a:lnSpc>
              <a:tabLst>
                <a:tab pos="0" algn="l"/>
              </a:tabLst>
            </a:pPr>
            <a:r>
              <a:rPr lang="en-US" sz="1150" b="0" u="none" strike="noStrike">
                <a:solidFill>
                  <a:srgbClr val="1B1F3B"/>
                </a:solidFill>
                <a:effectLst/>
                <a:uFillTx/>
                <a:latin typeface="Consolas"/>
                <a:ea typeface="Consolas"/>
              </a:rPr>
              <a:t>Forte (5j): 2O,3N → H=0.971</a:t>
            </a:r>
            <a:endParaRPr lang="fr-FR" sz="1150" b="0" u="none" strike="noStrike">
              <a:solidFill>
                <a:srgbClr val="000000"/>
              </a:solidFill>
              <a:effectLst/>
              <a:uFillTx/>
              <a:latin typeface="Arial"/>
            </a:endParaRPr>
          </a:p>
          <a:p>
            <a:pPr defTabSz="914400">
              <a:lnSpc>
                <a:spcPct val="135000"/>
              </a:lnSpc>
              <a:tabLst>
                <a:tab pos="0" algn="l"/>
              </a:tabLst>
            </a:pPr>
            <a:r>
              <a:rPr lang="en-US" sz="1150" b="0" u="none" strike="noStrike">
                <a:solidFill>
                  <a:srgbClr val="1B1F3B"/>
                </a:solidFill>
                <a:effectLst/>
                <a:uFillTx/>
                <a:latin typeface="Consolas"/>
                <a:ea typeface="Consolas"/>
              </a:rPr>
              <a:t>Faible (5j): 3O,2N → H=0.971</a:t>
            </a:r>
            <a:endParaRPr lang="fr-FR" sz="1150" b="0" u="none" strike="noStrike">
              <a:solidFill>
                <a:srgbClr val="000000"/>
              </a:solidFill>
              <a:effectLst/>
              <a:uFillTx/>
              <a:latin typeface="Arial"/>
            </a:endParaRPr>
          </a:p>
          <a:p>
            <a:pPr defTabSz="914400">
              <a:lnSpc>
                <a:spcPct val="135000"/>
              </a:lnSpc>
              <a:tabLst>
                <a:tab pos="0" algn="l"/>
              </a:tabLst>
            </a:pPr>
            <a:endParaRPr lang="fr-FR" sz="1150" b="0" u="none" strike="noStrike">
              <a:solidFill>
                <a:srgbClr val="000000"/>
              </a:solidFill>
              <a:effectLst/>
              <a:uFillTx/>
              <a:latin typeface="Arial"/>
            </a:endParaRPr>
          </a:p>
          <a:p>
            <a:pPr defTabSz="914400">
              <a:lnSpc>
                <a:spcPct val="135000"/>
              </a:lnSpc>
              <a:tabLst>
                <a:tab pos="0" algn="l"/>
              </a:tabLst>
            </a:pPr>
            <a:r>
              <a:rPr lang="en-US" sz="1150" b="0" u="none" strike="noStrike">
                <a:solidFill>
                  <a:srgbClr val="1B1F3B"/>
                </a:solidFill>
                <a:effectLst/>
                <a:uFillTx/>
                <a:latin typeface="Consolas"/>
                <a:ea typeface="Consolas"/>
              </a:rPr>
              <a:t>Gain(Humidité) = 1 − 0.971 = 0.029 bit</a:t>
            </a:r>
            <a:endParaRPr lang="fr-FR" sz="1150" b="0" u="none" strike="noStrike">
              <a:solidFill>
                <a:srgbClr val="000000"/>
              </a:solidFill>
              <a:effectLst/>
              <a:uFillTx/>
              <a:latin typeface="Arial"/>
            </a:endParaRPr>
          </a:p>
        </p:txBody>
      </p:sp>
      <p:sp>
        <p:nvSpPr>
          <p:cNvPr id="193" name="Shape 5"/>
          <p:cNvSpPr/>
          <p:nvPr/>
        </p:nvSpPr>
        <p:spPr>
          <a:xfrm>
            <a:off x="6172200" y="1463040"/>
            <a:ext cx="5440320" cy="2377080"/>
          </a:xfrm>
          <a:prstGeom prst="roundRect">
            <a:avLst>
              <a:gd name="adj" fmla="val 3077"/>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4" name="Text 6"/>
          <p:cNvSpPr/>
          <p:nvPr/>
        </p:nvSpPr>
        <p:spPr>
          <a:xfrm>
            <a:off x="6400800" y="1627560"/>
            <a:ext cx="45716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1E2761"/>
                </a:solidFill>
                <a:effectLst/>
                <a:uFillTx/>
                <a:latin typeface="Calibri"/>
                <a:ea typeface="Calibri"/>
              </a:rPr>
              <a:t>ÉTAPE 4 — Vent</a:t>
            </a:r>
            <a:endParaRPr lang="fr-FR" sz="1200" b="0" u="none" strike="noStrike">
              <a:solidFill>
                <a:srgbClr val="000000"/>
              </a:solidFill>
              <a:effectLst/>
              <a:uFillTx/>
              <a:latin typeface="Arial"/>
            </a:endParaRPr>
          </a:p>
        </p:txBody>
      </p:sp>
      <p:sp>
        <p:nvSpPr>
          <p:cNvPr id="195" name="Text 7"/>
          <p:cNvSpPr/>
          <p:nvPr/>
        </p:nvSpPr>
        <p:spPr>
          <a:xfrm>
            <a:off x="6400800" y="1965960"/>
            <a:ext cx="4937400" cy="1737000"/>
          </a:xfrm>
          <a:prstGeom prst="rect">
            <a:avLst/>
          </a:prstGeom>
          <a:noFill/>
          <a:ln w="0">
            <a:noFill/>
          </a:ln>
        </p:spPr>
        <p:style>
          <a:lnRef idx="0"/>
          <a:fillRef idx="0"/>
          <a:effectRef idx="0"/>
          <a:fontRef idx="minor"/>
        </p:style>
        <p:txBody>
          <a:bodyPr lIns="90000" tIns="45000" rIns="90000" bIns="45000" anchor="ctr">
            <a:noAutofit/>
          </a:bodyPr>
          <a:p>
            <a:pPr defTabSz="914400">
              <a:lnSpc>
                <a:spcPct val="135000"/>
              </a:lnSpc>
              <a:tabLst>
                <a:tab pos="0" algn="l"/>
              </a:tabLst>
            </a:pPr>
            <a:r>
              <a:rPr lang="en-US" sz="1150" b="0" u="none" strike="noStrike">
                <a:solidFill>
                  <a:srgbClr val="1B1F3B"/>
                </a:solidFill>
                <a:effectLst/>
                <a:uFillTx/>
                <a:latin typeface="Consolas"/>
                <a:ea typeface="Consolas"/>
              </a:rPr>
              <a:t>Faible (5j): 3O,2N → H=0.971</a:t>
            </a:r>
            <a:endParaRPr lang="fr-FR" sz="1150" b="0" u="none" strike="noStrike">
              <a:solidFill>
                <a:srgbClr val="000000"/>
              </a:solidFill>
              <a:effectLst/>
              <a:uFillTx/>
              <a:latin typeface="Arial"/>
            </a:endParaRPr>
          </a:p>
          <a:p>
            <a:pPr defTabSz="914400">
              <a:lnSpc>
                <a:spcPct val="135000"/>
              </a:lnSpc>
              <a:tabLst>
                <a:tab pos="0" algn="l"/>
              </a:tabLst>
            </a:pPr>
            <a:r>
              <a:rPr lang="en-US" sz="1150" b="0" u="none" strike="noStrike">
                <a:solidFill>
                  <a:srgbClr val="1B1F3B"/>
                </a:solidFill>
                <a:effectLst/>
                <a:uFillTx/>
                <a:latin typeface="Consolas"/>
                <a:ea typeface="Consolas"/>
              </a:rPr>
              <a:t>Fort (5j): 2O,3N → H=0.971</a:t>
            </a:r>
            <a:endParaRPr lang="fr-FR" sz="1150" b="0" u="none" strike="noStrike">
              <a:solidFill>
                <a:srgbClr val="000000"/>
              </a:solidFill>
              <a:effectLst/>
              <a:uFillTx/>
              <a:latin typeface="Arial"/>
            </a:endParaRPr>
          </a:p>
          <a:p>
            <a:pPr defTabSz="914400">
              <a:lnSpc>
                <a:spcPct val="135000"/>
              </a:lnSpc>
              <a:tabLst>
                <a:tab pos="0" algn="l"/>
              </a:tabLst>
            </a:pPr>
            <a:endParaRPr lang="fr-FR" sz="1150" b="0" u="none" strike="noStrike">
              <a:solidFill>
                <a:srgbClr val="000000"/>
              </a:solidFill>
              <a:effectLst/>
              <a:uFillTx/>
              <a:latin typeface="Arial"/>
            </a:endParaRPr>
          </a:p>
          <a:p>
            <a:pPr defTabSz="914400">
              <a:lnSpc>
                <a:spcPct val="135000"/>
              </a:lnSpc>
              <a:tabLst>
                <a:tab pos="0" algn="l"/>
              </a:tabLst>
            </a:pPr>
            <a:r>
              <a:rPr lang="en-US" sz="1150" b="0" u="none" strike="noStrike">
                <a:solidFill>
                  <a:srgbClr val="1B1F3B"/>
                </a:solidFill>
                <a:effectLst/>
                <a:uFillTx/>
                <a:latin typeface="Consolas"/>
                <a:ea typeface="Consolas"/>
              </a:rPr>
              <a:t>Gain(Vent) = 1 − 0.971 = 0.029 bit</a:t>
            </a:r>
            <a:endParaRPr lang="fr-FR" sz="1150" b="0" u="none" strike="noStrike">
              <a:solidFill>
                <a:srgbClr val="000000"/>
              </a:solidFill>
              <a:effectLst/>
              <a:uFillTx/>
              <a:latin typeface="Arial"/>
            </a:endParaRPr>
          </a:p>
        </p:txBody>
      </p:sp>
      <p:sp>
        <p:nvSpPr>
          <p:cNvPr id="196" name="Shape 8"/>
          <p:cNvSpPr/>
          <p:nvPr/>
        </p:nvSpPr>
        <p:spPr>
          <a:xfrm>
            <a:off x="548640" y="4023360"/>
            <a:ext cx="11063880" cy="1051200"/>
          </a:xfrm>
          <a:prstGeom prst="roundRect">
            <a:avLst>
              <a:gd name="adj" fmla="val 6957"/>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197" name="Text 9"/>
          <p:cNvSpPr/>
          <p:nvPr/>
        </p:nvSpPr>
        <p:spPr>
          <a:xfrm>
            <a:off x="822960" y="4023360"/>
            <a:ext cx="10515240" cy="10512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1B1F3B"/>
                </a:solidFill>
                <a:effectLst/>
                <a:uFillTx/>
                <a:latin typeface="Calibri"/>
                <a:ea typeface="Calibri"/>
              </a:rPr>
              <a:t>Conclusion : </a:t>
            </a:r>
            <a:r>
              <a:rPr lang="en-US" sz="1400" b="0" u="none" strike="noStrike">
                <a:solidFill>
                  <a:srgbClr val="1B1F3B"/>
                </a:solidFill>
                <a:effectLst/>
                <a:uFillTx/>
                <a:latin typeface="Calibri"/>
                <a:ea typeface="Calibri"/>
              </a:rPr>
              <a:t>Le gain le plus élevé est pour Temps (0.2756 bit). C'est donc la première question que l'arbre posera.</a:t>
            </a:r>
            <a:endParaRPr lang="fr-FR" sz="1400" b="0" u="none" strike="noStrike">
              <a:solidFill>
                <a:srgbClr val="000000"/>
              </a:solidFill>
              <a:effectLst/>
              <a:uFillTx/>
              <a:latin typeface="Arial"/>
            </a:endParaRPr>
          </a:p>
        </p:txBody>
      </p:sp>
      <p:pic>
        <p:nvPicPr>
          <p:cNvPr id="198" name="Image 0" descr="images/gain_bars.png"/>
          <p:cNvPicPr/>
          <p:nvPr/>
        </p:nvPicPr>
        <p:blipFill>
          <a:blip r:embed="rId1"/>
          <a:stretch/>
        </p:blipFill>
        <p:spPr>
          <a:xfrm>
            <a:off x="2103120" y="5212080"/>
            <a:ext cx="7954920" cy="1416960"/>
          </a:xfrm>
          <a:prstGeom prst="rect">
            <a:avLst/>
          </a:prstGeom>
          <a:noFill/>
          <a:ln w="0">
            <a:noFill/>
          </a:ln>
        </p:spPr>
      </p:pic>
      <p:sp>
        <p:nvSpPr>
          <p:cNvPr id="199" name="Text 10"/>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14</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0"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9H30 – 10H15 · LE GAIN D'INFORMATION</a:t>
            </a:r>
            <a:endParaRPr lang="fr-FR" sz="1200" b="0" u="none" strike="noStrike">
              <a:solidFill>
                <a:srgbClr val="000000"/>
              </a:solidFill>
              <a:effectLst/>
              <a:uFillTx/>
              <a:latin typeface="Arial"/>
            </a:endParaRPr>
          </a:p>
        </p:txBody>
      </p:sp>
      <p:sp>
        <p:nvSpPr>
          <p:cNvPr id="201"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Exercice 2 (moyen) — Calculer un gain d'information</a:t>
            </a:r>
            <a:endParaRPr lang="fr-FR" sz="3000" b="0" u="none" strike="noStrike">
              <a:solidFill>
                <a:srgbClr val="000000"/>
              </a:solidFill>
              <a:effectLst/>
              <a:uFillTx/>
              <a:latin typeface="Arial"/>
            </a:endParaRPr>
          </a:p>
        </p:txBody>
      </p:sp>
      <p:sp>
        <p:nvSpPr>
          <p:cNvPr id="202" name="Shape 2"/>
          <p:cNvSpPr/>
          <p:nvPr/>
        </p:nvSpPr>
        <p:spPr>
          <a:xfrm>
            <a:off x="548640" y="1417320"/>
            <a:ext cx="11063880" cy="776880"/>
          </a:xfrm>
          <a:prstGeom prst="roundRect">
            <a:avLst>
              <a:gd name="adj" fmla="val 9412"/>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03" name="Text 3"/>
          <p:cNvSpPr/>
          <p:nvPr/>
        </p:nvSpPr>
        <p:spPr>
          <a:xfrm>
            <a:off x="822960" y="1417320"/>
            <a:ext cx="10515240" cy="7768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1B1F3B"/>
                </a:solidFill>
                <a:effectLst/>
                <a:uFillTx/>
                <a:latin typeface="Calibri"/>
                <a:ea typeface="Calibri"/>
              </a:rPr>
              <a:t>Énoncé : </a:t>
            </a:r>
            <a:r>
              <a:rPr lang="en-US" sz="1250" b="0" u="none" strike="noStrike">
                <a:solidFill>
                  <a:srgbClr val="1B1F3B"/>
                </a:solidFill>
                <a:effectLst/>
                <a:uFillTx/>
                <a:latin typeface="Calibri"/>
                <a:ea typeface="Calibri"/>
              </a:rPr>
              <a:t>Reprenons le dataset météo. Calculez le gain d'information pour « Temps » avec seulement les 6 premiers jours (indices 1 à 6).</a:t>
            </a:r>
            <a:endParaRPr lang="fr-FR" sz="1250" b="0" u="none" strike="noStrike">
              <a:solidFill>
                <a:srgbClr val="000000"/>
              </a:solidFill>
              <a:effectLst/>
              <a:uFillTx/>
              <a:latin typeface="Arial"/>
            </a:endParaRPr>
          </a:p>
        </p:txBody>
      </p:sp>
      <p:graphicFrame>
        <p:nvGraphicFramePr>
          <p:cNvPr id="204" name="Table 0"/>
          <p:cNvGraphicFramePr/>
          <p:nvPr/>
        </p:nvGraphicFramePr>
        <p:xfrm>
          <a:off x="548640" y="2331720"/>
          <a:ext cx="5120280" cy="2651400"/>
        </p:xfrm>
        <a:graphic>
          <a:graphicData uri="http://schemas.openxmlformats.org/drawingml/2006/table">
            <a:tbl>
              <a:tblPr/>
              <a:tblGrid>
                <a:gridCol w="548640"/>
                <a:gridCol w="1188720"/>
                <a:gridCol w="1280160"/>
                <a:gridCol w="1097280"/>
                <a:gridCol w="1005840"/>
              </a:tblGrid>
              <a:tr h="378720">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Jour</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Temps</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Humidité</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Vent</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00" b="1" u="none" strike="noStrike">
                          <a:solidFill>
                            <a:srgbClr val="FFFFFF"/>
                          </a:solidFill>
                          <a:effectLst/>
                          <a:uFillTx/>
                          <a:latin typeface="Calibri"/>
                          <a:ea typeface="Calibri"/>
                        </a:rPr>
                        <a:t>Jouer</a:t>
                      </a:r>
                      <a:endParaRPr lang="fr-FR" sz="1100" b="0" u="none" strike="noStrike">
                        <a:solidFill>
                          <a:srgbClr val="FFFFFF"/>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1E2761"/>
                    </a:solidFill>
                  </a:tcPr>
                </a:tc>
              </a:tr>
              <a:tr h="37872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1</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Soleil</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r>
              <a:tr h="37872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2</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Soleil</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r>
              <a:tr h="37872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3</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Couvert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1" u="none" strike="noStrike">
                          <a:solidFill>
                            <a:srgbClr val="27AE60"/>
                          </a:solidFill>
                          <a:effectLst/>
                          <a:uFillTx/>
                          <a:latin typeface="Calibri"/>
                          <a:ea typeface="Calibri"/>
                        </a:rPr>
                        <a:t>Oui</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r>
              <a:tr h="37872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4</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Pluie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27AE60"/>
                          </a:solidFill>
                          <a:effectLst/>
                          <a:uFillTx/>
                          <a:latin typeface="Calibri"/>
                          <a:ea typeface="Calibri"/>
                        </a:rPr>
                        <a:t>Oui</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r>
              <a:tr h="37872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5</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Pluie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Faible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4F5F9"/>
                    </a:solidFill>
                  </a:tcPr>
                </a:tc>
              </a:tr>
              <a:tr h="378720">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6</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Pluie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Forte</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0" u="none" strike="noStrike">
                          <a:solidFill>
                            <a:srgbClr val="1B1F3B"/>
                          </a:solidFill>
                          <a:effectLst/>
                          <a:uFillTx/>
                          <a:latin typeface="Calibri"/>
                          <a:ea typeface="Calibri"/>
                        </a:rPr>
                        <a:t>Fort</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c>
                  <a:txBody>
                    <a:bodyPr anchor="ctr">
                      <a:noAutofit/>
                    </a:bodyPr>
                    <a:p>
                      <a:pPr defTabSz="914400">
                        <a:lnSpc>
                          <a:spcPct val="100000"/>
                        </a:lnSpc>
                        <a:tabLst>
                          <a:tab pos="0" algn="l"/>
                        </a:tabLst>
                      </a:pPr>
                      <a:r>
                        <a:rPr lang="en-US" sz="1100" b="1" u="none" strike="noStrike">
                          <a:solidFill>
                            <a:srgbClr val="E74C3C"/>
                          </a:solidFill>
                          <a:effectLst/>
                          <a:uFillTx/>
                          <a:latin typeface="Calibri"/>
                          <a:ea typeface="Calibri"/>
                        </a:rPr>
                        <a:t>Non</a:t>
                      </a:r>
                      <a:endParaRPr lang="fr-FR" sz="1100" b="0" u="none" strike="noStrike">
                        <a:solidFill>
                          <a:srgbClr val="000000"/>
                        </a:solidFill>
                        <a:effectLst/>
                        <a:uFillTx/>
                        <a:latin typeface="Arial"/>
                      </a:endParaRPr>
                    </a:p>
                  </a:txBody>
                  <a:tcPr anchor="ctr" marL="91440" marR="91440" marT="45720" marB="45720">
                    <a:lnL w="9360">
                      <a:solidFill>
                        <a:srgbClr val="E4E6F0"/>
                      </a:solidFill>
                      <a:prstDash val="solid"/>
                    </a:lnL>
                    <a:lnR w="9360">
                      <a:solidFill>
                        <a:srgbClr val="E4E6F0"/>
                      </a:solidFill>
                      <a:prstDash val="solid"/>
                    </a:lnR>
                    <a:lnT w="9360">
                      <a:solidFill>
                        <a:srgbClr val="E4E6F0"/>
                      </a:solidFill>
                      <a:prstDash val="solid"/>
                    </a:lnT>
                    <a:lnB w="9360">
                      <a:solidFill>
                        <a:srgbClr val="E4E6F0"/>
                      </a:solidFill>
                      <a:prstDash val="solid"/>
                    </a:lnB>
                    <a:solidFill>
                      <a:srgbClr val="FFFFFF"/>
                    </a:solidFill>
                  </a:tcPr>
                </a:tc>
              </a:tr>
            </a:tbl>
          </a:graphicData>
        </a:graphic>
      </p:graphicFrame>
      <p:sp>
        <p:nvSpPr>
          <p:cNvPr id="205" name="Text 4"/>
          <p:cNvSpPr/>
          <p:nvPr/>
        </p:nvSpPr>
        <p:spPr>
          <a:xfrm>
            <a:off x="5943600" y="2331720"/>
            <a:ext cx="56689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1E2761"/>
                </a:solidFill>
                <a:effectLst/>
                <a:uFillTx/>
                <a:latin typeface="Calibri"/>
                <a:ea typeface="Calibri"/>
              </a:rPr>
              <a:t>CORRECTION DÉTAILLÉE</a:t>
            </a:r>
            <a:endParaRPr lang="fr-FR" sz="1200" b="0" u="none" strike="noStrike">
              <a:solidFill>
                <a:srgbClr val="000000"/>
              </a:solidFill>
              <a:effectLst/>
              <a:uFillTx/>
              <a:latin typeface="Arial"/>
            </a:endParaRPr>
          </a:p>
        </p:txBody>
      </p:sp>
      <p:sp>
        <p:nvSpPr>
          <p:cNvPr id="206" name="Text 5"/>
          <p:cNvSpPr/>
          <p:nvPr/>
        </p:nvSpPr>
        <p:spPr>
          <a:xfrm>
            <a:off x="5943600" y="2651760"/>
            <a:ext cx="5760360" cy="237708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150" b="0" u="none" strike="noStrike">
                <a:solidFill>
                  <a:srgbClr val="1B1F3B"/>
                </a:solidFill>
                <a:effectLst/>
                <a:uFillTx/>
                <a:latin typeface="Consolas"/>
                <a:ea typeface="Consolas"/>
              </a:rPr>
              <a:t>Total 6 jours : 2 Oui, 4 Non → H(S) = 0.918 bit</a:t>
            </a:r>
            <a:endParaRPr lang="fr-FR" sz="1150" b="0" u="none" strike="noStrike">
              <a:solidFill>
                <a:srgbClr val="000000"/>
              </a:solidFill>
              <a:effectLst/>
              <a:uFillTx/>
              <a:latin typeface="Arial"/>
            </a:endParaRPr>
          </a:p>
          <a:p>
            <a:pPr defTabSz="914400">
              <a:lnSpc>
                <a:spcPct val="130000"/>
              </a:lnSpc>
              <a:tabLst>
                <a:tab pos="0" algn="l"/>
              </a:tabLst>
            </a:pPr>
            <a:r>
              <a:rPr lang="en-US" sz="1150" b="0" u="none" strike="noStrike">
                <a:solidFill>
                  <a:srgbClr val="1B1F3B"/>
                </a:solidFill>
                <a:effectLst/>
                <a:uFillTx/>
                <a:latin typeface="Consolas"/>
                <a:ea typeface="Consolas"/>
              </a:rPr>
              <a:t>Temps : Soleil(2), Couvert(1), Pluie(3)</a:t>
            </a:r>
            <a:endParaRPr lang="fr-FR" sz="1150" b="0" u="none" strike="noStrike">
              <a:solidFill>
                <a:srgbClr val="000000"/>
              </a:solidFill>
              <a:effectLst/>
              <a:uFillTx/>
              <a:latin typeface="Arial"/>
            </a:endParaRPr>
          </a:p>
          <a:p>
            <a:pPr defTabSz="914400">
              <a:lnSpc>
                <a:spcPct val="130000"/>
              </a:lnSpc>
              <a:tabLst>
                <a:tab pos="0" algn="l"/>
              </a:tabLst>
            </a:pPr>
            <a:r>
              <a:rPr lang="en-US" sz="1150" b="0" u="none" strike="noStrike">
                <a:solidFill>
                  <a:srgbClr val="1B1F3B"/>
                </a:solidFill>
                <a:effectLst/>
                <a:uFillTx/>
                <a:latin typeface="Consolas"/>
                <a:ea typeface="Consolas"/>
              </a:rPr>
              <a:t> · Soleil: 0O,2N → H=0</a:t>
            </a:r>
            <a:endParaRPr lang="fr-FR" sz="1150" b="0" u="none" strike="noStrike">
              <a:solidFill>
                <a:srgbClr val="000000"/>
              </a:solidFill>
              <a:effectLst/>
              <a:uFillTx/>
              <a:latin typeface="Arial"/>
            </a:endParaRPr>
          </a:p>
          <a:p>
            <a:pPr defTabSz="914400">
              <a:lnSpc>
                <a:spcPct val="130000"/>
              </a:lnSpc>
              <a:tabLst>
                <a:tab pos="0" algn="l"/>
              </a:tabLst>
            </a:pPr>
            <a:r>
              <a:rPr lang="en-US" sz="1150" b="0" u="none" strike="noStrike">
                <a:solidFill>
                  <a:srgbClr val="1B1F3B"/>
                </a:solidFill>
                <a:effectLst/>
                <a:uFillTx/>
                <a:latin typeface="Consolas"/>
                <a:ea typeface="Consolas"/>
              </a:rPr>
              <a:t> · Couvert: 1O,0N → H=0</a:t>
            </a:r>
            <a:endParaRPr lang="fr-FR" sz="1150" b="0" u="none" strike="noStrike">
              <a:solidFill>
                <a:srgbClr val="000000"/>
              </a:solidFill>
              <a:effectLst/>
              <a:uFillTx/>
              <a:latin typeface="Arial"/>
            </a:endParaRPr>
          </a:p>
          <a:p>
            <a:pPr defTabSz="914400">
              <a:lnSpc>
                <a:spcPct val="130000"/>
              </a:lnSpc>
              <a:tabLst>
                <a:tab pos="0" algn="l"/>
              </a:tabLst>
            </a:pPr>
            <a:r>
              <a:rPr lang="en-US" sz="1150" b="0" u="none" strike="noStrike">
                <a:solidFill>
                  <a:srgbClr val="1B1F3B"/>
                </a:solidFill>
                <a:effectLst/>
                <a:uFillTx/>
                <a:latin typeface="Consolas"/>
                <a:ea typeface="Consolas"/>
              </a:rPr>
              <a:t> · Pluie: 1O,2N → H=0.918</a:t>
            </a:r>
            <a:endParaRPr lang="fr-FR" sz="1150" b="0" u="none" strike="noStrike">
              <a:solidFill>
                <a:srgbClr val="000000"/>
              </a:solidFill>
              <a:effectLst/>
              <a:uFillTx/>
              <a:latin typeface="Arial"/>
            </a:endParaRPr>
          </a:p>
          <a:p>
            <a:pPr defTabSz="914400">
              <a:lnSpc>
                <a:spcPct val="130000"/>
              </a:lnSpc>
              <a:tabLst>
                <a:tab pos="0" algn="l"/>
              </a:tabLst>
            </a:pPr>
            <a:r>
              <a:rPr lang="en-US" sz="1150" b="0" u="none" strike="noStrike">
                <a:solidFill>
                  <a:srgbClr val="1B1F3B"/>
                </a:solidFill>
                <a:effectLst/>
                <a:uFillTx/>
                <a:latin typeface="Consolas"/>
                <a:ea typeface="Consolas"/>
              </a:rPr>
              <a:t>Pondération = (2/6)·0+(1/6)·0+(3/6)·0.918 = 0.459</a:t>
            </a:r>
            <a:endParaRPr lang="fr-FR" sz="1150" b="0" u="none" strike="noStrike">
              <a:solidFill>
                <a:srgbClr val="000000"/>
              </a:solidFill>
              <a:effectLst/>
              <a:uFillTx/>
              <a:latin typeface="Arial"/>
            </a:endParaRPr>
          </a:p>
          <a:p>
            <a:pPr defTabSz="914400">
              <a:lnSpc>
                <a:spcPct val="130000"/>
              </a:lnSpc>
              <a:tabLst>
                <a:tab pos="0" algn="l"/>
              </a:tabLst>
            </a:pPr>
            <a:r>
              <a:rPr lang="en-US" sz="1150" b="0" u="none" strike="noStrike">
                <a:solidFill>
                  <a:srgbClr val="1B1F3B"/>
                </a:solidFill>
                <a:effectLst/>
                <a:uFillTx/>
                <a:latin typeface="Consolas"/>
                <a:ea typeface="Consolas"/>
              </a:rPr>
              <a:t>Gain = 0.918 − 0.459 = 0.459 bit</a:t>
            </a:r>
            <a:endParaRPr lang="fr-FR" sz="1150" b="0" u="none" strike="noStrike">
              <a:solidFill>
                <a:srgbClr val="000000"/>
              </a:solidFill>
              <a:effectLst/>
              <a:uFillTx/>
              <a:latin typeface="Arial"/>
            </a:endParaRPr>
          </a:p>
        </p:txBody>
      </p:sp>
      <p:sp>
        <p:nvSpPr>
          <p:cNvPr id="207" name="Shape 6"/>
          <p:cNvSpPr/>
          <p:nvPr/>
        </p:nvSpPr>
        <p:spPr>
          <a:xfrm>
            <a:off x="548640" y="5212080"/>
            <a:ext cx="11063880" cy="1051200"/>
          </a:xfrm>
          <a:prstGeom prst="roundRect">
            <a:avLst>
              <a:gd name="adj" fmla="val 6957"/>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08" name="Text 7"/>
          <p:cNvSpPr/>
          <p:nvPr/>
        </p:nvSpPr>
        <p:spPr>
          <a:xfrm>
            <a:off x="822960" y="5212080"/>
            <a:ext cx="10515240" cy="10512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1" u="none" strike="noStrike">
                <a:solidFill>
                  <a:srgbClr val="F39C12"/>
                </a:solidFill>
                <a:effectLst/>
                <a:uFillTx/>
                <a:latin typeface="Cambria"/>
                <a:ea typeface="Cambria"/>
              </a:rPr>
              <a:t>Gain(Temps, 6 premiers jours) = 0.459 bit</a:t>
            </a:r>
            <a:endParaRPr lang="fr-FR" sz="2000" b="0" u="none" strike="noStrike">
              <a:solidFill>
                <a:srgbClr val="000000"/>
              </a:solidFill>
              <a:effectLst/>
              <a:uFillTx/>
              <a:latin typeface="Arial"/>
            </a:endParaRPr>
          </a:p>
        </p:txBody>
      </p:sp>
      <p:sp>
        <p:nvSpPr>
          <p:cNvPr id="209" name="Text 8"/>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15</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0"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10H15 – 11H00 · ARBRES DE DÉCISION</a:t>
            </a:r>
            <a:endParaRPr lang="fr-FR" sz="1200" b="0" u="none" strike="noStrike">
              <a:solidFill>
                <a:srgbClr val="000000"/>
              </a:solidFill>
              <a:effectLst/>
              <a:uFillTx/>
              <a:latin typeface="Arial"/>
            </a:endParaRPr>
          </a:p>
        </p:txBody>
      </p:sp>
      <p:sp>
        <p:nvSpPr>
          <p:cNvPr id="211"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Construction pas à pas d'un arbre</a:t>
            </a:r>
            <a:endParaRPr lang="fr-FR" sz="3000" b="0" u="none" strike="noStrike">
              <a:solidFill>
                <a:srgbClr val="000000"/>
              </a:solidFill>
              <a:effectLst/>
              <a:uFillTx/>
              <a:latin typeface="Arial"/>
            </a:endParaRPr>
          </a:p>
        </p:txBody>
      </p:sp>
      <p:sp>
        <p:nvSpPr>
          <p:cNvPr id="212" name="Text 2"/>
          <p:cNvSpPr/>
          <p:nvPr/>
        </p:nvSpPr>
        <p:spPr>
          <a:xfrm>
            <a:off x="548640" y="1417320"/>
            <a:ext cx="6309000" cy="63972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250" b="0" u="none" strike="noStrike">
                <a:solidFill>
                  <a:srgbClr val="1B1F3B"/>
                </a:solidFill>
                <a:effectLst/>
                <a:uFillTx/>
                <a:latin typeface="Calibri"/>
                <a:ea typeface="Calibri"/>
              </a:rPr>
              <a:t>Un arbre de décision est une suite de questions (tests sur les caractéristiques) qui aboutit à une décision (classe). Il se construit de manière récursive :</a:t>
            </a:r>
            <a:endParaRPr lang="fr-FR" sz="1250" b="0" u="none" strike="noStrike">
              <a:solidFill>
                <a:srgbClr val="000000"/>
              </a:solidFill>
              <a:effectLst/>
              <a:uFillTx/>
              <a:latin typeface="Arial"/>
            </a:endParaRPr>
          </a:p>
        </p:txBody>
      </p:sp>
      <p:sp>
        <p:nvSpPr>
          <p:cNvPr id="213" name="Shape 3"/>
          <p:cNvSpPr/>
          <p:nvPr/>
        </p:nvSpPr>
        <p:spPr>
          <a:xfrm>
            <a:off x="548640" y="214884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14" name="Text 4"/>
          <p:cNvSpPr/>
          <p:nvPr/>
        </p:nvSpPr>
        <p:spPr>
          <a:xfrm>
            <a:off x="548640" y="214884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1</a:t>
            </a:r>
            <a:endParaRPr lang="fr-FR" sz="1300" b="0" u="none" strike="noStrike">
              <a:solidFill>
                <a:srgbClr val="000000"/>
              </a:solidFill>
              <a:effectLst/>
              <a:uFillTx/>
              <a:latin typeface="Arial"/>
            </a:endParaRPr>
          </a:p>
        </p:txBody>
      </p:sp>
      <p:sp>
        <p:nvSpPr>
          <p:cNvPr id="215" name="Text 5"/>
          <p:cNvSpPr/>
          <p:nvPr/>
        </p:nvSpPr>
        <p:spPr>
          <a:xfrm>
            <a:off x="1051560" y="2103120"/>
            <a:ext cx="58518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150" b="0" u="none" strike="noStrike">
                <a:solidFill>
                  <a:srgbClr val="1B1F3B"/>
                </a:solidFill>
                <a:effectLst/>
                <a:uFillTx/>
                <a:latin typeface="Calibri"/>
                <a:ea typeface="Calibri"/>
              </a:rPr>
              <a:t>Calculer l'entropie du nœud courant.</a:t>
            </a:r>
            <a:endParaRPr lang="fr-FR" sz="1150" b="0" u="none" strike="noStrike">
              <a:solidFill>
                <a:srgbClr val="000000"/>
              </a:solidFill>
              <a:effectLst/>
              <a:uFillTx/>
              <a:latin typeface="Arial"/>
            </a:endParaRPr>
          </a:p>
        </p:txBody>
      </p:sp>
      <p:sp>
        <p:nvSpPr>
          <p:cNvPr id="216" name="Shape 6"/>
          <p:cNvSpPr/>
          <p:nvPr/>
        </p:nvSpPr>
        <p:spPr>
          <a:xfrm>
            <a:off x="548640" y="292608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17" name="Text 7"/>
          <p:cNvSpPr/>
          <p:nvPr/>
        </p:nvSpPr>
        <p:spPr>
          <a:xfrm>
            <a:off x="548640" y="292608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2</a:t>
            </a:r>
            <a:endParaRPr lang="fr-FR" sz="1300" b="0" u="none" strike="noStrike">
              <a:solidFill>
                <a:srgbClr val="000000"/>
              </a:solidFill>
              <a:effectLst/>
              <a:uFillTx/>
              <a:latin typeface="Arial"/>
            </a:endParaRPr>
          </a:p>
        </p:txBody>
      </p:sp>
      <p:sp>
        <p:nvSpPr>
          <p:cNvPr id="218" name="Text 8"/>
          <p:cNvSpPr/>
          <p:nvPr/>
        </p:nvSpPr>
        <p:spPr>
          <a:xfrm>
            <a:off x="1051560" y="2880360"/>
            <a:ext cx="58518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150" b="0" u="none" strike="noStrike">
                <a:solidFill>
                  <a:srgbClr val="1B1F3B"/>
                </a:solidFill>
                <a:effectLst/>
                <a:uFillTx/>
                <a:latin typeface="Calibri"/>
                <a:ea typeface="Calibri"/>
              </a:rPr>
              <a:t>Pour chaque caractéristique disponible, calculer le gain d'information.</a:t>
            </a:r>
            <a:endParaRPr lang="fr-FR" sz="1150" b="0" u="none" strike="noStrike">
              <a:solidFill>
                <a:srgbClr val="000000"/>
              </a:solidFill>
              <a:effectLst/>
              <a:uFillTx/>
              <a:latin typeface="Arial"/>
            </a:endParaRPr>
          </a:p>
        </p:txBody>
      </p:sp>
      <p:sp>
        <p:nvSpPr>
          <p:cNvPr id="219" name="Shape 9"/>
          <p:cNvSpPr/>
          <p:nvPr/>
        </p:nvSpPr>
        <p:spPr>
          <a:xfrm>
            <a:off x="548640" y="370332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20" name="Text 10"/>
          <p:cNvSpPr/>
          <p:nvPr/>
        </p:nvSpPr>
        <p:spPr>
          <a:xfrm>
            <a:off x="548640" y="370332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3</a:t>
            </a:r>
            <a:endParaRPr lang="fr-FR" sz="1300" b="0" u="none" strike="noStrike">
              <a:solidFill>
                <a:srgbClr val="000000"/>
              </a:solidFill>
              <a:effectLst/>
              <a:uFillTx/>
              <a:latin typeface="Arial"/>
            </a:endParaRPr>
          </a:p>
        </p:txBody>
      </p:sp>
      <p:sp>
        <p:nvSpPr>
          <p:cNvPr id="221" name="Text 11"/>
          <p:cNvSpPr/>
          <p:nvPr/>
        </p:nvSpPr>
        <p:spPr>
          <a:xfrm>
            <a:off x="1051560" y="3657600"/>
            <a:ext cx="58518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150" b="0" u="none" strike="noStrike">
                <a:solidFill>
                  <a:srgbClr val="1B1F3B"/>
                </a:solidFill>
                <a:effectLst/>
                <a:uFillTx/>
                <a:latin typeface="Calibri"/>
                <a:ea typeface="Calibri"/>
              </a:rPr>
              <a:t>Choisir la caractéristique avec le gain le plus élevé, et créer une branche par valeur possible.</a:t>
            </a:r>
            <a:endParaRPr lang="fr-FR" sz="1150" b="0" u="none" strike="noStrike">
              <a:solidFill>
                <a:srgbClr val="000000"/>
              </a:solidFill>
              <a:effectLst/>
              <a:uFillTx/>
              <a:latin typeface="Arial"/>
            </a:endParaRPr>
          </a:p>
        </p:txBody>
      </p:sp>
      <p:sp>
        <p:nvSpPr>
          <p:cNvPr id="222" name="Shape 12"/>
          <p:cNvSpPr/>
          <p:nvPr/>
        </p:nvSpPr>
        <p:spPr>
          <a:xfrm>
            <a:off x="548640" y="448056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23" name="Text 13"/>
          <p:cNvSpPr/>
          <p:nvPr/>
        </p:nvSpPr>
        <p:spPr>
          <a:xfrm>
            <a:off x="548640" y="448056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4</a:t>
            </a:r>
            <a:endParaRPr lang="fr-FR" sz="1300" b="0" u="none" strike="noStrike">
              <a:solidFill>
                <a:srgbClr val="000000"/>
              </a:solidFill>
              <a:effectLst/>
              <a:uFillTx/>
              <a:latin typeface="Arial"/>
            </a:endParaRPr>
          </a:p>
        </p:txBody>
      </p:sp>
      <p:sp>
        <p:nvSpPr>
          <p:cNvPr id="224" name="Text 14"/>
          <p:cNvSpPr/>
          <p:nvPr/>
        </p:nvSpPr>
        <p:spPr>
          <a:xfrm>
            <a:off x="1051560" y="4434840"/>
            <a:ext cx="58518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1150" b="0" u="none" strike="noStrike">
                <a:solidFill>
                  <a:srgbClr val="1B1F3B"/>
                </a:solidFill>
                <a:effectLst/>
                <a:uFillTx/>
                <a:latin typeface="Calibri"/>
                <a:ea typeface="Calibri"/>
              </a:rPr>
              <a:t>Répéter sur chaque sous-ensemble jusqu'à ce que tous les échantillons d'un nœud appartiennent à la même classe (ou qu'il n'y ait plus de caractéristiques, ou que la profondeur maximale soit atteinte).</a:t>
            </a:r>
            <a:endParaRPr lang="fr-FR" sz="1150" b="0" u="none" strike="noStrike">
              <a:solidFill>
                <a:srgbClr val="000000"/>
              </a:solidFill>
              <a:effectLst/>
              <a:uFillTx/>
              <a:latin typeface="Arial"/>
            </a:endParaRPr>
          </a:p>
        </p:txBody>
      </p:sp>
      <p:sp>
        <p:nvSpPr>
          <p:cNvPr id="225" name="Shape 15"/>
          <p:cNvSpPr/>
          <p:nvPr/>
        </p:nvSpPr>
        <p:spPr>
          <a:xfrm>
            <a:off x="548640" y="5440680"/>
            <a:ext cx="6309000" cy="822600"/>
          </a:xfrm>
          <a:prstGeom prst="roundRect">
            <a:avLst>
              <a:gd name="adj" fmla="val 6667"/>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26" name="Text 16"/>
          <p:cNvSpPr/>
          <p:nvPr/>
        </p:nvSpPr>
        <p:spPr>
          <a:xfrm>
            <a:off x="731520" y="5440680"/>
            <a:ext cx="5943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80" b="0" i="1" u="none" strike="noStrike">
                <a:solidFill>
                  <a:srgbClr val="1B1F3B"/>
                </a:solidFill>
                <a:effectLst/>
                <a:uFillTx/>
                <a:latin typeface="Calibri"/>
                <a:ea typeface="Calibri"/>
              </a:rPr>
              <a:t>C'est l'algorithme ID3 (ou C4.5 pour des améliorations). Avec l'indice de Gini, on obtient l'algorithme CART, utilisé par scikit-learn par défaut.</a:t>
            </a:r>
            <a:endParaRPr lang="fr-FR" sz="1080" b="0" u="none" strike="noStrike">
              <a:solidFill>
                <a:srgbClr val="000000"/>
              </a:solidFill>
              <a:effectLst/>
              <a:uFillTx/>
              <a:latin typeface="Arial"/>
            </a:endParaRPr>
          </a:p>
        </p:txBody>
      </p:sp>
      <p:pic>
        <p:nvPicPr>
          <p:cNvPr id="227" name="Image 0" descr="images/decision_tree_meteo.png"/>
          <p:cNvPicPr/>
          <p:nvPr/>
        </p:nvPicPr>
        <p:blipFill>
          <a:blip r:embed="rId1"/>
          <a:stretch/>
        </p:blipFill>
        <p:spPr>
          <a:xfrm>
            <a:off x="7086600" y="1371600"/>
            <a:ext cx="4571640" cy="4891680"/>
          </a:xfrm>
          <a:prstGeom prst="rect">
            <a:avLst/>
          </a:prstGeom>
          <a:noFill/>
          <a:ln w="0">
            <a:noFill/>
          </a:ln>
        </p:spPr>
      </p:pic>
      <p:sp>
        <p:nvSpPr>
          <p:cNvPr id="228" name="Text 17"/>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16</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9"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10H15 – 11H00 · ARBRES DE DÉCISION</a:t>
            </a:r>
            <a:endParaRPr lang="fr-FR" sz="1200" b="0" u="none" strike="noStrike">
              <a:solidFill>
                <a:srgbClr val="000000"/>
              </a:solidFill>
              <a:effectLst/>
              <a:uFillTx/>
              <a:latin typeface="Arial"/>
            </a:endParaRPr>
          </a:p>
        </p:txBody>
      </p:sp>
      <p:sp>
        <p:nvSpPr>
          <p:cNvPr id="230"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Critère de Gini, frontières &amp; interprétation</a:t>
            </a:r>
            <a:endParaRPr lang="fr-FR" sz="3000" b="0" u="none" strike="noStrike">
              <a:solidFill>
                <a:srgbClr val="000000"/>
              </a:solidFill>
              <a:effectLst/>
              <a:uFillTx/>
              <a:latin typeface="Arial"/>
            </a:endParaRPr>
          </a:p>
        </p:txBody>
      </p:sp>
      <p:sp>
        <p:nvSpPr>
          <p:cNvPr id="231" name="Shape 2"/>
          <p:cNvSpPr/>
          <p:nvPr/>
        </p:nvSpPr>
        <p:spPr>
          <a:xfrm>
            <a:off x="548640" y="1417320"/>
            <a:ext cx="5486040" cy="2148480"/>
          </a:xfrm>
          <a:prstGeom prst="roundRect">
            <a:avLst>
              <a:gd name="adj" fmla="val 3404"/>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32" name="Text 3"/>
          <p:cNvSpPr/>
          <p:nvPr/>
        </p:nvSpPr>
        <p:spPr>
          <a:xfrm>
            <a:off x="777240" y="157284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CRITÈRE DE GINI (mention)</a:t>
            </a:r>
            <a:endParaRPr lang="fr-FR" sz="1150" b="0" u="none" strike="noStrike">
              <a:solidFill>
                <a:srgbClr val="000000"/>
              </a:solidFill>
              <a:effectLst/>
              <a:uFillTx/>
              <a:latin typeface="Arial"/>
            </a:endParaRPr>
          </a:p>
        </p:txBody>
      </p:sp>
      <p:sp>
        <p:nvSpPr>
          <p:cNvPr id="233" name="Text 4"/>
          <p:cNvSpPr/>
          <p:nvPr/>
        </p:nvSpPr>
        <p:spPr>
          <a:xfrm>
            <a:off x="777240" y="1874520"/>
            <a:ext cx="4937400" cy="456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700" b="1" u="none" strike="noStrike">
                <a:solidFill>
                  <a:srgbClr val="FFFFFF"/>
                </a:solidFill>
                <a:effectLst/>
                <a:uFillTx/>
                <a:latin typeface="Cambria Math"/>
                <a:ea typeface="Cambria Math"/>
              </a:rPr>
              <a:t>Gini(S) = 1 − Σ pᵢ²</a:t>
            </a:r>
            <a:endParaRPr lang="fr-FR" sz="1700" b="0" u="none" strike="noStrike">
              <a:solidFill>
                <a:srgbClr val="000000"/>
              </a:solidFill>
              <a:effectLst/>
              <a:uFillTx/>
              <a:latin typeface="Arial"/>
            </a:endParaRPr>
          </a:p>
        </p:txBody>
      </p:sp>
      <p:sp>
        <p:nvSpPr>
          <p:cNvPr id="234" name="Text 5"/>
          <p:cNvSpPr/>
          <p:nvPr/>
        </p:nvSpPr>
        <p:spPr>
          <a:xfrm>
            <a:off x="777240" y="2377440"/>
            <a:ext cx="4937400" cy="1096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100" b="0" u="none" strike="noStrike">
                <a:solidFill>
                  <a:srgbClr val="CBD3F0"/>
                </a:solidFill>
                <a:effectLst/>
                <a:uFillTx/>
                <a:latin typeface="Calibri"/>
                <a:ea typeface="Calibri"/>
              </a:rPr>
              <a:t>Plus rapide à calculer que l'entropie (pas de logarithme). scikit-learn utilise Gini par défaut pour les arbres ; l'entropie reste plus intuitive pour débuter.</a:t>
            </a:r>
            <a:endParaRPr lang="fr-FR" sz="1100" b="0" u="none" strike="noStrike">
              <a:solidFill>
                <a:srgbClr val="000000"/>
              </a:solidFill>
              <a:effectLst/>
              <a:uFillTx/>
              <a:latin typeface="Arial"/>
            </a:endParaRPr>
          </a:p>
        </p:txBody>
      </p:sp>
      <p:sp>
        <p:nvSpPr>
          <p:cNvPr id="235" name="Shape 6"/>
          <p:cNvSpPr/>
          <p:nvPr/>
        </p:nvSpPr>
        <p:spPr>
          <a:xfrm>
            <a:off x="548640" y="3703320"/>
            <a:ext cx="5486040" cy="2834280"/>
          </a:xfrm>
          <a:prstGeom prst="roundRect">
            <a:avLst>
              <a:gd name="adj" fmla="val 2581"/>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36" name="Text 7"/>
          <p:cNvSpPr/>
          <p:nvPr/>
        </p:nvSpPr>
        <p:spPr>
          <a:xfrm>
            <a:off x="777240" y="385884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INTERPRÉTATION &amp; SURAPPRENTISSAGE</a:t>
            </a:r>
            <a:endParaRPr lang="fr-FR" sz="1150" b="0" u="none" strike="noStrike">
              <a:solidFill>
                <a:srgbClr val="000000"/>
              </a:solidFill>
              <a:effectLst/>
              <a:uFillTx/>
              <a:latin typeface="Arial"/>
            </a:endParaRPr>
          </a:p>
        </p:txBody>
      </p:sp>
      <p:sp>
        <p:nvSpPr>
          <p:cNvPr id="237" name="Text 8"/>
          <p:cNvSpPr/>
          <p:nvPr/>
        </p:nvSpPr>
        <p:spPr>
          <a:xfrm>
            <a:off x="777240" y="4160520"/>
            <a:ext cx="4937400" cy="22856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2000"/>
              </a:lnSpc>
              <a:tabLst>
                <a:tab pos="0" algn="l"/>
              </a:tabLst>
            </a:pPr>
            <a:r>
              <a:rPr lang="en-US" sz="1080" b="0" u="none" strike="noStrike">
                <a:solidFill>
                  <a:srgbClr val="1B1F3B"/>
                </a:solidFill>
                <a:effectLst/>
                <a:uFillTx/>
                <a:latin typeface="Calibri"/>
                <a:ea typeface="Calibri"/>
              </a:rPr>
              <a:t>Un arbre est très facile à interpréter : il suffit de suivre le chemin des questions. Ex : si Temps = Couvert, la décision est Oui, sans autre question.</a:t>
            </a:r>
            <a:endParaRPr lang="fr-FR" sz="1080" b="0" u="none" strike="noStrike">
              <a:solidFill>
                <a:srgbClr val="000000"/>
              </a:solidFill>
              <a:effectLst/>
              <a:uFillTx/>
              <a:latin typeface="Arial"/>
            </a:endParaRPr>
          </a:p>
          <a:p>
            <a:pPr defTabSz="914400">
              <a:lnSpc>
                <a:spcPct val="122000"/>
              </a:lnSpc>
              <a:tabLst>
                <a:tab pos="0" algn="l"/>
              </a:tabLst>
            </a:pPr>
            <a:endParaRPr lang="fr-FR" sz="1080" b="0" u="none" strike="noStrike">
              <a:solidFill>
                <a:srgbClr val="000000"/>
              </a:solidFill>
              <a:effectLst/>
              <a:uFillTx/>
              <a:latin typeface="Arial"/>
            </a:endParaRPr>
          </a:p>
          <a:p>
            <a:pPr defTabSz="914400">
              <a:lnSpc>
                <a:spcPct val="122000"/>
              </a:lnSpc>
              <a:tabLst>
                <a:tab pos="0" algn="l"/>
              </a:tabLst>
            </a:pPr>
            <a:r>
              <a:rPr lang="en-US" sz="1080" b="0" u="none" strike="noStrike">
                <a:solidFill>
                  <a:srgbClr val="1B1F3B"/>
                </a:solidFill>
                <a:effectLst/>
                <a:uFillTx/>
                <a:latin typeface="Calibri"/>
                <a:ea typeface="Calibri"/>
              </a:rPr>
              <a:t>Un arbre trop profond peut mémoriser le bruit (surapprentissage). On peut l'élaguer : limiter la profondeur, exiger un nombre minimum d'échantillons par feuille, ou supprimer des branches peu utiles. On utilise la validation croisée pour trouver la bonne profondeur.</a:t>
            </a:r>
            <a:endParaRPr lang="fr-FR" sz="1080" b="0" u="none" strike="noStrike">
              <a:solidFill>
                <a:srgbClr val="000000"/>
              </a:solidFill>
              <a:effectLst/>
              <a:uFillTx/>
              <a:latin typeface="Arial"/>
            </a:endParaRPr>
          </a:p>
        </p:txBody>
      </p:sp>
      <p:sp>
        <p:nvSpPr>
          <p:cNvPr id="238" name="Shape 9"/>
          <p:cNvSpPr/>
          <p:nvPr/>
        </p:nvSpPr>
        <p:spPr>
          <a:xfrm>
            <a:off x="6355080" y="1417320"/>
            <a:ext cx="5284800" cy="2148480"/>
          </a:xfrm>
          <a:prstGeom prst="roundRect">
            <a:avLst>
              <a:gd name="adj" fmla="val 3404"/>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39" name="Text 10"/>
          <p:cNvSpPr/>
          <p:nvPr/>
        </p:nvSpPr>
        <p:spPr>
          <a:xfrm>
            <a:off x="6583680" y="1572840"/>
            <a:ext cx="475452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FRONTIÈRES DE DÉCISION</a:t>
            </a:r>
            <a:endParaRPr lang="fr-FR" sz="1150" b="0" u="none" strike="noStrike">
              <a:solidFill>
                <a:srgbClr val="000000"/>
              </a:solidFill>
              <a:effectLst/>
              <a:uFillTx/>
              <a:latin typeface="Arial"/>
            </a:endParaRPr>
          </a:p>
        </p:txBody>
      </p:sp>
      <p:sp>
        <p:nvSpPr>
          <p:cNvPr id="240" name="Text 11"/>
          <p:cNvSpPr/>
          <p:nvPr/>
        </p:nvSpPr>
        <p:spPr>
          <a:xfrm>
            <a:off x="6583680" y="1874520"/>
            <a:ext cx="4845960" cy="1599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2000"/>
              </a:lnSpc>
              <a:tabLst>
                <a:tab pos="0" algn="l"/>
              </a:tabLst>
            </a:pPr>
            <a:r>
              <a:rPr lang="en-US" sz="1080" b="0" u="none" strike="noStrike">
                <a:solidFill>
                  <a:srgbClr val="1B1F3B"/>
                </a:solidFill>
                <a:effectLst/>
                <a:uFillTx/>
                <a:latin typeface="Calibri"/>
                <a:ea typeface="Calibri"/>
              </a:rPr>
              <a:t>Un arbre crée des frontières parallèles aux axes (segments/rectangles). Ex : « x1 &gt; 2.5 ? » puis « x2 &gt; 1.5 ? » découpe l'espace en rectangles — différent de la régression logistique qui crée une frontière linéaire (droite, plan).</a:t>
            </a:r>
            <a:endParaRPr lang="fr-FR" sz="1080" b="0" u="none" strike="noStrike">
              <a:solidFill>
                <a:srgbClr val="000000"/>
              </a:solidFill>
              <a:effectLst/>
              <a:uFillTx/>
              <a:latin typeface="Arial"/>
            </a:endParaRPr>
          </a:p>
        </p:txBody>
      </p:sp>
      <p:pic>
        <p:nvPicPr>
          <p:cNvPr id="241" name="Image 0" descr="images/boundaries.png"/>
          <p:cNvPicPr/>
          <p:nvPr/>
        </p:nvPicPr>
        <p:blipFill>
          <a:blip r:embed="rId1"/>
          <a:stretch/>
        </p:blipFill>
        <p:spPr>
          <a:xfrm>
            <a:off x="6355080" y="3703320"/>
            <a:ext cx="5284800" cy="2834280"/>
          </a:xfrm>
          <a:prstGeom prst="rect">
            <a:avLst/>
          </a:prstGeom>
          <a:noFill/>
          <a:ln w="0">
            <a:noFill/>
          </a:ln>
        </p:spPr>
      </p:pic>
      <p:sp>
        <p:nvSpPr>
          <p:cNvPr id="242" name="Text 12"/>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17</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3"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10H15 – 11H00 · ARBRES DE DÉCISION</a:t>
            </a:r>
            <a:endParaRPr lang="fr-FR" sz="1200" b="0" u="none" strike="noStrike">
              <a:solidFill>
                <a:srgbClr val="000000"/>
              </a:solidFill>
              <a:effectLst/>
              <a:uFillTx/>
              <a:latin typeface="Arial"/>
            </a:endParaRPr>
          </a:p>
        </p:txBody>
      </p:sp>
      <p:sp>
        <p:nvSpPr>
          <p:cNvPr id="244"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Exercice 3 (défi) — Construire un arbre à la main</a:t>
            </a:r>
            <a:endParaRPr lang="fr-FR" sz="3000" b="0" u="none" strike="noStrike">
              <a:solidFill>
                <a:srgbClr val="000000"/>
              </a:solidFill>
              <a:effectLst/>
              <a:uFillTx/>
              <a:latin typeface="Arial"/>
            </a:endParaRPr>
          </a:p>
        </p:txBody>
      </p:sp>
      <p:sp>
        <p:nvSpPr>
          <p:cNvPr id="245" name="Shape 2"/>
          <p:cNvSpPr/>
          <p:nvPr/>
        </p:nvSpPr>
        <p:spPr>
          <a:xfrm>
            <a:off x="548640" y="1417320"/>
            <a:ext cx="11063880" cy="914040"/>
          </a:xfrm>
          <a:prstGeom prst="roundRect">
            <a:avLst>
              <a:gd name="adj" fmla="val 8000"/>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46" name="Text 3"/>
          <p:cNvSpPr/>
          <p:nvPr/>
        </p:nvSpPr>
        <p:spPr>
          <a:xfrm>
            <a:off x="822960" y="1417320"/>
            <a:ext cx="10515240" cy="914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80" b="0" u="none" strike="noStrike">
                <a:solidFill>
                  <a:srgbClr val="1B1F3B"/>
                </a:solidFill>
                <a:effectLst/>
                <a:uFillTx/>
                <a:latin typeface="Calibri"/>
                <a:ea typeface="Calibri"/>
              </a:rPr>
              <a:t>Énoncé : prédire si un client va acheter un produit (Oui/Non) selon son âge (Jeune/Vieux) et son revenu (Faible/Élevé). Questions : (1) H(S) initiale, (2) Gain pour Âge et Revenu, (3) première question, (4) arbre complet.</a:t>
            </a:r>
            <a:endParaRPr lang="fr-FR" sz="1180" b="0" u="none" strike="noStrike">
              <a:solidFill>
                <a:srgbClr val="000000"/>
              </a:solidFill>
              <a:effectLst/>
              <a:uFillTx/>
              <a:latin typeface="Arial"/>
            </a:endParaRPr>
          </a:p>
        </p:txBody>
      </p:sp>
      <p:graphicFrame>
        <p:nvGraphicFramePr>
          <p:cNvPr id="247" name="Table 0"/>
          <p:cNvGraphicFramePr/>
          <p:nvPr/>
        </p:nvGraphicFramePr>
        <p:xfrm>
          <a:off x="548640" y="2468880"/>
          <a:ext cx="4205880" cy="3565800"/>
        </p:xfrm>
        <a:graphic>
          <a:graphicData uri="http://schemas.openxmlformats.org/drawingml/2006/table">
            <a:tbl>
              <a:tblPr/>
              <a:tblGrid>
                <a:gridCol w="822960"/>
                <a:gridCol w="1097280"/>
                <a:gridCol w="1188720"/>
                <a:gridCol w="1097280"/>
              </a:tblGrid>
              <a:tr h="324000">
                <a:tc>
                  <a:txBody>
                    <a:bodyPr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Client</a:t>
                      </a:r>
                      <a:endParaRPr lang="fr-FR" sz="1050" b="0" u="none" strike="noStrike">
                        <a:solidFill>
                          <a:srgbClr val="FFFFFF"/>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1E2761"/>
                    </a:solidFill>
                  </a:tcPr>
                </a:tc>
                <a:tc>
                  <a:txBody>
                    <a:bodyPr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Âge</a:t>
                      </a:r>
                      <a:endParaRPr lang="fr-FR" sz="1050" b="0" u="none" strike="noStrike">
                        <a:solidFill>
                          <a:srgbClr val="FFFFFF"/>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1E2761"/>
                    </a:solidFill>
                  </a:tcPr>
                </a:tc>
                <a:tc>
                  <a:txBody>
                    <a:bodyPr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Revenu</a:t>
                      </a:r>
                      <a:endParaRPr lang="fr-FR" sz="1050" b="0" u="none" strike="noStrike">
                        <a:solidFill>
                          <a:srgbClr val="FFFFFF"/>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1E2761"/>
                    </a:solidFill>
                  </a:tcPr>
                </a:tc>
                <a:tc>
                  <a:txBody>
                    <a:bodyPr anchor="ctr">
                      <a:noAutofit/>
                    </a:bodyPr>
                    <a:p>
                      <a:pPr defTabSz="914400">
                        <a:lnSpc>
                          <a:spcPct val="100000"/>
                        </a:lnSpc>
                        <a:tabLst>
                          <a:tab pos="0" algn="l"/>
                        </a:tabLst>
                      </a:pPr>
                      <a:r>
                        <a:rPr lang="en-US" sz="1050" b="1" u="none" strike="noStrike">
                          <a:solidFill>
                            <a:srgbClr val="FFFFFF"/>
                          </a:solidFill>
                          <a:effectLst/>
                          <a:uFillTx/>
                          <a:latin typeface="Calibri"/>
                          <a:ea typeface="Calibri"/>
                        </a:rPr>
                        <a:t>Achat</a:t>
                      </a:r>
                      <a:endParaRPr lang="fr-FR" sz="1050" b="0" u="none" strike="noStrike">
                        <a:solidFill>
                          <a:srgbClr val="FFFFFF"/>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1E2761"/>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1</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Jeune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Faible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1" u="none" strike="noStrike">
                          <a:solidFill>
                            <a:srgbClr val="E74C3C"/>
                          </a:solidFill>
                          <a:effectLst/>
                          <a:uFillTx/>
                          <a:latin typeface="Calibri"/>
                          <a:ea typeface="Calibri"/>
                        </a:rPr>
                        <a:t>Non</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2</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Jeune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Faible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1" u="none" strike="noStrike">
                          <a:solidFill>
                            <a:srgbClr val="E74C3C"/>
                          </a:solidFill>
                          <a:effectLst/>
                          <a:uFillTx/>
                          <a:latin typeface="Calibri"/>
                          <a:ea typeface="Calibri"/>
                        </a:rPr>
                        <a:t>Non</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3</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Vieux</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Faible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1" u="none" strike="noStrike">
                          <a:solidFill>
                            <a:srgbClr val="E74C3C"/>
                          </a:solidFill>
                          <a:effectLst/>
                          <a:uFillTx/>
                          <a:latin typeface="Calibri"/>
                          <a:ea typeface="Calibri"/>
                        </a:rPr>
                        <a:t>Non</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4</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Vieux</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Élevé</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1" u="none" strike="noStrike">
                          <a:solidFill>
                            <a:srgbClr val="27AE60"/>
                          </a:solidFill>
                          <a:effectLst/>
                          <a:uFillTx/>
                          <a:latin typeface="Calibri"/>
                          <a:ea typeface="Calibri"/>
                        </a:rPr>
                        <a:t>Oui</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5</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Vieux</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Élevé</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1" u="none" strike="noStrike">
                          <a:solidFill>
                            <a:srgbClr val="27AE60"/>
                          </a:solidFill>
                          <a:effectLst/>
                          <a:uFillTx/>
                          <a:latin typeface="Calibri"/>
                          <a:ea typeface="Calibri"/>
                        </a:rPr>
                        <a:t>Oui</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6</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Jeune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Élevé</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1" u="none" strike="noStrike">
                          <a:solidFill>
                            <a:srgbClr val="27AE60"/>
                          </a:solidFill>
                          <a:effectLst/>
                          <a:uFillTx/>
                          <a:latin typeface="Calibri"/>
                          <a:ea typeface="Calibri"/>
                        </a:rPr>
                        <a:t>Oui</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7</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Jeune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Faible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1" u="none" strike="noStrike">
                          <a:solidFill>
                            <a:srgbClr val="E74C3C"/>
                          </a:solidFill>
                          <a:effectLst/>
                          <a:uFillTx/>
                          <a:latin typeface="Calibri"/>
                          <a:ea typeface="Calibri"/>
                        </a:rPr>
                        <a:t>Non</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8</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Vieux</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Faible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1" u="none" strike="noStrike">
                          <a:solidFill>
                            <a:srgbClr val="E74C3C"/>
                          </a:solidFill>
                          <a:effectLst/>
                          <a:uFillTx/>
                          <a:latin typeface="Calibri"/>
                          <a:ea typeface="Calibri"/>
                        </a:rPr>
                        <a:t>Non</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9</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Jeune</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Élevé</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00" b="1" u="none" strike="noStrike">
                          <a:solidFill>
                            <a:srgbClr val="27AE60"/>
                          </a:solidFill>
                          <a:effectLst/>
                          <a:uFillTx/>
                          <a:latin typeface="Calibri"/>
                          <a:ea typeface="Calibri"/>
                        </a:rPr>
                        <a:t>Oui</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324000">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10</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Vieux</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0" u="none" strike="noStrike">
                          <a:solidFill>
                            <a:srgbClr val="1B1F3B"/>
                          </a:solidFill>
                          <a:effectLst/>
                          <a:uFillTx/>
                          <a:latin typeface="Calibri"/>
                          <a:ea typeface="Calibri"/>
                        </a:rPr>
                        <a:t>Élevé</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00" b="1" u="none" strike="noStrike">
                          <a:solidFill>
                            <a:srgbClr val="27AE60"/>
                          </a:solidFill>
                          <a:effectLst/>
                          <a:uFillTx/>
                          <a:latin typeface="Calibri"/>
                          <a:ea typeface="Calibri"/>
                        </a:rPr>
                        <a:t>Oui</a:t>
                      </a:r>
                      <a:endParaRPr lang="fr-FR" sz="100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bl>
          </a:graphicData>
        </a:graphic>
      </p:graphicFrame>
      <p:sp>
        <p:nvSpPr>
          <p:cNvPr id="248" name="Text 4"/>
          <p:cNvSpPr/>
          <p:nvPr/>
        </p:nvSpPr>
        <p:spPr>
          <a:xfrm>
            <a:off x="4983480" y="2468880"/>
            <a:ext cx="27428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1E2761"/>
                </a:solidFill>
                <a:effectLst/>
                <a:uFillTx/>
                <a:latin typeface="Calibri"/>
                <a:ea typeface="Calibri"/>
              </a:rPr>
              <a:t>CORRECTION</a:t>
            </a:r>
            <a:endParaRPr lang="fr-FR" sz="1200" b="0" u="none" strike="noStrike">
              <a:solidFill>
                <a:srgbClr val="000000"/>
              </a:solidFill>
              <a:effectLst/>
              <a:uFillTx/>
              <a:latin typeface="Arial"/>
            </a:endParaRPr>
          </a:p>
        </p:txBody>
      </p:sp>
      <p:sp>
        <p:nvSpPr>
          <p:cNvPr id="249" name="Text 5"/>
          <p:cNvSpPr/>
          <p:nvPr/>
        </p:nvSpPr>
        <p:spPr>
          <a:xfrm>
            <a:off x="4983480" y="2788920"/>
            <a:ext cx="4891680" cy="3108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28000"/>
              </a:lnSpc>
              <a:tabLst>
                <a:tab pos="0" algn="l"/>
              </a:tabLst>
            </a:pPr>
            <a:r>
              <a:rPr lang="en-US" sz="1030" b="0" u="none" strike="noStrike">
                <a:solidFill>
                  <a:srgbClr val="1B1F3B"/>
                </a:solidFill>
                <a:effectLst/>
                <a:uFillTx/>
                <a:latin typeface="Consolas"/>
                <a:ea typeface="Consolas"/>
              </a:rPr>
              <a:t>1) H(S) = 1 bit (5 Oui, 5 Non)</a:t>
            </a:r>
            <a:endParaRPr lang="fr-FR" sz="1030" b="0" u="none" strike="noStrike">
              <a:solidFill>
                <a:srgbClr val="000000"/>
              </a:solidFill>
              <a:effectLst/>
              <a:uFillTx/>
              <a:latin typeface="Arial"/>
            </a:endParaRPr>
          </a:p>
          <a:p>
            <a:pPr defTabSz="914400">
              <a:lnSpc>
                <a:spcPct val="128000"/>
              </a:lnSpc>
              <a:tabLst>
                <a:tab pos="0" algn="l"/>
              </a:tabLst>
            </a:pPr>
            <a:r>
              <a:rPr lang="en-US" sz="1030" b="0" u="none" strike="noStrike">
                <a:solidFill>
                  <a:srgbClr val="1B1F3B"/>
                </a:solidFill>
                <a:effectLst/>
                <a:uFillTx/>
                <a:latin typeface="Consolas"/>
                <a:ea typeface="Consolas"/>
              </a:rPr>
              <a:t>2) Gain(Âge): Jeune(1O,3N,H=.811),</a:t>
            </a:r>
            <a:endParaRPr lang="fr-FR" sz="1030" b="0" u="none" strike="noStrike">
              <a:solidFill>
                <a:srgbClr val="000000"/>
              </a:solidFill>
              <a:effectLst/>
              <a:uFillTx/>
              <a:latin typeface="Arial"/>
            </a:endParaRPr>
          </a:p>
          <a:p>
            <a:pPr defTabSz="914400">
              <a:lnSpc>
                <a:spcPct val="128000"/>
              </a:lnSpc>
              <a:tabLst>
                <a:tab pos="0" algn="l"/>
              </a:tabLst>
            </a:pPr>
            <a:r>
              <a:rPr lang="en-US" sz="1030" b="0" u="none" strike="noStrike">
                <a:solidFill>
                  <a:srgbClr val="1B1F3B"/>
                </a:solidFill>
                <a:effectLst/>
                <a:uFillTx/>
                <a:latin typeface="Consolas"/>
                <a:ea typeface="Consolas"/>
              </a:rPr>
              <a:t>   Vieux(4O,2N,H=.918)</a:t>
            </a:r>
            <a:endParaRPr lang="fr-FR" sz="1030" b="0" u="none" strike="noStrike">
              <a:solidFill>
                <a:srgbClr val="000000"/>
              </a:solidFill>
              <a:effectLst/>
              <a:uFillTx/>
              <a:latin typeface="Arial"/>
            </a:endParaRPr>
          </a:p>
          <a:p>
            <a:pPr defTabSz="914400">
              <a:lnSpc>
                <a:spcPct val="128000"/>
              </a:lnSpc>
              <a:tabLst>
                <a:tab pos="0" algn="l"/>
              </a:tabLst>
            </a:pPr>
            <a:r>
              <a:rPr lang="en-US" sz="1030" b="0" u="none" strike="noStrike">
                <a:solidFill>
                  <a:srgbClr val="1B1F3B"/>
                </a:solidFill>
                <a:effectLst/>
                <a:uFillTx/>
                <a:latin typeface="Consolas"/>
                <a:ea typeface="Consolas"/>
              </a:rPr>
              <a:t>   Gain = 1−(.4·.811+.6·.918) = 0.1248</a:t>
            </a:r>
            <a:endParaRPr lang="fr-FR" sz="1030" b="0" u="none" strike="noStrike">
              <a:solidFill>
                <a:srgbClr val="000000"/>
              </a:solidFill>
              <a:effectLst/>
              <a:uFillTx/>
              <a:latin typeface="Arial"/>
            </a:endParaRPr>
          </a:p>
          <a:p>
            <a:pPr defTabSz="914400">
              <a:lnSpc>
                <a:spcPct val="128000"/>
              </a:lnSpc>
              <a:tabLst>
                <a:tab pos="0" algn="l"/>
              </a:tabLst>
            </a:pPr>
            <a:r>
              <a:rPr lang="en-US" sz="1030" b="0" u="none" strike="noStrike">
                <a:solidFill>
                  <a:srgbClr val="1B1F3B"/>
                </a:solidFill>
                <a:effectLst/>
                <a:uFillTx/>
                <a:latin typeface="Consolas"/>
                <a:ea typeface="Consolas"/>
              </a:rPr>
              <a:t>   Gain(Revenu): Faible(0O,5N,H=0),</a:t>
            </a:r>
            <a:endParaRPr lang="fr-FR" sz="1030" b="0" u="none" strike="noStrike">
              <a:solidFill>
                <a:srgbClr val="000000"/>
              </a:solidFill>
              <a:effectLst/>
              <a:uFillTx/>
              <a:latin typeface="Arial"/>
            </a:endParaRPr>
          </a:p>
          <a:p>
            <a:pPr defTabSz="914400">
              <a:lnSpc>
                <a:spcPct val="128000"/>
              </a:lnSpc>
              <a:tabLst>
                <a:tab pos="0" algn="l"/>
              </a:tabLst>
            </a:pPr>
            <a:r>
              <a:rPr lang="en-US" sz="1030" b="0" u="none" strike="noStrike">
                <a:solidFill>
                  <a:srgbClr val="1B1F3B"/>
                </a:solidFill>
                <a:effectLst/>
                <a:uFillTx/>
                <a:latin typeface="Consolas"/>
                <a:ea typeface="Consolas"/>
              </a:rPr>
              <a:t>   Élevé(5O,0N,H=0) → Gain = 1 bit</a:t>
            </a:r>
            <a:endParaRPr lang="fr-FR" sz="1030" b="0" u="none" strike="noStrike">
              <a:solidFill>
                <a:srgbClr val="000000"/>
              </a:solidFill>
              <a:effectLst/>
              <a:uFillTx/>
              <a:latin typeface="Arial"/>
            </a:endParaRPr>
          </a:p>
          <a:p>
            <a:pPr defTabSz="914400">
              <a:lnSpc>
                <a:spcPct val="128000"/>
              </a:lnSpc>
              <a:tabLst>
                <a:tab pos="0" algn="l"/>
              </a:tabLst>
            </a:pPr>
            <a:r>
              <a:rPr lang="en-US" sz="1030" b="0" u="none" strike="noStrike">
                <a:solidFill>
                  <a:srgbClr val="1B1F3B"/>
                </a:solidFill>
                <a:effectLst/>
                <a:uFillTx/>
                <a:latin typeface="Consolas"/>
                <a:ea typeface="Consolas"/>
              </a:rPr>
              <a:t>3) Question 1 : Revenu (gain=1, parfait)</a:t>
            </a:r>
            <a:endParaRPr lang="fr-FR" sz="1030" b="0" u="none" strike="noStrike">
              <a:solidFill>
                <a:srgbClr val="000000"/>
              </a:solidFill>
              <a:effectLst/>
              <a:uFillTx/>
              <a:latin typeface="Arial"/>
            </a:endParaRPr>
          </a:p>
        </p:txBody>
      </p:sp>
      <p:sp>
        <p:nvSpPr>
          <p:cNvPr id="250" name="Text 6"/>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18</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1"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10H15 – 11H00 · ARBRES DE DÉCISION</a:t>
            </a:r>
            <a:endParaRPr lang="fr-FR" sz="1200" b="0" u="none" strike="noStrike">
              <a:solidFill>
                <a:srgbClr val="000000"/>
              </a:solidFill>
              <a:effectLst/>
              <a:uFillTx/>
              <a:latin typeface="Arial"/>
            </a:endParaRPr>
          </a:p>
        </p:txBody>
      </p:sp>
      <p:sp>
        <p:nvSpPr>
          <p:cNvPr id="252"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Exercice 3 — Arbre complet</a:t>
            </a:r>
            <a:endParaRPr lang="fr-FR" sz="3000" b="0" u="none" strike="noStrike">
              <a:solidFill>
                <a:srgbClr val="000000"/>
              </a:solidFill>
              <a:effectLst/>
              <a:uFillTx/>
              <a:latin typeface="Arial"/>
            </a:endParaRPr>
          </a:p>
        </p:txBody>
      </p:sp>
      <p:pic>
        <p:nvPicPr>
          <p:cNvPr id="253" name="Image 0" descr="images/decision_tree_achat.png"/>
          <p:cNvPicPr/>
          <p:nvPr/>
        </p:nvPicPr>
        <p:blipFill>
          <a:blip r:embed="rId1"/>
          <a:stretch/>
        </p:blipFill>
        <p:spPr>
          <a:xfrm>
            <a:off x="2194560" y="1645920"/>
            <a:ext cx="7772040" cy="3565800"/>
          </a:xfrm>
          <a:prstGeom prst="rect">
            <a:avLst/>
          </a:prstGeom>
          <a:noFill/>
          <a:ln w="0">
            <a:noFill/>
          </a:ln>
        </p:spPr>
      </p:pic>
      <p:sp>
        <p:nvSpPr>
          <p:cNvPr id="254" name="Shape 2"/>
          <p:cNvSpPr/>
          <p:nvPr/>
        </p:nvSpPr>
        <p:spPr>
          <a:xfrm>
            <a:off x="548640" y="5394960"/>
            <a:ext cx="11063880" cy="914040"/>
          </a:xfrm>
          <a:prstGeom prst="roundRect">
            <a:avLst>
              <a:gd name="adj" fmla="val 8000"/>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55" name="Text 3"/>
          <p:cNvSpPr/>
          <p:nvPr/>
        </p:nvSpPr>
        <p:spPr>
          <a:xfrm>
            <a:off x="777240" y="5394960"/>
            <a:ext cx="10606680" cy="914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1B1F3B"/>
                </a:solidFill>
                <a:effectLst/>
                <a:uFillTx/>
                <a:latin typeface="Calibri"/>
                <a:ea typeface="Calibri"/>
              </a:rPr>
              <a:t>Racine : Revenu ? → Si Faible → feuille « Non » (5 échantillons, tous Non). Si Élevé → feuille « Oui » (5 échantillons, tous Oui). L'arbre est terminé, pas besoin d'utiliser l'Âge.</a:t>
            </a:r>
            <a:endParaRPr lang="fr-FR" sz="1200" b="0" u="none" strike="noStrike">
              <a:solidFill>
                <a:srgbClr val="000000"/>
              </a:solidFill>
              <a:effectLst/>
              <a:uFillTx/>
              <a:latin typeface="Arial"/>
            </a:endParaRPr>
          </a:p>
        </p:txBody>
      </p:sp>
      <p:sp>
        <p:nvSpPr>
          <p:cNvPr id="256" name="Text 4"/>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19</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11H00 – 11H45 · RÉGRESSION LOGISTIQUE</a:t>
            </a:r>
            <a:endParaRPr lang="fr-FR" sz="1200" b="0" u="none" strike="noStrike">
              <a:solidFill>
                <a:srgbClr val="000000"/>
              </a:solidFill>
              <a:effectLst/>
              <a:uFillTx/>
              <a:latin typeface="Arial"/>
            </a:endParaRPr>
          </a:p>
        </p:txBody>
      </p:sp>
      <p:sp>
        <p:nvSpPr>
          <p:cNvPr id="258"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Qu'est-ce que la régression logistique ?</a:t>
            </a:r>
            <a:endParaRPr lang="fr-FR" sz="3000" b="0" u="none" strike="noStrike">
              <a:solidFill>
                <a:srgbClr val="000000"/>
              </a:solidFill>
              <a:effectLst/>
              <a:uFillTx/>
              <a:latin typeface="Arial"/>
            </a:endParaRPr>
          </a:p>
        </p:txBody>
      </p:sp>
      <p:sp>
        <p:nvSpPr>
          <p:cNvPr id="259" name="Text 2"/>
          <p:cNvSpPr/>
          <p:nvPr/>
        </p:nvSpPr>
        <p:spPr>
          <a:xfrm>
            <a:off x="548640" y="1417320"/>
            <a:ext cx="5851800" cy="1828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2000"/>
              </a:lnSpc>
              <a:tabLst>
                <a:tab pos="0" algn="l"/>
              </a:tabLst>
            </a:pPr>
            <a:r>
              <a:rPr lang="en-US" sz="1230" b="0" u="none" strike="noStrike">
                <a:solidFill>
                  <a:srgbClr val="1B1F3B"/>
                </a:solidFill>
                <a:effectLst/>
                <a:uFillTx/>
                <a:latin typeface="Calibri"/>
                <a:ea typeface="Calibri"/>
              </a:rPr>
              <a:t>Malgré son nom, la régression logistique est une méthode de classification binaire (deux classes). Elle estime la probabilité qu'un échantillon appartienne à la classe positive (par exemple « Oui », « spam », « désabonnement »). Elle utilise une fonction spéciale, la sigmoïde, pour transformer un score (une valeur réelle) en probabilité comprise entre 0 et 1.</a:t>
            </a:r>
            <a:endParaRPr lang="fr-FR" sz="1230" b="0" u="none" strike="noStrike">
              <a:solidFill>
                <a:srgbClr val="000000"/>
              </a:solidFill>
              <a:effectLst/>
              <a:uFillTx/>
              <a:latin typeface="Arial"/>
            </a:endParaRPr>
          </a:p>
        </p:txBody>
      </p:sp>
      <p:sp>
        <p:nvSpPr>
          <p:cNvPr id="260" name="Shape 3"/>
          <p:cNvSpPr/>
          <p:nvPr/>
        </p:nvSpPr>
        <p:spPr>
          <a:xfrm>
            <a:off x="548640" y="3383280"/>
            <a:ext cx="5851800" cy="2880000"/>
          </a:xfrm>
          <a:prstGeom prst="roundRect">
            <a:avLst>
              <a:gd name="adj" fmla="val 2540"/>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61" name="Text 4"/>
          <p:cNvSpPr/>
          <p:nvPr/>
        </p:nvSpPr>
        <p:spPr>
          <a:xfrm>
            <a:off x="777240" y="352044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ENCADRÉ — FONCTION SIGMOÏDE</a:t>
            </a:r>
            <a:endParaRPr lang="fr-FR" sz="1150" b="0" u="none" strike="noStrike">
              <a:solidFill>
                <a:srgbClr val="000000"/>
              </a:solidFill>
              <a:effectLst/>
              <a:uFillTx/>
              <a:latin typeface="Arial"/>
            </a:endParaRPr>
          </a:p>
        </p:txBody>
      </p:sp>
      <p:sp>
        <p:nvSpPr>
          <p:cNvPr id="262" name="Text 5"/>
          <p:cNvSpPr/>
          <p:nvPr/>
        </p:nvSpPr>
        <p:spPr>
          <a:xfrm>
            <a:off x="777240" y="3840480"/>
            <a:ext cx="530316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1" u="none" strike="noStrike">
                <a:solidFill>
                  <a:srgbClr val="FFFFFF"/>
                </a:solidFill>
                <a:effectLst/>
                <a:uFillTx/>
                <a:latin typeface="Cambria Math"/>
                <a:ea typeface="Cambria Math"/>
              </a:rPr>
              <a:t>σ(z) = 1 / (1 + e⁻ᶻ)</a:t>
            </a:r>
            <a:endParaRPr lang="fr-FR" sz="2000" b="0" u="none" strike="noStrike">
              <a:solidFill>
                <a:srgbClr val="000000"/>
              </a:solidFill>
              <a:effectLst/>
              <a:uFillTx/>
              <a:latin typeface="Arial"/>
            </a:endParaRPr>
          </a:p>
        </p:txBody>
      </p:sp>
      <p:sp>
        <p:nvSpPr>
          <p:cNvPr id="263" name="Text 6"/>
          <p:cNvSpPr/>
          <p:nvPr/>
        </p:nvSpPr>
        <p:spPr>
          <a:xfrm>
            <a:off x="777240" y="4434840"/>
            <a:ext cx="5394600" cy="1737000"/>
          </a:xfrm>
          <a:prstGeom prst="rect">
            <a:avLst/>
          </a:prstGeom>
          <a:noFill/>
          <a:ln w="0">
            <a:noFill/>
          </a:ln>
        </p:spPr>
        <p:style>
          <a:lnRef idx="0"/>
          <a:fillRef idx="0"/>
          <a:effectRef idx="0"/>
          <a:fontRef idx="minor"/>
        </p:style>
        <p:txBody>
          <a:bodyPr lIns="90000" tIns="45000" rIns="90000" bIns="45000" anchor="ctr">
            <a:noAutofit/>
          </a:bodyPr>
          <a:p>
            <a:r>
              <a:rPr lang="en-US" sz="1100" b="1" u="none" strike="noStrike">
                <a:solidFill>
                  <a:srgbClr val="F39C12"/>
                </a:solidFill>
                <a:effectLst/>
                <a:uFillTx/>
                <a:latin typeface="Calibri"/>
                <a:ea typeface="Calibri"/>
              </a:rPr>
              <a:t>À quoi ça sert ? </a:t>
            </a:r>
            <a:r>
              <a:rPr lang="en-US" sz="1100" b="0" u="none" strike="noStrike">
                <a:solidFill>
                  <a:srgbClr val="FFFFFF"/>
                </a:solidFill>
                <a:effectLst/>
                <a:uFillTx/>
                <a:latin typeface="Calibri"/>
                <a:ea typeface="Calibri"/>
              </a:rPr>
              <a:t>Convertir un score en probabilité entre 0 et 1, pour modéliser P(Y=1 | X).</a:t>
            </a:r>
            <a:endParaRPr lang="fr-FR" sz="1100" b="0" u="none" strike="noStrike">
              <a:solidFill>
                <a:srgbClr val="000000"/>
              </a:solidFill>
              <a:effectLst/>
              <a:uFillTx/>
              <a:latin typeface="Arial"/>
            </a:endParaRPr>
          </a:p>
          <a:p>
            <a:endParaRPr lang="fr-FR" sz="1100" b="0" u="none" strike="noStrike">
              <a:solidFill>
                <a:srgbClr val="000000"/>
              </a:solidFill>
              <a:effectLst/>
              <a:uFillTx/>
              <a:latin typeface="Arial"/>
            </a:endParaRPr>
          </a:p>
          <a:p>
            <a:pPr defTabSz="914400">
              <a:lnSpc>
                <a:spcPct val="122000"/>
              </a:lnSpc>
              <a:tabLst>
                <a:tab pos="0" algn="l"/>
              </a:tabLst>
            </a:pPr>
            <a:r>
              <a:rPr lang="en-US" sz="1100" b="1" u="none" strike="noStrike">
                <a:solidFill>
                  <a:srgbClr val="F39C12"/>
                </a:solidFill>
                <a:effectLst/>
                <a:uFillTx/>
                <a:latin typeface="Calibri"/>
                <a:ea typeface="Calibri"/>
              </a:rPr>
              <a:t>Exemple : </a:t>
            </a:r>
            <a:r>
              <a:rPr lang="en-US" sz="1100" b="0" u="none" strike="noStrike">
                <a:solidFill>
                  <a:srgbClr val="FFFFFF"/>
                </a:solidFill>
                <a:effectLst/>
                <a:uFillTx/>
                <a:latin typeface="Calibri"/>
                <a:ea typeface="Calibri"/>
              </a:rPr>
              <a:t>σ(0)=0.5, σ(2)≈0.881, σ(−2)≈0.119.</a:t>
            </a:r>
            <a:endParaRPr lang="fr-FR" sz="1100" b="0" u="none" strike="noStrike">
              <a:solidFill>
                <a:srgbClr val="000000"/>
              </a:solidFill>
              <a:effectLst/>
              <a:uFillTx/>
              <a:latin typeface="Arial"/>
            </a:endParaRPr>
          </a:p>
        </p:txBody>
      </p:sp>
      <p:pic>
        <p:nvPicPr>
          <p:cNvPr id="264" name="Image 0" descr="images/sigmoid.png"/>
          <p:cNvPicPr/>
          <p:nvPr/>
        </p:nvPicPr>
        <p:blipFill>
          <a:blip r:embed="rId1"/>
          <a:stretch/>
        </p:blipFill>
        <p:spPr>
          <a:xfrm>
            <a:off x="6675120" y="1417320"/>
            <a:ext cx="4983120" cy="3108600"/>
          </a:xfrm>
          <a:prstGeom prst="rect">
            <a:avLst/>
          </a:prstGeom>
          <a:noFill/>
          <a:ln w="0">
            <a:noFill/>
          </a:ln>
        </p:spPr>
      </p:pic>
      <p:sp>
        <p:nvSpPr>
          <p:cNvPr id="265" name="Shape 7"/>
          <p:cNvSpPr/>
          <p:nvPr/>
        </p:nvSpPr>
        <p:spPr>
          <a:xfrm>
            <a:off x="6675120" y="4663440"/>
            <a:ext cx="4983120" cy="1554120"/>
          </a:xfrm>
          <a:prstGeom prst="roundRect">
            <a:avLst>
              <a:gd name="adj" fmla="val 4706"/>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66" name="Text 8"/>
          <p:cNvSpPr/>
          <p:nvPr/>
        </p:nvSpPr>
        <p:spPr>
          <a:xfrm>
            <a:off x="6903720" y="4663440"/>
            <a:ext cx="4525920" cy="1554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22000"/>
              </a:lnSpc>
              <a:tabLst>
                <a:tab pos="0" algn="l"/>
              </a:tabLst>
            </a:pPr>
            <a:r>
              <a:rPr lang="en-US" sz="1080" b="1" u="none" strike="noStrike">
                <a:solidFill>
                  <a:srgbClr val="F39C12"/>
                </a:solidFill>
                <a:effectLst/>
                <a:uFillTx/>
                <a:latin typeface="Calibri"/>
                <a:ea typeface="Calibri"/>
              </a:rPr>
              <a:t>Erreur fréquente à éviter : </a:t>
            </a:r>
            <a:r>
              <a:rPr lang="en-US" sz="1080" b="0" u="none" strike="noStrike">
                <a:solidFill>
                  <a:srgbClr val="1B1F3B"/>
                </a:solidFill>
                <a:effectLst/>
                <a:uFillTx/>
                <a:latin typeface="Calibri"/>
                <a:ea typeface="Calibri"/>
              </a:rPr>
              <a:t>penser que σ(z) peut être négative ou &gt; 1. Elle renvoie toujours entre 0 et 1. Ne pas confondre z avec la probabilité elle-même.</a:t>
            </a:r>
            <a:endParaRPr lang="fr-FR" sz="1080" b="0" u="none" strike="noStrike">
              <a:solidFill>
                <a:srgbClr val="000000"/>
              </a:solidFill>
              <a:effectLst/>
              <a:uFillTx/>
              <a:latin typeface="Arial"/>
            </a:endParaRPr>
          </a:p>
        </p:txBody>
      </p:sp>
      <p:sp>
        <p:nvSpPr>
          <p:cNvPr id="267" name="Text 9"/>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20</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8"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11H00 – 11H45 · RÉGRESSION LOGISTIQUE</a:t>
            </a:r>
            <a:endParaRPr lang="fr-FR" sz="1200" b="0" u="none" strike="noStrike">
              <a:solidFill>
                <a:srgbClr val="000000"/>
              </a:solidFill>
              <a:effectLst/>
              <a:uFillTx/>
              <a:latin typeface="Arial"/>
            </a:endParaRPr>
          </a:p>
        </p:txBody>
      </p:sp>
      <p:sp>
        <p:nvSpPr>
          <p:cNvPr id="269"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Log-odds, interprétation &amp; frontière</a:t>
            </a:r>
            <a:endParaRPr lang="fr-FR" sz="3000" b="0" u="none" strike="noStrike">
              <a:solidFill>
                <a:srgbClr val="000000"/>
              </a:solidFill>
              <a:effectLst/>
              <a:uFillTx/>
              <a:latin typeface="Arial"/>
            </a:endParaRPr>
          </a:p>
        </p:txBody>
      </p:sp>
      <p:sp>
        <p:nvSpPr>
          <p:cNvPr id="270" name="Shape 2"/>
          <p:cNvSpPr/>
          <p:nvPr/>
        </p:nvSpPr>
        <p:spPr>
          <a:xfrm>
            <a:off x="548640" y="1417320"/>
            <a:ext cx="5486040" cy="2742840"/>
          </a:xfrm>
          <a:prstGeom prst="roundRect">
            <a:avLst>
              <a:gd name="adj" fmla="val 2667"/>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71" name="Text 3"/>
          <p:cNvSpPr/>
          <p:nvPr/>
        </p:nvSpPr>
        <p:spPr>
          <a:xfrm>
            <a:off x="777240" y="157284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SCORE ET LOG-ODDS</a:t>
            </a:r>
            <a:endParaRPr lang="fr-FR" sz="1150" b="0" u="none" strike="noStrike">
              <a:solidFill>
                <a:srgbClr val="000000"/>
              </a:solidFill>
              <a:effectLst/>
              <a:uFillTx/>
              <a:latin typeface="Arial"/>
            </a:endParaRPr>
          </a:p>
        </p:txBody>
      </p:sp>
      <p:sp>
        <p:nvSpPr>
          <p:cNvPr id="272" name="Text 4"/>
          <p:cNvSpPr/>
          <p:nvPr/>
        </p:nvSpPr>
        <p:spPr>
          <a:xfrm>
            <a:off x="777240" y="1874520"/>
            <a:ext cx="49374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1" u="none" strike="noStrike">
                <a:solidFill>
                  <a:srgbClr val="1E2761"/>
                </a:solidFill>
                <a:effectLst/>
                <a:uFillTx/>
                <a:latin typeface="Cambria Math"/>
                <a:ea typeface="Cambria Math"/>
              </a:rPr>
              <a:t>z = β₀ + β₁x₁ + β₂x₂ + …</a:t>
            </a:r>
            <a:endParaRPr lang="fr-FR" sz="1500" b="0" u="none" strike="noStrike">
              <a:solidFill>
                <a:srgbClr val="000000"/>
              </a:solidFill>
              <a:effectLst/>
              <a:uFillTx/>
              <a:latin typeface="Arial"/>
            </a:endParaRPr>
          </a:p>
        </p:txBody>
      </p:sp>
      <p:sp>
        <p:nvSpPr>
          <p:cNvPr id="273" name="Text 5"/>
          <p:cNvSpPr/>
          <p:nvPr/>
        </p:nvSpPr>
        <p:spPr>
          <a:xfrm>
            <a:off x="777240" y="2331720"/>
            <a:ext cx="4937400" cy="411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E2761"/>
                </a:solidFill>
                <a:effectLst/>
                <a:uFillTx/>
                <a:latin typeface="Cambria Math"/>
                <a:ea typeface="Cambria Math"/>
              </a:rPr>
              <a:t>odds = p / (1 − p)          log(p/(1−p)) = z</a:t>
            </a:r>
            <a:endParaRPr lang="fr-FR" sz="1300" b="0" u="none" strike="noStrike">
              <a:solidFill>
                <a:srgbClr val="000000"/>
              </a:solidFill>
              <a:effectLst/>
              <a:uFillTx/>
              <a:latin typeface="Arial"/>
            </a:endParaRPr>
          </a:p>
        </p:txBody>
      </p:sp>
      <p:sp>
        <p:nvSpPr>
          <p:cNvPr id="274" name="Text 6"/>
          <p:cNvSpPr/>
          <p:nvPr/>
        </p:nvSpPr>
        <p:spPr>
          <a:xfrm>
            <a:off x="777240" y="2834640"/>
            <a:ext cx="4937400" cy="123408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100" b="0" u="none" strike="noStrike">
                <a:solidFill>
                  <a:srgbClr val="1B1F3B"/>
                </a:solidFill>
                <a:effectLst/>
                <a:uFillTx/>
                <a:latin typeface="Calibri"/>
                <a:ea typeface="Calibri"/>
              </a:rPr>
              <a:t>Une augmentation d'une unité de xⱼ multiplie l'odds par e^βⱼ. Si βⱼ &gt; 0, la probabilité augmente avec xⱼ ; si βⱼ &lt; 0, elle diminue.</a:t>
            </a:r>
            <a:endParaRPr lang="fr-FR" sz="1100" b="0" u="none" strike="noStrike">
              <a:solidFill>
                <a:srgbClr val="000000"/>
              </a:solidFill>
              <a:effectLst/>
              <a:uFillTx/>
              <a:latin typeface="Arial"/>
            </a:endParaRPr>
          </a:p>
        </p:txBody>
      </p:sp>
      <p:sp>
        <p:nvSpPr>
          <p:cNvPr id="275" name="Shape 7"/>
          <p:cNvSpPr/>
          <p:nvPr/>
        </p:nvSpPr>
        <p:spPr>
          <a:xfrm>
            <a:off x="548640" y="4343400"/>
            <a:ext cx="5486040" cy="1874160"/>
          </a:xfrm>
          <a:prstGeom prst="roundRect">
            <a:avLst>
              <a:gd name="adj" fmla="val 3902"/>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76" name="Text 8"/>
          <p:cNvSpPr/>
          <p:nvPr/>
        </p:nvSpPr>
        <p:spPr>
          <a:xfrm>
            <a:off x="777240" y="4480560"/>
            <a:ext cx="493740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FRONTIÈRE DE DÉCISION</a:t>
            </a:r>
            <a:endParaRPr lang="fr-FR" sz="1150" b="0" u="none" strike="noStrike">
              <a:solidFill>
                <a:srgbClr val="000000"/>
              </a:solidFill>
              <a:effectLst/>
              <a:uFillTx/>
              <a:latin typeface="Arial"/>
            </a:endParaRPr>
          </a:p>
        </p:txBody>
      </p:sp>
      <p:sp>
        <p:nvSpPr>
          <p:cNvPr id="277" name="Text 9"/>
          <p:cNvSpPr/>
          <p:nvPr/>
        </p:nvSpPr>
        <p:spPr>
          <a:xfrm>
            <a:off x="777240" y="4754880"/>
            <a:ext cx="4937400" cy="1371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100" b="0" u="none" strike="noStrike">
                <a:solidFill>
                  <a:srgbClr val="FFFFFF"/>
                </a:solidFill>
                <a:effectLst/>
                <a:uFillTx/>
                <a:latin typeface="Calibri"/>
                <a:ea typeface="Calibri"/>
              </a:rPr>
              <a:t>Par défaut, on prédit la classe positive si p ≥ 0.5, ce qui équivaut à z ≥ 0. La frontière est l'ensemble des points où z = 0 : une droite (2D) ou un hyperplan (dimension supérieure).</a:t>
            </a:r>
            <a:endParaRPr lang="fr-FR" sz="1100" b="0" u="none" strike="noStrike">
              <a:solidFill>
                <a:srgbClr val="000000"/>
              </a:solidFill>
              <a:effectLst/>
              <a:uFillTx/>
              <a:latin typeface="Arial"/>
            </a:endParaRPr>
          </a:p>
        </p:txBody>
      </p:sp>
      <p:pic>
        <p:nvPicPr>
          <p:cNvPr id="278" name="Image 0" descr="images/boundaries.png"/>
          <p:cNvPicPr/>
          <p:nvPr/>
        </p:nvPicPr>
        <p:blipFill>
          <a:blip r:embed="rId1"/>
          <a:stretch/>
        </p:blipFill>
        <p:spPr>
          <a:xfrm>
            <a:off x="6355080" y="1417320"/>
            <a:ext cx="5284800" cy="2742840"/>
          </a:xfrm>
          <a:prstGeom prst="rect">
            <a:avLst/>
          </a:prstGeom>
          <a:noFill/>
          <a:ln w="0">
            <a:noFill/>
          </a:ln>
        </p:spPr>
      </p:pic>
      <p:sp>
        <p:nvSpPr>
          <p:cNvPr id="279" name="Text 10"/>
          <p:cNvSpPr/>
          <p:nvPr/>
        </p:nvSpPr>
        <p:spPr>
          <a:xfrm>
            <a:off x="6355080" y="4206240"/>
            <a:ext cx="52848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0" i="1" u="none" strike="noStrike">
                <a:solidFill>
                  <a:srgbClr val="5A5F73"/>
                </a:solidFill>
                <a:effectLst/>
                <a:uFillTx/>
                <a:latin typeface="Calibri"/>
                <a:ea typeface="Calibri"/>
              </a:rPr>
              <a:t>Comparaison : frontière en escalier (arbre) vs frontière linéaire (régression logistique)</a:t>
            </a:r>
            <a:endParaRPr lang="fr-FR" sz="1000" b="0" u="none" strike="noStrike">
              <a:solidFill>
                <a:srgbClr val="000000"/>
              </a:solidFill>
              <a:effectLst/>
              <a:uFillTx/>
              <a:latin typeface="Arial"/>
            </a:endParaRPr>
          </a:p>
        </p:txBody>
      </p:sp>
      <p:sp>
        <p:nvSpPr>
          <p:cNvPr id="280" name="Shape 11"/>
          <p:cNvSpPr/>
          <p:nvPr/>
        </p:nvSpPr>
        <p:spPr>
          <a:xfrm>
            <a:off x="6355080" y="4709160"/>
            <a:ext cx="5284800" cy="1508400"/>
          </a:xfrm>
          <a:prstGeom prst="roundRect">
            <a:avLst>
              <a:gd name="adj" fmla="val 4848"/>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81" name="Text 12"/>
          <p:cNvSpPr/>
          <p:nvPr/>
        </p:nvSpPr>
        <p:spPr>
          <a:xfrm>
            <a:off x="6583680" y="4709160"/>
            <a:ext cx="4845960" cy="1508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22000"/>
              </a:lnSpc>
              <a:tabLst>
                <a:tab pos="0" algn="l"/>
              </a:tabLst>
            </a:pPr>
            <a:r>
              <a:rPr lang="en-US" sz="1100" b="0" u="none" strike="noStrike">
                <a:solidFill>
                  <a:srgbClr val="1B1F3B"/>
                </a:solidFill>
                <a:effectLst/>
                <a:uFillTx/>
                <a:latin typeface="Calibri"/>
                <a:ea typeface="Calibri"/>
              </a:rPr>
              <a:t>Coefficients β : βⱼ positif → la probabilité augmente avec xⱼ. βⱼ négatif → elle diminue. L'exponentielle e^βⱼ donne le rapport de cotes (odds ratio).</a:t>
            </a:r>
            <a:endParaRPr lang="fr-FR" sz="1100" b="0" u="none" strike="noStrike">
              <a:solidFill>
                <a:srgbClr val="000000"/>
              </a:solidFill>
              <a:effectLst/>
              <a:uFillTx/>
              <a:latin typeface="Arial"/>
            </a:endParaRPr>
          </a:p>
        </p:txBody>
      </p:sp>
      <p:sp>
        <p:nvSpPr>
          <p:cNvPr id="282" name="Text 13"/>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21</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3"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11H00 – 11H45 · RÉGRESSION LOGISTIQUE</a:t>
            </a:r>
            <a:endParaRPr lang="fr-FR" sz="1200" b="0" u="none" strike="noStrike">
              <a:solidFill>
                <a:srgbClr val="000000"/>
              </a:solidFill>
              <a:effectLst/>
              <a:uFillTx/>
              <a:latin typeface="Arial"/>
            </a:endParaRPr>
          </a:p>
        </p:txBody>
      </p:sp>
      <p:sp>
        <p:nvSpPr>
          <p:cNvPr id="284"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Fonction de coût : la log loss</a:t>
            </a:r>
            <a:endParaRPr lang="fr-FR" sz="3000" b="0" u="none" strike="noStrike">
              <a:solidFill>
                <a:srgbClr val="000000"/>
              </a:solidFill>
              <a:effectLst/>
              <a:uFillTx/>
              <a:latin typeface="Arial"/>
            </a:endParaRPr>
          </a:p>
        </p:txBody>
      </p:sp>
      <p:sp>
        <p:nvSpPr>
          <p:cNvPr id="285" name="Text 2"/>
          <p:cNvSpPr/>
          <p:nvPr/>
        </p:nvSpPr>
        <p:spPr>
          <a:xfrm>
            <a:off x="548640" y="1417320"/>
            <a:ext cx="5851800" cy="914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2000"/>
              </a:lnSpc>
              <a:tabLst>
                <a:tab pos="0" algn="l"/>
              </a:tabLst>
            </a:pPr>
            <a:r>
              <a:rPr lang="en-US" sz="1230" b="0" u="none" strike="noStrike">
                <a:solidFill>
                  <a:srgbClr val="1B1F3B"/>
                </a:solidFill>
                <a:effectLst/>
                <a:uFillTx/>
                <a:latin typeface="Calibri"/>
                <a:ea typeface="Calibri"/>
              </a:rPr>
              <a:t>Pour entraîner le modèle, il faut mesurer à quel point les probabilités prédites sont proches des vraies étiquettes. La log loss (ou perte logistique, entropie croisée binaire) fait cela.</a:t>
            </a:r>
            <a:endParaRPr lang="fr-FR" sz="1230" b="0" u="none" strike="noStrike">
              <a:solidFill>
                <a:srgbClr val="000000"/>
              </a:solidFill>
              <a:effectLst/>
              <a:uFillTx/>
              <a:latin typeface="Arial"/>
            </a:endParaRPr>
          </a:p>
        </p:txBody>
      </p:sp>
      <p:sp>
        <p:nvSpPr>
          <p:cNvPr id="286" name="Shape 3"/>
          <p:cNvSpPr/>
          <p:nvPr/>
        </p:nvSpPr>
        <p:spPr>
          <a:xfrm>
            <a:off x="548640" y="2423160"/>
            <a:ext cx="5851800" cy="2148480"/>
          </a:xfrm>
          <a:prstGeom prst="roundRect">
            <a:avLst>
              <a:gd name="adj" fmla="val 3404"/>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87" name="Text 4"/>
          <p:cNvSpPr/>
          <p:nvPr/>
        </p:nvSpPr>
        <p:spPr>
          <a:xfrm>
            <a:off x="777240" y="256032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FORMULE (pour un échantillon)</a:t>
            </a:r>
            <a:endParaRPr lang="fr-FR" sz="1150" b="0" u="none" strike="noStrike">
              <a:solidFill>
                <a:srgbClr val="000000"/>
              </a:solidFill>
              <a:effectLst/>
              <a:uFillTx/>
              <a:latin typeface="Arial"/>
            </a:endParaRPr>
          </a:p>
        </p:txBody>
      </p:sp>
      <p:sp>
        <p:nvSpPr>
          <p:cNvPr id="288" name="Text 5"/>
          <p:cNvSpPr/>
          <p:nvPr/>
        </p:nvSpPr>
        <p:spPr>
          <a:xfrm>
            <a:off x="777240" y="2880360"/>
            <a:ext cx="5394600" cy="5025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50" b="1" u="none" strike="noStrike">
                <a:solidFill>
                  <a:srgbClr val="FFFFFF"/>
                </a:solidFill>
                <a:effectLst/>
                <a:uFillTx/>
                <a:latin typeface="Cambria Math"/>
                <a:ea typeface="Cambria Math"/>
              </a:rPr>
              <a:t>LogLoss = − [y·log(p) + (1−y)·log(1−p)]</a:t>
            </a:r>
            <a:endParaRPr lang="fr-FR" sz="1450" b="0" u="none" strike="noStrike">
              <a:solidFill>
                <a:srgbClr val="000000"/>
              </a:solidFill>
              <a:effectLst/>
              <a:uFillTx/>
              <a:latin typeface="Arial"/>
            </a:endParaRPr>
          </a:p>
        </p:txBody>
      </p:sp>
      <p:sp>
        <p:nvSpPr>
          <p:cNvPr id="289" name="Text 6"/>
          <p:cNvSpPr/>
          <p:nvPr/>
        </p:nvSpPr>
        <p:spPr>
          <a:xfrm>
            <a:off x="777240" y="3474720"/>
            <a:ext cx="5394600" cy="1005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080" b="0" u="none" strike="noStrike">
                <a:solidFill>
                  <a:srgbClr val="CBD3F0"/>
                </a:solidFill>
                <a:effectLst/>
                <a:uFillTx/>
                <a:latin typeface="Calibri"/>
                <a:ea typeface="Calibri"/>
              </a:rPr>
              <a:t>y = vraie étiquette (0 ou 1), p = probabilité prédite pour la classe 1. Pour l'ensemble d'entraînement, on fait la moyenne des log losses.</a:t>
            </a:r>
            <a:endParaRPr lang="fr-FR" sz="1080" b="0" u="none" strike="noStrike">
              <a:solidFill>
                <a:srgbClr val="000000"/>
              </a:solidFill>
              <a:effectLst/>
              <a:uFillTx/>
              <a:latin typeface="Arial"/>
            </a:endParaRPr>
          </a:p>
        </p:txBody>
      </p:sp>
      <p:sp>
        <p:nvSpPr>
          <p:cNvPr id="290" name="Shape 7"/>
          <p:cNvSpPr/>
          <p:nvPr/>
        </p:nvSpPr>
        <p:spPr>
          <a:xfrm>
            <a:off x="548640" y="4709160"/>
            <a:ext cx="5851800" cy="1508400"/>
          </a:xfrm>
          <a:prstGeom prst="roundRect">
            <a:avLst>
              <a:gd name="adj" fmla="val 4848"/>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291" name="Text 8"/>
          <p:cNvSpPr/>
          <p:nvPr/>
        </p:nvSpPr>
        <p:spPr>
          <a:xfrm>
            <a:off x="777240" y="4709160"/>
            <a:ext cx="5394600" cy="1508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080" b="1" u="none" strike="noStrike">
                <a:solidFill>
                  <a:srgbClr val="F39C12"/>
                </a:solidFill>
                <a:effectLst/>
                <a:uFillTx/>
                <a:latin typeface="Calibri"/>
                <a:ea typeface="Calibri"/>
              </a:rPr>
              <a:t>Erreur fréquente à éviter : </a:t>
            </a:r>
            <a:r>
              <a:rPr lang="en-US" sz="1080" b="0" u="none" strike="noStrike">
                <a:solidFill>
                  <a:srgbClr val="1B1F3B"/>
                </a:solidFill>
                <a:effectLst/>
                <a:uFillTx/>
                <a:latin typeface="Calibri"/>
                <a:ea typeface="Calibri"/>
              </a:rPr>
              <a:t>utiliser la log loss avec des prédictions de classes (0/1) au lieu de probabilités. Attention aux logarithmes de 0 : on ajoute un epsilon pour éviter l'infini.</a:t>
            </a:r>
            <a:endParaRPr lang="fr-FR" sz="1080" b="0" u="none" strike="noStrike">
              <a:solidFill>
                <a:srgbClr val="000000"/>
              </a:solidFill>
              <a:effectLst/>
              <a:uFillTx/>
              <a:latin typeface="Arial"/>
            </a:endParaRPr>
          </a:p>
        </p:txBody>
      </p:sp>
      <p:pic>
        <p:nvPicPr>
          <p:cNvPr id="292" name="Image 0" descr="images/logloss.png"/>
          <p:cNvPicPr/>
          <p:nvPr/>
        </p:nvPicPr>
        <p:blipFill>
          <a:blip r:embed="rId1"/>
          <a:stretch/>
        </p:blipFill>
        <p:spPr>
          <a:xfrm>
            <a:off x="6675120" y="1417320"/>
            <a:ext cx="4983120" cy="3108600"/>
          </a:xfrm>
          <a:prstGeom prst="rect">
            <a:avLst/>
          </a:prstGeom>
          <a:noFill/>
          <a:ln w="0">
            <a:noFill/>
          </a:ln>
        </p:spPr>
      </p:pic>
      <p:sp>
        <p:nvSpPr>
          <p:cNvPr id="293" name="Text 9"/>
          <p:cNvSpPr/>
          <p:nvPr/>
        </p:nvSpPr>
        <p:spPr>
          <a:xfrm>
            <a:off x="6675120" y="4663440"/>
            <a:ext cx="4983120" cy="1554120"/>
          </a:xfrm>
          <a:prstGeom prst="rect">
            <a:avLst/>
          </a:prstGeom>
          <a:noFill/>
          <a:ln w="0">
            <a:noFill/>
          </a:ln>
        </p:spPr>
        <p:style>
          <a:lnRef idx="0"/>
          <a:fillRef idx="0"/>
          <a:effectRef idx="0"/>
          <a:fontRef idx="minor"/>
        </p:style>
        <p:txBody>
          <a:bodyPr lIns="90000" tIns="45000" rIns="90000" bIns="45000" anchor="t">
            <a:noAutofit/>
          </a:bodyPr>
          <a:p>
            <a:pPr defTabSz="914400">
              <a:lnSpc>
                <a:spcPct val="130000"/>
              </a:lnSpc>
              <a:tabLst>
                <a:tab pos="0" algn="l"/>
              </a:tabLst>
            </a:pPr>
            <a:r>
              <a:rPr lang="en-US" sz="1150" b="0" u="none" strike="noStrike">
                <a:solidFill>
                  <a:srgbClr val="1B1F3B"/>
                </a:solidFill>
                <a:effectLst/>
                <a:uFillTx/>
                <a:latin typeface="Calibri"/>
                <a:ea typeface="Calibri"/>
              </a:rPr>
              <a:t>Exemple : y=1, p=0.9 → LogLoss ≈ 0.105.  y=1, p=0.1 → LogLoss ≈ 2.303.</a:t>
            </a:r>
            <a:endParaRPr lang="fr-FR" sz="1150" b="0" u="none" strike="noStrike">
              <a:solidFill>
                <a:srgbClr val="000000"/>
              </a:solidFill>
              <a:effectLst/>
              <a:uFillTx/>
              <a:latin typeface="Arial"/>
            </a:endParaRPr>
          </a:p>
          <a:p>
            <a:pPr defTabSz="914400">
              <a:lnSpc>
                <a:spcPct val="130000"/>
              </a:lnSpc>
              <a:tabLst>
                <a:tab pos="0" algn="l"/>
              </a:tabLst>
            </a:pPr>
            <a:r>
              <a:rPr lang="en-US" sz="1150" b="0" u="none" strike="noStrike">
                <a:solidFill>
                  <a:srgbClr val="1B1F3B"/>
                </a:solidFill>
                <a:effectLst/>
                <a:uFillTx/>
                <a:latin typeface="Calibri"/>
                <a:ea typeface="Calibri"/>
              </a:rPr>
              <a:t>Plus le modèle est confiant et correct, plus la perte est faible.</a:t>
            </a:r>
            <a:endParaRPr lang="fr-FR" sz="1150" b="0" u="none" strike="noStrike">
              <a:solidFill>
                <a:srgbClr val="000000"/>
              </a:solidFill>
              <a:effectLst/>
              <a:uFillTx/>
              <a:latin typeface="Arial"/>
            </a:endParaRPr>
          </a:p>
        </p:txBody>
      </p:sp>
      <p:sp>
        <p:nvSpPr>
          <p:cNvPr id="294" name="Text 10"/>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22</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5"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11H00 – 11H45 · RÉGRESSION LOGISTIQUE</a:t>
            </a:r>
            <a:endParaRPr lang="fr-FR" sz="1200" b="0" u="none" strike="noStrike">
              <a:solidFill>
                <a:srgbClr val="000000"/>
              </a:solidFill>
              <a:effectLst/>
              <a:uFillTx/>
              <a:latin typeface="Arial"/>
            </a:endParaRPr>
          </a:p>
        </p:txBody>
      </p:sp>
      <p:sp>
        <p:nvSpPr>
          <p:cNvPr id="296"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Descente de gradient expliquée intuitivement</a:t>
            </a:r>
            <a:endParaRPr lang="fr-FR" sz="3000" b="0" u="none" strike="noStrike">
              <a:solidFill>
                <a:srgbClr val="000000"/>
              </a:solidFill>
              <a:effectLst/>
              <a:uFillTx/>
              <a:latin typeface="Arial"/>
            </a:endParaRPr>
          </a:p>
        </p:txBody>
      </p:sp>
      <p:sp>
        <p:nvSpPr>
          <p:cNvPr id="297" name="Text 2"/>
          <p:cNvSpPr/>
          <p:nvPr/>
        </p:nvSpPr>
        <p:spPr>
          <a:xfrm>
            <a:off x="548640" y="1417320"/>
            <a:ext cx="5851800" cy="2011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25000"/>
              </a:lnSpc>
              <a:tabLst>
                <a:tab pos="0" algn="l"/>
              </a:tabLst>
            </a:pPr>
            <a:r>
              <a:rPr lang="en-US" sz="1230" b="0" u="none" strike="noStrike">
                <a:solidFill>
                  <a:srgbClr val="1B1F3B"/>
                </a:solidFill>
                <a:effectLst/>
                <a:uFillTx/>
                <a:latin typeface="Calibri"/>
                <a:ea typeface="Calibri"/>
              </a:rPr>
              <a:t>La descente de gradient est une méthode d'optimisation pour trouver les coefficients β qui minimisent la log loss. Imaginez que vous êtes dans une vallée (la fonction de coût) et que vous voulez atteindre le point le plus bas. Vous regardez autour de vous, trouvez la direction de la plus forte pente descendante, et faites un petit pas dans cette direction. Vous répétez jusqu'à arriver en bas.</a:t>
            </a:r>
            <a:endParaRPr lang="fr-FR" sz="1230" b="0" u="none" strike="noStrike">
              <a:solidFill>
                <a:srgbClr val="000000"/>
              </a:solidFill>
              <a:effectLst/>
              <a:uFillTx/>
              <a:latin typeface="Arial"/>
            </a:endParaRPr>
          </a:p>
        </p:txBody>
      </p:sp>
      <p:sp>
        <p:nvSpPr>
          <p:cNvPr id="298" name="Shape 3"/>
          <p:cNvSpPr/>
          <p:nvPr/>
        </p:nvSpPr>
        <p:spPr>
          <a:xfrm>
            <a:off x="548640" y="3611880"/>
            <a:ext cx="5851800" cy="2605680"/>
          </a:xfrm>
          <a:prstGeom prst="roundRect">
            <a:avLst>
              <a:gd name="adj" fmla="val 2807"/>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299" name="Text 4"/>
          <p:cNvSpPr/>
          <p:nvPr/>
        </p:nvSpPr>
        <p:spPr>
          <a:xfrm>
            <a:off x="777240" y="3749040"/>
            <a:ext cx="530316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150" b="1" u="none" strike="noStrike">
                <a:solidFill>
                  <a:srgbClr val="F39C12"/>
                </a:solidFill>
                <a:effectLst/>
                <a:uFillTx/>
                <a:latin typeface="Calibri"/>
                <a:ea typeface="Calibri"/>
              </a:rPr>
              <a:t>EN MATHS</a:t>
            </a:r>
            <a:endParaRPr lang="fr-FR" sz="1150" b="0" u="none" strike="noStrike">
              <a:solidFill>
                <a:srgbClr val="000000"/>
              </a:solidFill>
              <a:effectLst/>
              <a:uFillTx/>
              <a:latin typeface="Arial"/>
            </a:endParaRPr>
          </a:p>
        </p:txBody>
      </p:sp>
      <p:sp>
        <p:nvSpPr>
          <p:cNvPr id="300" name="Text 5"/>
          <p:cNvSpPr/>
          <p:nvPr/>
        </p:nvSpPr>
        <p:spPr>
          <a:xfrm>
            <a:off x="777240" y="4069080"/>
            <a:ext cx="5394600" cy="2057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35000"/>
              </a:lnSpc>
              <a:tabLst>
                <a:tab pos="0" algn="l"/>
              </a:tabLst>
            </a:pPr>
            <a:r>
              <a:rPr lang="en-US" sz="1150" b="0" u="none" strike="noStrike">
                <a:solidFill>
                  <a:srgbClr val="FFFFFF"/>
                </a:solidFill>
                <a:effectLst/>
                <a:uFillTx/>
                <a:latin typeface="Consolas"/>
                <a:ea typeface="Consolas"/>
              </a:rPr>
              <a:t>• Calculer le gradient (dérivées partielles) de</a:t>
            </a:r>
            <a:endParaRPr lang="fr-FR" sz="1150" b="0" u="none" strike="noStrike">
              <a:solidFill>
                <a:srgbClr val="000000"/>
              </a:solidFill>
              <a:effectLst/>
              <a:uFillTx/>
              <a:latin typeface="Arial"/>
            </a:endParaRPr>
          </a:p>
          <a:p>
            <a:pPr defTabSz="914400">
              <a:lnSpc>
                <a:spcPct val="135000"/>
              </a:lnSpc>
              <a:tabLst>
                <a:tab pos="0" algn="l"/>
              </a:tabLst>
            </a:pPr>
            <a:r>
              <a:rPr lang="en-US" sz="1150" b="0" u="none" strike="noStrike">
                <a:solidFill>
                  <a:srgbClr val="FFFFFF"/>
                </a:solidFill>
                <a:effectLst/>
                <a:uFillTx/>
                <a:latin typeface="Consolas"/>
                <a:ea typeface="Consolas"/>
              </a:rPr>
              <a:t>  la fonction de coût par rapport à chaque β.</a:t>
            </a:r>
            <a:endParaRPr lang="fr-FR" sz="1150" b="0" u="none" strike="noStrike">
              <a:solidFill>
                <a:srgbClr val="000000"/>
              </a:solidFill>
              <a:effectLst/>
              <a:uFillTx/>
              <a:latin typeface="Arial"/>
            </a:endParaRPr>
          </a:p>
          <a:p>
            <a:pPr defTabSz="914400">
              <a:lnSpc>
                <a:spcPct val="135000"/>
              </a:lnSpc>
              <a:tabLst>
                <a:tab pos="0" algn="l"/>
              </a:tabLst>
            </a:pPr>
            <a:r>
              <a:rPr lang="en-US" sz="1150" b="0" u="none" strike="noStrike">
                <a:solidFill>
                  <a:srgbClr val="FFFFFF"/>
                </a:solidFill>
                <a:effectLst/>
                <a:uFillTx/>
                <a:latin typeface="Consolas"/>
                <a:ea typeface="Consolas"/>
              </a:rPr>
              <a:t>• Mettre à jour : βⱼ ← βⱼ − α · ∂LogLoss/∂βⱼ</a:t>
            </a:r>
            <a:endParaRPr lang="fr-FR" sz="1150" b="0" u="none" strike="noStrike">
              <a:solidFill>
                <a:srgbClr val="000000"/>
              </a:solidFill>
              <a:effectLst/>
              <a:uFillTx/>
              <a:latin typeface="Arial"/>
            </a:endParaRPr>
          </a:p>
          <a:p>
            <a:pPr defTabSz="914400">
              <a:lnSpc>
                <a:spcPct val="135000"/>
              </a:lnSpc>
              <a:tabLst>
                <a:tab pos="0" algn="l"/>
              </a:tabLst>
            </a:pPr>
            <a:r>
              <a:rPr lang="en-US" sz="1150" b="0" u="none" strike="noStrike">
                <a:solidFill>
                  <a:srgbClr val="FFFFFF"/>
                </a:solidFill>
                <a:effectLst/>
                <a:uFillTx/>
                <a:latin typeface="Consolas"/>
                <a:ea typeface="Consolas"/>
              </a:rPr>
              <a:t>  où α est le taux d'apprentissage (pas).</a:t>
            </a:r>
            <a:endParaRPr lang="fr-FR" sz="1150" b="0" u="none" strike="noStrike">
              <a:solidFill>
                <a:srgbClr val="000000"/>
              </a:solidFill>
              <a:effectLst/>
              <a:uFillTx/>
              <a:latin typeface="Arial"/>
            </a:endParaRPr>
          </a:p>
          <a:p>
            <a:pPr defTabSz="914400">
              <a:lnSpc>
                <a:spcPct val="135000"/>
              </a:lnSpc>
              <a:tabLst>
                <a:tab pos="0" algn="l"/>
              </a:tabLst>
            </a:pPr>
            <a:r>
              <a:rPr lang="en-US" sz="1150" b="0" u="none" strike="noStrike">
                <a:solidFill>
                  <a:srgbClr val="FFFFFF"/>
                </a:solidFill>
                <a:effectLst/>
                <a:uFillTx/>
                <a:latin typeface="Consolas"/>
                <a:ea typeface="Consolas"/>
              </a:rPr>
              <a:t>• Répéter jusqu'à convergence.</a:t>
            </a:r>
            <a:endParaRPr lang="fr-FR" sz="1150" b="0" u="none" strike="noStrike">
              <a:solidFill>
                <a:srgbClr val="000000"/>
              </a:solidFill>
              <a:effectLst/>
              <a:uFillTx/>
              <a:latin typeface="Arial"/>
            </a:endParaRPr>
          </a:p>
        </p:txBody>
      </p:sp>
      <p:pic>
        <p:nvPicPr>
          <p:cNvPr id="301" name="Image 0" descr="images/gradient_descent.png"/>
          <p:cNvPicPr/>
          <p:nvPr/>
        </p:nvPicPr>
        <p:blipFill>
          <a:blip r:embed="rId1"/>
          <a:stretch/>
        </p:blipFill>
        <p:spPr>
          <a:xfrm>
            <a:off x="6675120" y="1417320"/>
            <a:ext cx="4983120" cy="3108600"/>
          </a:xfrm>
          <a:prstGeom prst="rect">
            <a:avLst/>
          </a:prstGeom>
          <a:noFill/>
          <a:ln w="0">
            <a:noFill/>
          </a:ln>
        </p:spPr>
      </p:pic>
      <p:sp>
        <p:nvSpPr>
          <p:cNvPr id="302" name="Shape 6"/>
          <p:cNvSpPr/>
          <p:nvPr/>
        </p:nvSpPr>
        <p:spPr>
          <a:xfrm>
            <a:off x="6675120" y="4663440"/>
            <a:ext cx="4983120" cy="1554120"/>
          </a:xfrm>
          <a:prstGeom prst="roundRect">
            <a:avLst>
              <a:gd name="adj" fmla="val 4706"/>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03" name="Text 7"/>
          <p:cNvSpPr/>
          <p:nvPr/>
        </p:nvSpPr>
        <p:spPr>
          <a:xfrm>
            <a:off x="6903720" y="4663440"/>
            <a:ext cx="4525920" cy="1554120"/>
          </a:xfrm>
          <a:prstGeom prst="rect">
            <a:avLst/>
          </a:prstGeom>
          <a:noFill/>
          <a:ln w="0">
            <a:noFill/>
          </a:ln>
        </p:spPr>
        <p:style>
          <a:lnRef idx="0"/>
          <a:fillRef idx="0"/>
          <a:effectRef idx="0"/>
          <a:fontRef idx="minor"/>
        </p:style>
        <p:txBody>
          <a:bodyPr lIns="90000" tIns="45000" rIns="90000" bIns="45000" anchor="ctr">
            <a:noAutofit/>
          </a:bodyPr>
          <a:p>
            <a:pPr defTabSz="914400">
              <a:lnSpc>
                <a:spcPct val="122000"/>
              </a:lnSpc>
              <a:tabLst>
                <a:tab pos="0" algn="l"/>
              </a:tabLst>
            </a:pPr>
            <a:r>
              <a:rPr lang="en-US" sz="1080" b="0" u="none" strike="noStrike">
                <a:solidFill>
                  <a:srgbClr val="1B1F3B"/>
                </a:solidFill>
                <a:effectLst/>
                <a:uFillTx/>
                <a:latin typeface="Calibri"/>
                <a:ea typeface="Calibri"/>
              </a:rPr>
              <a:t>Interprétation des coefficients après entraînement : βⱼ positif → la probabilité augmente avec xⱼ. βⱼ négatif → elle diminue. e^βⱼ = rapport de cotes (odds ratio).</a:t>
            </a:r>
            <a:endParaRPr lang="fr-FR" sz="1080" b="0" u="none" strike="noStrike">
              <a:solidFill>
                <a:srgbClr val="000000"/>
              </a:solidFill>
              <a:effectLst/>
              <a:uFillTx/>
              <a:latin typeface="Arial"/>
            </a:endParaRPr>
          </a:p>
        </p:txBody>
      </p:sp>
      <p:sp>
        <p:nvSpPr>
          <p:cNvPr id="304" name="Text 8"/>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23</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5"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11H45 – 12H00 · COMPARAISON ET CONCLUSION DU MATIN</a:t>
            </a:r>
            <a:endParaRPr lang="fr-FR" sz="1200" b="0" u="none" strike="noStrike">
              <a:solidFill>
                <a:srgbClr val="000000"/>
              </a:solidFill>
              <a:effectLst/>
              <a:uFillTx/>
              <a:latin typeface="Arial"/>
            </a:endParaRPr>
          </a:p>
        </p:txBody>
      </p:sp>
      <p:sp>
        <p:nvSpPr>
          <p:cNvPr id="306"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Tableau comparatif</a:t>
            </a:r>
            <a:endParaRPr lang="fr-FR" sz="3000" b="0" u="none" strike="noStrike">
              <a:solidFill>
                <a:srgbClr val="000000"/>
              </a:solidFill>
              <a:effectLst/>
              <a:uFillTx/>
              <a:latin typeface="Arial"/>
            </a:endParaRPr>
          </a:p>
        </p:txBody>
      </p:sp>
      <p:graphicFrame>
        <p:nvGraphicFramePr>
          <p:cNvPr id="307" name="Table 0"/>
          <p:cNvGraphicFramePr/>
          <p:nvPr/>
        </p:nvGraphicFramePr>
        <p:xfrm>
          <a:off x="548640" y="1417320"/>
          <a:ext cx="11063880" cy="4663080"/>
        </p:xfrm>
        <a:graphic>
          <a:graphicData uri="http://schemas.openxmlformats.org/drawingml/2006/table">
            <a:tbl>
              <a:tblPr/>
              <a:tblGrid>
                <a:gridCol w="2377440"/>
                <a:gridCol w="4343400"/>
                <a:gridCol w="4343400"/>
              </a:tblGrid>
              <a:tr h="518040">
                <a:tc>
                  <a:txBody>
                    <a:bodyPr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Critère</a:t>
                      </a:r>
                      <a:endParaRPr lang="fr-FR" sz="1150" b="0" u="none" strike="noStrike">
                        <a:solidFill>
                          <a:srgbClr val="FFFFFF"/>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Arbre de décision</a:t>
                      </a:r>
                      <a:endParaRPr lang="fr-FR" sz="1150" b="0" u="none" strike="noStrike">
                        <a:solidFill>
                          <a:srgbClr val="FFFFFF"/>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1E2761"/>
                    </a:solidFill>
                  </a:tcPr>
                </a:tc>
                <a:tc>
                  <a:txBody>
                    <a:bodyPr anchor="ctr">
                      <a:noAutofit/>
                    </a:bodyPr>
                    <a:p>
                      <a:pPr defTabSz="914400">
                        <a:lnSpc>
                          <a:spcPct val="100000"/>
                        </a:lnSpc>
                        <a:tabLst>
                          <a:tab pos="0" algn="l"/>
                        </a:tabLst>
                      </a:pPr>
                      <a:r>
                        <a:rPr lang="en-US" sz="1150" b="1" u="none" strike="noStrike">
                          <a:solidFill>
                            <a:srgbClr val="FFFFFF"/>
                          </a:solidFill>
                          <a:effectLst/>
                          <a:uFillTx/>
                          <a:latin typeface="Calibri"/>
                          <a:ea typeface="Calibri"/>
                        </a:rPr>
                        <a:t>Régression logistique</a:t>
                      </a:r>
                      <a:endParaRPr lang="fr-FR" sz="1150" b="0" u="none" strike="noStrike">
                        <a:solidFill>
                          <a:srgbClr val="FFFFFF"/>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1E2761"/>
                    </a:solidFill>
                  </a:tcPr>
                </a:tc>
              </a:tr>
              <a:tr h="518040">
                <a:tc>
                  <a:txBody>
                    <a:bodyPr anchor="ctr">
                      <a:noAutofit/>
                    </a:bodyPr>
                    <a:p>
                      <a:pPr defTabSz="914400">
                        <a:lnSpc>
                          <a:spcPct val="100000"/>
                        </a:lnSpc>
                        <a:tabLst>
                          <a:tab pos="0" algn="l"/>
                        </a:tabLst>
                      </a:pPr>
                      <a:r>
                        <a:rPr lang="en-US" sz="1030" b="1" u="none" strike="noStrike">
                          <a:solidFill>
                            <a:srgbClr val="1E2761"/>
                          </a:solidFill>
                          <a:effectLst/>
                          <a:uFillTx/>
                          <a:latin typeface="Calibri"/>
                          <a:ea typeface="Calibri"/>
                        </a:rPr>
                        <a:t>Type de frontière</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Morceaux constants, parallèles aux axes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Linéaire (droite / plan)</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518040">
                <a:tc>
                  <a:txBody>
                    <a:bodyPr anchor="ctr">
                      <a:noAutofit/>
                    </a:bodyPr>
                    <a:p>
                      <a:pPr defTabSz="914400">
                        <a:lnSpc>
                          <a:spcPct val="100000"/>
                        </a:lnSpc>
                        <a:tabLst>
                          <a:tab pos="0" algn="l"/>
                        </a:tabLst>
                      </a:pPr>
                      <a:r>
                        <a:rPr lang="en-US" sz="1030" b="1" u="none" strike="noStrike">
                          <a:solidFill>
                            <a:srgbClr val="1E2761"/>
                          </a:solidFill>
                          <a:effectLst/>
                          <a:uFillTx/>
                          <a:latin typeface="Calibri"/>
                          <a:ea typeface="Calibri"/>
                        </a:rPr>
                        <a:t>Interprétabilité</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Très facile (règles si-alors)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Moyenne (coefficients, odds ratios)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r h="518040">
                <a:tc>
                  <a:txBody>
                    <a:bodyPr anchor="ctr">
                      <a:noAutofit/>
                    </a:bodyPr>
                    <a:p>
                      <a:pPr defTabSz="914400">
                        <a:lnSpc>
                          <a:spcPct val="100000"/>
                        </a:lnSpc>
                        <a:tabLst>
                          <a:tab pos="0" algn="l"/>
                        </a:tabLst>
                      </a:pPr>
                      <a:r>
                        <a:rPr lang="en-US" sz="1030" b="1" u="none" strike="noStrike">
                          <a:solidFill>
                            <a:srgbClr val="1E2761"/>
                          </a:solidFill>
                          <a:effectLst/>
                          <a:uFillTx/>
                          <a:latin typeface="Calibri"/>
                          <a:ea typeface="Calibri"/>
                        </a:rPr>
                        <a:t>Relations non linéaires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Naturelle (divisions successives)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Nécessite transformation des variables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518040">
                <a:tc>
                  <a:txBody>
                    <a:bodyPr anchor="ctr">
                      <a:noAutofit/>
                    </a:bodyPr>
                    <a:p>
                      <a:pPr defTabSz="914400">
                        <a:lnSpc>
                          <a:spcPct val="100000"/>
                        </a:lnSpc>
                        <a:tabLst>
                          <a:tab pos="0" algn="l"/>
                        </a:tabLst>
                      </a:pPr>
                      <a:r>
                        <a:rPr lang="en-US" sz="1030" b="1" u="none" strike="noStrike">
                          <a:solidFill>
                            <a:srgbClr val="1E2761"/>
                          </a:solidFill>
                          <a:effectLst/>
                          <a:uFillTx/>
                          <a:latin typeface="Calibri"/>
                          <a:ea typeface="Calibri"/>
                        </a:rPr>
                        <a:t>Sensibilité aux outliers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Faible</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Plus sensible</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r h="518040">
                <a:tc>
                  <a:txBody>
                    <a:bodyPr anchor="ctr">
                      <a:noAutofit/>
                    </a:bodyPr>
                    <a:p>
                      <a:pPr defTabSz="914400">
                        <a:lnSpc>
                          <a:spcPct val="100000"/>
                        </a:lnSpc>
                        <a:tabLst>
                          <a:tab pos="0" algn="l"/>
                        </a:tabLst>
                      </a:pPr>
                      <a:r>
                        <a:rPr lang="en-US" sz="1030" b="1" u="none" strike="noStrike">
                          <a:solidFill>
                            <a:srgbClr val="1E2761"/>
                          </a:solidFill>
                          <a:effectLst/>
                          <a:uFillTx/>
                          <a:latin typeface="Calibri"/>
                          <a:ea typeface="Calibri"/>
                        </a:rPr>
                        <a:t>Données manquantes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Peut les gérer implicitement</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Doit les traiter avant</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518040">
                <a:tc>
                  <a:txBody>
                    <a:bodyPr anchor="ctr">
                      <a:noAutofit/>
                    </a:bodyPr>
                    <a:p>
                      <a:pPr defTabSz="914400">
                        <a:lnSpc>
                          <a:spcPct val="100000"/>
                        </a:lnSpc>
                        <a:tabLst>
                          <a:tab pos="0" algn="l"/>
                        </a:tabLst>
                      </a:pPr>
                      <a:r>
                        <a:rPr lang="en-US" sz="1030" b="1" u="none" strike="noStrike">
                          <a:solidFill>
                            <a:srgbClr val="1E2761"/>
                          </a:solidFill>
                          <a:effectLst/>
                          <a:uFillTx/>
                          <a:latin typeface="Calibri"/>
                          <a:ea typeface="Calibri"/>
                        </a:rPr>
                        <a:t>Surapprentissage</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Risque si arbre profond</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Moindre, mais possible</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r h="518040">
                <a:tc>
                  <a:txBody>
                    <a:bodyPr anchor="ctr">
                      <a:noAutofit/>
                    </a:bodyPr>
                    <a:p>
                      <a:pPr defTabSz="914400">
                        <a:lnSpc>
                          <a:spcPct val="100000"/>
                        </a:lnSpc>
                        <a:tabLst>
                          <a:tab pos="0" algn="l"/>
                        </a:tabLst>
                      </a:pPr>
                      <a:r>
                        <a:rPr lang="en-US" sz="1030" b="1" u="none" strike="noStrike">
                          <a:solidFill>
                            <a:srgbClr val="1E2761"/>
                          </a:solidFill>
                          <a:effectLst/>
                          <a:uFillTx/>
                          <a:latin typeface="Calibri"/>
                          <a:ea typeface="Calibri"/>
                        </a:rPr>
                        <a:t>Temps d'entraînement</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Rapide</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Très rapide</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4F5F9"/>
                    </a:solidFill>
                  </a:tcPr>
                </a:tc>
              </a:tr>
              <a:tr h="518040">
                <a:tc>
                  <a:txBody>
                    <a:bodyPr anchor="ctr">
                      <a:noAutofit/>
                    </a:bodyPr>
                    <a:p>
                      <a:pPr defTabSz="914400">
                        <a:lnSpc>
                          <a:spcPct val="100000"/>
                        </a:lnSpc>
                        <a:tabLst>
                          <a:tab pos="0" algn="l"/>
                        </a:tabLst>
                      </a:pPr>
                      <a:r>
                        <a:rPr lang="en-US" sz="1030" b="1" u="none" strike="noStrike">
                          <a:solidFill>
                            <a:srgbClr val="1E2761"/>
                          </a:solidFill>
                          <a:effectLst/>
                          <a:uFillTx/>
                          <a:latin typeface="Calibri"/>
                          <a:ea typeface="Calibri"/>
                        </a:rPr>
                        <a:t>Utilisation typique</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Données hétérogènes, besoin d'explicabilité</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c>
                  <a:txBody>
                    <a:bodyPr anchor="ctr">
                      <a:noAutofit/>
                    </a:bodyPr>
                    <a:p>
                      <a:pPr defTabSz="914400">
                        <a:lnSpc>
                          <a:spcPct val="100000"/>
                        </a:lnSpc>
                        <a:tabLst>
                          <a:tab pos="0" algn="l"/>
                        </a:tabLst>
                      </a:pPr>
                      <a:r>
                        <a:rPr lang="en-US" sz="1030" b="0" u="none" strike="noStrike">
                          <a:solidFill>
                            <a:srgbClr val="1B1F3B"/>
                          </a:solidFill>
                          <a:effectLst/>
                          <a:uFillTx/>
                          <a:latin typeface="Calibri"/>
                          <a:ea typeface="Calibri"/>
                        </a:rPr>
                        <a:t>Données relativement linéaires, probabilités calibrées</a:t>
                      </a:r>
                      <a:endParaRPr lang="fr-FR" sz="1030" b="0" u="none" strike="noStrike">
                        <a:solidFill>
                          <a:srgbClr val="000000"/>
                        </a:solidFill>
                        <a:effectLst/>
                        <a:uFillTx/>
                        <a:latin typeface="Arial"/>
                      </a:endParaRPr>
                    </a:p>
                  </a:txBody>
                  <a:tcPr anchor="ctr" marL="91440" marR="91440" marT="45720" marB="45720">
                    <a:lnL w="7200">
                      <a:solidFill>
                        <a:srgbClr val="E4E6F0"/>
                      </a:solidFill>
                      <a:prstDash val="solid"/>
                    </a:lnL>
                    <a:lnR w="7200">
                      <a:solidFill>
                        <a:srgbClr val="E4E6F0"/>
                      </a:solidFill>
                      <a:prstDash val="solid"/>
                    </a:lnR>
                    <a:lnT w="7200">
                      <a:solidFill>
                        <a:srgbClr val="E4E6F0"/>
                      </a:solidFill>
                      <a:prstDash val="solid"/>
                    </a:lnT>
                    <a:lnB w="7200">
                      <a:solidFill>
                        <a:srgbClr val="E4E6F0"/>
                      </a:solidFill>
                      <a:prstDash val="solid"/>
                    </a:lnB>
                    <a:solidFill>
                      <a:srgbClr val="FFFFFF"/>
                    </a:solidFill>
                  </a:tcPr>
                </a:tc>
              </a:tr>
            </a:tbl>
          </a:graphicData>
        </a:graphic>
      </p:graphicFrame>
      <p:sp>
        <p:nvSpPr>
          <p:cNvPr id="308" name="Text 2"/>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24</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309"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11H45 – 12H00 · RÉSUMÉ INTERMÉDIAIRE</a:t>
            </a:r>
            <a:endParaRPr lang="fr-FR" sz="1200" b="0" u="none" strike="noStrike">
              <a:solidFill>
                <a:srgbClr val="FFFFFF"/>
              </a:solidFill>
              <a:effectLst/>
              <a:uFillTx/>
              <a:latin typeface="Arial"/>
            </a:endParaRPr>
          </a:p>
        </p:txBody>
      </p:sp>
      <p:sp>
        <p:nvSpPr>
          <p:cNvPr id="310"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Ce qu'il faut retenir de la matinée</a:t>
            </a:r>
            <a:endParaRPr lang="fr-FR" sz="3000" b="0" u="none" strike="noStrike">
              <a:solidFill>
                <a:srgbClr val="FFFFFF"/>
              </a:solidFill>
              <a:effectLst/>
              <a:uFillTx/>
              <a:latin typeface="Arial"/>
            </a:endParaRPr>
          </a:p>
        </p:txBody>
      </p:sp>
      <p:sp>
        <p:nvSpPr>
          <p:cNvPr id="311" name="Shape 2"/>
          <p:cNvSpPr/>
          <p:nvPr/>
        </p:nvSpPr>
        <p:spPr>
          <a:xfrm>
            <a:off x="548640" y="1737360"/>
            <a:ext cx="11063880" cy="959760"/>
          </a:xfrm>
          <a:prstGeom prst="roundRect">
            <a:avLst>
              <a:gd name="adj" fmla="val 761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12" name="Shape 3"/>
          <p:cNvSpPr/>
          <p:nvPr/>
        </p:nvSpPr>
        <p:spPr>
          <a:xfrm>
            <a:off x="777240" y="1993320"/>
            <a:ext cx="456840" cy="45684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13" name="Text 4"/>
          <p:cNvSpPr/>
          <p:nvPr/>
        </p:nvSpPr>
        <p:spPr>
          <a:xfrm>
            <a:off x="777240" y="1993320"/>
            <a:ext cx="456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B1F3B"/>
                </a:solidFill>
                <a:effectLst/>
                <a:uFillTx/>
                <a:latin typeface="Calibri"/>
                <a:ea typeface="Calibri"/>
              </a:rPr>
              <a:t>1</a:t>
            </a:r>
            <a:endParaRPr lang="fr-FR" sz="1400" b="0" u="none" strike="noStrike">
              <a:solidFill>
                <a:srgbClr val="FFFFFF"/>
              </a:solidFill>
              <a:effectLst/>
              <a:uFillTx/>
              <a:latin typeface="Arial"/>
            </a:endParaRPr>
          </a:p>
        </p:txBody>
      </p:sp>
      <p:sp>
        <p:nvSpPr>
          <p:cNvPr id="314" name="Text 5"/>
          <p:cNvSpPr/>
          <p:nvPr/>
        </p:nvSpPr>
        <p:spPr>
          <a:xfrm>
            <a:off x="1463040" y="1737360"/>
            <a:ext cx="9966600" cy="959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FFFFFF"/>
                </a:solidFill>
                <a:effectLst/>
                <a:uFillTx/>
                <a:latin typeface="Calibri"/>
                <a:ea typeface="Calibri"/>
              </a:rPr>
              <a:t>L'entropie mesure l'incertitude.</a:t>
            </a:r>
            <a:endParaRPr lang="fr-FR" sz="1300" b="0" u="none" strike="noStrike">
              <a:solidFill>
                <a:srgbClr val="FFFFFF"/>
              </a:solidFill>
              <a:effectLst/>
              <a:uFillTx/>
              <a:latin typeface="Arial"/>
            </a:endParaRPr>
          </a:p>
        </p:txBody>
      </p:sp>
      <p:sp>
        <p:nvSpPr>
          <p:cNvPr id="315" name="Shape 6"/>
          <p:cNvSpPr/>
          <p:nvPr/>
        </p:nvSpPr>
        <p:spPr>
          <a:xfrm>
            <a:off x="548640" y="2834640"/>
            <a:ext cx="11063880" cy="959760"/>
          </a:xfrm>
          <a:prstGeom prst="roundRect">
            <a:avLst>
              <a:gd name="adj" fmla="val 761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16" name="Shape 7"/>
          <p:cNvSpPr/>
          <p:nvPr/>
        </p:nvSpPr>
        <p:spPr>
          <a:xfrm>
            <a:off x="777240" y="3090600"/>
            <a:ext cx="456840" cy="45684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17" name="Text 8"/>
          <p:cNvSpPr/>
          <p:nvPr/>
        </p:nvSpPr>
        <p:spPr>
          <a:xfrm>
            <a:off x="777240" y="3090600"/>
            <a:ext cx="456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B1F3B"/>
                </a:solidFill>
                <a:effectLst/>
                <a:uFillTx/>
                <a:latin typeface="Calibri"/>
                <a:ea typeface="Calibri"/>
              </a:rPr>
              <a:t>2</a:t>
            </a:r>
            <a:endParaRPr lang="fr-FR" sz="1400" b="0" u="none" strike="noStrike">
              <a:solidFill>
                <a:srgbClr val="FFFFFF"/>
              </a:solidFill>
              <a:effectLst/>
              <a:uFillTx/>
              <a:latin typeface="Arial"/>
            </a:endParaRPr>
          </a:p>
        </p:txBody>
      </p:sp>
      <p:sp>
        <p:nvSpPr>
          <p:cNvPr id="318" name="Text 9"/>
          <p:cNvSpPr/>
          <p:nvPr/>
        </p:nvSpPr>
        <p:spPr>
          <a:xfrm>
            <a:off x="1463040" y="2834640"/>
            <a:ext cx="9966600" cy="959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FFFFFF"/>
                </a:solidFill>
                <a:effectLst/>
                <a:uFillTx/>
                <a:latin typeface="Calibri"/>
                <a:ea typeface="Calibri"/>
              </a:rPr>
              <a:t>Le gain d'information mesure la réduction d'incertitude apportée par une question.</a:t>
            </a:r>
            <a:endParaRPr lang="fr-FR" sz="1300" b="0" u="none" strike="noStrike">
              <a:solidFill>
                <a:srgbClr val="FFFFFF"/>
              </a:solidFill>
              <a:effectLst/>
              <a:uFillTx/>
              <a:latin typeface="Arial"/>
            </a:endParaRPr>
          </a:p>
        </p:txBody>
      </p:sp>
      <p:sp>
        <p:nvSpPr>
          <p:cNvPr id="319" name="Shape 10"/>
          <p:cNvSpPr/>
          <p:nvPr/>
        </p:nvSpPr>
        <p:spPr>
          <a:xfrm>
            <a:off x="548640" y="3931920"/>
            <a:ext cx="11063880" cy="959760"/>
          </a:xfrm>
          <a:prstGeom prst="roundRect">
            <a:avLst>
              <a:gd name="adj" fmla="val 761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20" name="Shape 11"/>
          <p:cNvSpPr/>
          <p:nvPr/>
        </p:nvSpPr>
        <p:spPr>
          <a:xfrm>
            <a:off x="777240" y="4187880"/>
            <a:ext cx="456840" cy="45684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21" name="Text 12"/>
          <p:cNvSpPr/>
          <p:nvPr/>
        </p:nvSpPr>
        <p:spPr>
          <a:xfrm>
            <a:off x="777240" y="4187880"/>
            <a:ext cx="456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B1F3B"/>
                </a:solidFill>
                <a:effectLst/>
                <a:uFillTx/>
                <a:latin typeface="Calibri"/>
                <a:ea typeface="Calibri"/>
              </a:rPr>
              <a:t>3</a:t>
            </a:r>
            <a:endParaRPr lang="fr-FR" sz="1400" b="0" u="none" strike="noStrike">
              <a:solidFill>
                <a:srgbClr val="FFFFFF"/>
              </a:solidFill>
              <a:effectLst/>
              <a:uFillTx/>
              <a:latin typeface="Arial"/>
            </a:endParaRPr>
          </a:p>
        </p:txBody>
      </p:sp>
      <p:sp>
        <p:nvSpPr>
          <p:cNvPr id="322" name="Text 13"/>
          <p:cNvSpPr/>
          <p:nvPr/>
        </p:nvSpPr>
        <p:spPr>
          <a:xfrm>
            <a:off x="1463040" y="3931920"/>
            <a:ext cx="9966600" cy="959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FFFFFF"/>
                </a:solidFill>
                <a:effectLst/>
                <a:uFillTx/>
                <a:latin typeface="Calibri"/>
                <a:ea typeface="Calibri"/>
              </a:rPr>
              <a:t>Un arbre de décision pose des questions successives pour classer, en choisissant à chaque étape la question la plus informative.</a:t>
            </a:r>
            <a:endParaRPr lang="fr-FR" sz="1300" b="0" u="none" strike="noStrike">
              <a:solidFill>
                <a:srgbClr val="FFFFFF"/>
              </a:solidFill>
              <a:effectLst/>
              <a:uFillTx/>
              <a:latin typeface="Arial"/>
            </a:endParaRPr>
          </a:p>
        </p:txBody>
      </p:sp>
      <p:sp>
        <p:nvSpPr>
          <p:cNvPr id="323" name="Shape 14"/>
          <p:cNvSpPr/>
          <p:nvPr/>
        </p:nvSpPr>
        <p:spPr>
          <a:xfrm>
            <a:off x="548640" y="5029200"/>
            <a:ext cx="11063880" cy="959760"/>
          </a:xfrm>
          <a:prstGeom prst="roundRect">
            <a:avLst>
              <a:gd name="adj" fmla="val 761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24" name="Shape 15"/>
          <p:cNvSpPr/>
          <p:nvPr/>
        </p:nvSpPr>
        <p:spPr>
          <a:xfrm>
            <a:off x="777240" y="5285160"/>
            <a:ext cx="456840" cy="45684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25" name="Text 16"/>
          <p:cNvSpPr/>
          <p:nvPr/>
        </p:nvSpPr>
        <p:spPr>
          <a:xfrm>
            <a:off x="777240" y="5285160"/>
            <a:ext cx="456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400" b="1" u="none" strike="noStrike">
                <a:solidFill>
                  <a:srgbClr val="1B1F3B"/>
                </a:solidFill>
                <a:effectLst/>
                <a:uFillTx/>
                <a:latin typeface="Calibri"/>
                <a:ea typeface="Calibri"/>
              </a:rPr>
              <a:t>4</a:t>
            </a:r>
            <a:endParaRPr lang="fr-FR" sz="1400" b="0" u="none" strike="noStrike">
              <a:solidFill>
                <a:srgbClr val="FFFFFF"/>
              </a:solidFill>
              <a:effectLst/>
              <a:uFillTx/>
              <a:latin typeface="Arial"/>
            </a:endParaRPr>
          </a:p>
        </p:txBody>
      </p:sp>
      <p:sp>
        <p:nvSpPr>
          <p:cNvPr id="326" name="Text 17"/>
          <p:cNvSpPr/>
          <p:nvPr/>
        </p:nvSpPr>
        <p:spPr>
          <a:xfrm>
            <a:off x="1463040" y="5029200"/>
            <a:ext cx="9966600" cy="959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0" u="none" strike="noStrike">
                <a:solidFill>
                  <a:srgbClr val="FFFFFF"/>
                </a:solidFill>
                <a:effectLst/>
                <a:uFillTx/>
                <a:latin typeface="Calibri"/>
                <a:ea typeface="Calibri"/>
              </a:rPr>
              <a:t>La régression logistique estime une probabilité via la sigmoïde d'une combinaison linéaire des variables, optimisée en minimisant la log loss par descente de gradient.</a:t>
            </a:r>
            <a:endParaRPr lang="fr-FR" sz="1300" b="0" u="none" strike="noStrike">
              <a:solidFill>
                <a:srgbClr val="FFFFFF"/>
              </a:solidFill>
              <a:effectLst/>
              <a:uFillTx/>
              <a:latin typeface="Arial"/>
            </a:endParaRPr>
          </a:p>
        </p:txBody>
      </p:sp>
      <p:sp>
        <p:nvSpPr>
          <p:cNvPr id="327" name="Text 18"/>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25</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328" name="Shape 0"/>
          <p:cNvSpPr/>
          <p:nvPr/>
        </p:nvSpPr>
        <p:spPr>
          <a:xfrm>
            <a:off x="9326880" y="-2011680"/>
            <a:ext cx="5486040" cy="54860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29" name="Text 1"/>
          <p:cNvSpPr/>
          <p:nvPr/>
        </p:nvSpPr>
        <p:spPr>
          <a:xfrm>
            <a:off x="822960" y="2286000"/>
            <a:ext cx="2742840" cy="1279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9000" b="1" u="none" strike="noStrike">
                <a:solidFill>
                  <a:srgbClr val="3A468F"/>
                </a:solidFill>
                <a:effectLst/>
                <a:uFillTx/>
                <a:latin typeface="Cambria"/>
                <a:ea typeface="Cambria"/>
              </a:rPr>
              <a:t>02</a:t>
            </a:r>
            <a:endParaRPr lang="fr-FR" sz="9000" b="0" u="none" strike="noStrike">
              <a:solidFill>
                <a:srgbClr val="FFFFFF"/>
              </a:solidFill>
              <a:effectLst/>
              <a:uFillTx/>
              <a:latin typeface="Arial"/>
            </a:endParaRPr>
          </a:p>
        </p:txBody>
      </p:sp>
      <p:sp>
        <p:nvSpPr>
          <p:cNvPr id="330" name="Text 2"/>
          <p:cNvSpPr/>
          <p:nvPr/>
        </p:nvSpPr>
        <p:spPr>
          <a:xfrm>
            <a:off x="822960" y="3291840"/>
            <a:ext cx="9143640" cy="1005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800" b="1" u="none" strike="noStrike">
                <a:solidFill>
                  <a:srgbClr val="F39C12"/>
                </a:solidFill>
                <a:effectLst/>
                <a:uFillTx/>
                <a:latin typeface="Cambria"/>
                <a:ea typeface="Cambria"/>
              </a:rPr>
              <a:t>APRÈS-MIDI — 13h30 à 16h30</a:t>
            </a:r>
            <a:endParaRPr lang="fr-FR" sz="3800" b="0" u="none" strike="noStrike">
              <a:solidFill>
                <a:srgbClr val="FFFFFF"/>
              </a:solidFill>
              <a:effectLst/>
              <a:uFillTx/>
              <a:latin typeface="Arial"/>
            </a:endParaRPr>
          </a:p>
        </p:txBody>
      </p:sp>
      <p:sp>
        <p:nvSpPr>
          <p:cNvPr id="331" name="Text 3"/>
          <p:cNvSpPr/>
          <p:nvPr/>
        </p:nvSpPr>
        <p:spPr>
          <a:xfrm>
            <a:off x="822960" y="4160520"/>
            <a:ext cx="8229240" cy="5482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CBD3F0"/>
                </a:solidFill>
                <a:effectLst/>
                <a:uFillTx/>
                <a:latin typeface="Calibri"/>
                <a:ea typeface="Calibri"/>
              </a:rPr>
              <a:t>Mise en pratique : implémentation Python, scikit-learn, visualisations et interprétation</a:t>
            </a:r>
            <a:endParaRPr lang="fr-FR" sz="15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2"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13H30 – 14H00 · MISE EN PLACE ET JEU DE DONNÉES</a:t>
            </a:r>
            <a:endParaRPr lang="fr-FR" sz="1200" b="0" u="none" strike="noStrike">
              <a:solidFill>
                <a:srgbClr val="000000"/>
              </a:solidFill>
              <a:effectLst/>
              <a:uFillTx/>
              <a:latin typeface="Arial"/>
            </a:endParaRPr>
          </a:p>
        </p:txBody>
      </p:sp>
      <p:sp>
        <p:nvSpPr>
          <p:cNvPr id="333"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Présentation du jeu de données</a:t>
            </a:r>
            <a:endParaRPr lang="fr-FR" sz="3000" b="0" u="none" strike="noStrike">
              <a:solidFill>
                <a:srgbClr val="000000"/>
              </a:solidFill>
              <a:effectLst/>
              <a:uFillTx/>
              <a:latin typeface="Arial"/>
            </a:endParaRPr>
          </a:p>
        </p:txBody>
      </p:sp>
      <p:sp>
        <p:nvSpPr>
          <p:cNvPr id="334" name="Text 2"/>
          <p:cNvSpPr/>
          <p:nvPr/>
        </p:nvSpPr>
        <p:spPr>
          <a:xfrm>
            <a:off x="548640" y="1508760"/>
            <a:ext cx="6309000" cy="1828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8000"/>
              </a:lnSpc>
              <a:tabLst>
                <a:tab pos="0" algn="l"/>
              </a:tabLst>
            </a:pPr>
            <a:r>
              <a:rPr lang="en-US" sz="1300" b="0" u="none" strike="noStrike">
                <a:solidFill>
                  <a:srgbClr val="1B1F3B"/>
                </a:solidFill>
                <a:effectLst/>
                <a:uFillTx/>
                <a:latin typeface="Calibri"/>
                <a:ea typeface="Calibri"/>
              </a:rPr>
              <a:t>Nous allons utiliser le jeu de données « Telco Customer Churn » (clients d'un opérateur télécom) qui contient des informations sur des clients et une colonne « Churn » indiquant s'ils se sont désabonnés (Yes/No). C'est un problème de classification binaire : prédire si un client va se désabonner.</a:t>
            </a:r>
            <a:endParaRPr lang="fr-FR" sz="1300" b="0" u="none" strike="noStrike">
              <a:solidFill>
                <a:srgbClr val="000000"/>
              </a:solidFill>
              <a:effectLst/>
              <a:uFillTx/>
              <a:latin typeface="Arial"/>
            </a:endParaRPr>
          </a:p>
        </p:txBody>
      </p:sp>
      <p:sp>
        <p:nvSpPr>
          <p:cNvPr id="335" name="Shape 3"/>
          <p:cNvSpPr/>
          <p:nvPr/>
        </p:nvSpPr>
        <p:spPr>
          <a:xfrm>
            <a:off x="548640" y="3566160"/>
            <a:ext cx="6309000" cy="2651400"/>
          </a:xfrm>
          <a:prstGeom prst="roundRect">
            <a:avLst>
              <a:gd name="adj" fmla="val 2759"/>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36" name="Text 4"/>
          <p:cNvSpPr/>
          <p:nvPr/>
        </p:nvSpPr>
        <p:spPr>
          <a:xfrm>
            <a:off x="777240" y="3703320"/>
            <a:ext cx="5486040" cy="273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F39C12"/>
                </a:solidFill>
                <a:effectLst/>
                <a:uFillTx/>
                <a:latin typeface="Calibri"/>
                <a:ea typeface="Calibri"/>
              </a:rPr>
              <a:t>ENVIRONNEMENT PYTHON</a:t>
            </a:r>
            <a:endParaRPr lang="fr-FR" sz="1200" b="0" u="none" strike="noStrike">
              <a:solidFill>
                <a:srgbClr val="000000"/>
              </a:solidFill>
              <a:effectLst/>
              <a:uFillTx/>
              <a:latin typeface="Arial"/>
            </a:endParaRPr>
          </a:p>
        </p:txBody>
      </p:sp>
      <p:sp>
        <p:nvSpPr>
          <p:cNvPr id="337" name="Text 5"/>
          <p:cNvSpPr/>
          <p:nvPr/>
        </p:nvSpPr>
        <p:spPr>
          <a:xfrm>
            <a:off x="777240" y="4023360"/>
            <a:ext cx="5851800" cy="2102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200" b="0" u="none" strike="noStrike">
                <a:solidFill>
                  <a:srgbClr val="1B1F3B"/>
                </a:solidFill>
                <a:effectLst/>
                <a:uFillTx/>
                <a:latin typeface="Calibri"/>
                <a:ea typeface="Calibri"/>
              </a:rPr>
              <a:t>Assurez-vous d'avoir Python 3 et les bibliothèques : pandas, numpy, matplotlib, scikit-learn.</a:t>
            </a:r>
            <a:endParaRPr lang="fr-FR" sz="1200" b="0" u="none" strike="noStrike">
              <a:solidFill>
                <a:srgbClr val="000000"/>
              </a:solidFill>
              <a:effectLst/>
              <a:uFillTx/>
              <a:latin typeface="Arial"/>
            </a:endParaRPr>
          </a:p>
          <a:p>
            <a:pPr defTabSz="914400">
              <a:lnSpc>
                <a:spcPct val="130000"/>
              </a:lnSpc>
              <a:tabLst>
                <a:tab pos="0" algn="l"/>
              </a:tabLst>
            </a:pPr>
            <a:endParaRPr lang="fr-FR" sz="1200" b="0" u="none" strike="noStrike">
              <a:solidFill>
                <a:srgbClr val="000000"/>
              </a:solidFill>
              <a:effectLst/>
              <a:uFillTx/>
              <a:latin typeface="Arial"/>
            </a:endParaRPr>
          </a:p>
          <a:p>
            <a:pPr defTabSz="914400">
              <a:lnSpc>
                <a:spcPct val="130000"/>
              </a:lnSpc>
              <a:tabLst>
                <a:tab pos="0" algn="l"/>
              </a:tabLst>
            </a:pPr>
            <a:r>
              <a:rPr lang="en-US" sz="1200" b="0" u="none" strike="noStrike">
                <a:solidFill>
                  <a:srgbClr val="1B1F3B"/>
                </a:solidFill>
                <a:effectLst/>
                <a:uFillTx/>
                <a:latin typeface="Calibri"/>
                <a:ea typeface="Calibri"/>
              </a:rPr>
              <a:t>Création du notebook : nous allons travailler dans un notebook Jupyter. Les blocs de code sont à exécuter dans l'ordre.</a:t>
            </a:r>
            <a:endParaRPr lang="fr-FR" sz="1200" b="0" u="none" strike="noStrike">
              <a:solidFill>
                <a:srgbClr val="000000"/>
              </a:solidFill>
              <a:effectLst/>
              <a:uFillTx/>
              <a:latin typeface="Arial"/>
            </a:endParaRPr>
          </a:p>
        </p:txBody>
      </p:sp>
      <p:sp>
        <p:nvSpPr>
          <p:cNvPr id="338" name="Shape 6"/>
          <p:cNvSpPr/>
          <p:nvPr/>
        </p:nvSpPr>
        <p:spPr>
          <a:xfrm>
            <a:off x="7223760" y="1508760"/>
            <a:ext cx="4434480" cy="4708800"/>
          </a:xfrm>
          <a:prstGeom prst="roundRect">
            <a:avLst>
              <a:gd name="adj" fmla="val 1649"/>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39" name="Shape 7"/>
          <p:cNvSpPr/>
          <p:nvPr/>
        </p:nvSpPr>
        <p:spPr>
          <a:xfrm>
            <a:off x="9052560" y="1874520"/>
            <a:ext cx="1691280" cy="594000"/>
          </a:xfrm>
          <a:prstGeom prst="roundRect">
            <a:avLst>
              <a:gd name="adj" fmla="val 12308"/>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40" name="Text 8"/>
          <p:cNvSpPr/>
          <p:nvPr/>
        </p:nvSpPr>
        <p:spPr>
          <a:xfrm>
            <a:off x="9052560" y="1874520"/>
            <a:ext cx="1691280" cy="5940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1" u="none" strike="noStrike">
                <a:solidFill>
                  <a:srgbClr val="1B1F3B"/>
                </a:solidFill>
                <a:effectLst/>
                <a:uFillTx/>
                <a:latin typeface="Cambria"/>
                <a:ea typeface="Cambria"/>
              </a:rPr>
              <a:t>DATA</a:t>
            </a:r>
            <a:endParaRPr lang="fr-FR" sz="2000" b="0" u="none" strike="noStrike">
              <a:solidFill>
                <a:srgbClr val="000000"/>
              </a:solidFill>
              <a:effectLst/>
              <a:uFillTx/>
              <a:latin typeface="Arial"/>
            </a:endParaRPr>
          </a:p>
        </p:txBody>
      </p:sp>
      <p:sp>
        <p:nvSpPr>
          <p:cNvPr id="341" name="Text 9"/>
          <p:cNvSpPr/>
          <p:nvPr/>
        </p:nvSpPr>
        <p:spPr>
          <a:xfrm>
            <a:off x="7223760" y="2880360"/>
            <a:ext cx="4434480" cy="8226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2000" b="1" u="none" strike="noStrike">
                <a:solidFill>
                  <a:srgbClr val="F39C12"/>
                </a:solidFill>
                <a:effectLst/>
                <a:uFillTx/>
                <a:latin typeface="Cambria"/>
                <a:ea typeface="Cambria"/>
              </a:rPr>
              <a:t>Telco Customer</a:t>
            </a:r>
            <a:endParaRPr lang="fr-FR" sz="2000" b="0" u="none" strike="noStrike">
              <a:solidFill>
                <a:srgbClr val="000000"/>
              </a:solidFill>
              <a:effectLst/>
              <a:uFillTx/>
              <a:latin typeface="Arial"/>
            </a:endParaRPr>
          </a:p>
          <a:p>
            <a:pPr algn="ctr" defTabSz="914400">
              <a:lnSpc>
                <a:spcPct val="100000"/>
              </a:lnSpc>
              <a:tabLst>
                <a:tab pos="0" algn="l"/>
              </a:tabLst>
            </a:pPr>
            <a:r>
              <a:rPr lang="en-US" sz="2000" b="1" u="none" strike="noStrike">
                <a:solidFill>
                  <a:srgbClr val="F39C12"/>
                </a:solidFill>
                <a:effectLst/>
                <a:uFillTx/>
                <a:latin typeface="Cambria"/>
                <a:ea typeface="Cambria"/>
              </a:rPr>
              <a:t>Churn Dataset</a:t>
            </a:r>
            <a:endParaRPr lang="fr-FR" sz="2000" b="0" u="none" strike="noStrike">
              <a:solidFill>
                <a:srgbClr val="000000"/>
              </a:solidFill>
              <a:effectLst/>
              <a:uFillTx/>
              <a:latin typeface="Arial"/>
            </a:endParaRPr>
          </a:p>
        </p:txBody>
      </p:sp>
      <p:sp>
        <p:nvSpPr>
          <p:cNvPr id="342" name="Text 10"/>
          <p:cNvSpPr/>
          <p:nvPr/>
        </p:nvSpPr>
        <p:spPr>
          <a:xfrm>
            <a:off x="7498080" y="3749040"/>
            <a:ext cx="3885840" cy="731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FFFFFF"/>
                </a:solidFill>
                <a:effectLst/>
                <a:uFillTx/>
                <a:latin typeface="Calibri"/>
                <a:ea typeface="Calibri"/>
              </a:rPr>
              <a:t>Variable cible : Churn (Yes / No)</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rgbClr val="FFFFFF"/>
                </a:solidFill>
                <a:effectLst/>
                <a:uFillTx/>
                <a:latin typeface="Calibri"/>
                <a:ea typeface="Calibri"/>
              </a:rPr>
              <a:t>Classification binaire</a:t>
            </a:r>
            <a:endParaRPr lang="fr-FR" sz="1250" b="0" u="none" strike="noStrike">
              <a:solidFill>
                <a:srgbClr val="000000"/>
              </a:solidFill>
              <a:effectLst/>
              <a:uFillTx/>
              <a:latin typeface="Arial"/>
            </a:endParaRPr>
          </a:p>
        </p:txBody>
      </p:sp>
      <p:sp>
        <p:nvSpPr>
          <p:cNvPr id="343" name="Text 11"/>
          <p:cNvSpPr/>
          <p:nvPr/>
        </p:nvSpPr>
        <p:spPr>
          <a:xfrm>
            <a:off x="7498080" y="5623560"/>
            <a:ext cx="3885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CBD3F0"/>
                </a:solidFill>
                <a:effectLst/>
                <a:uFillTx/>
                <a:latin typeface="Consolas"/>
                <a:ea typeface="Consolas"/>
              </a:rPr>
              <a:t>pandas · numpy · matplotlib · scikit-learn</a:t>
            </a:r>
            <a:endParaRPr lang="fr-FR" sz="1100" b="0" u="none" strike="noStrike">
              <a:solidFill>
                <a:srgbClr val="000000"/>
              </a:solidFill>
              <a:effectLst/>
              <a:uFillTx/>
              <a:latin typeface="Arial"/>
            </a:endParaRPr>
          </a:p>
        </p:txBody>
      </p:sp>
      <p:sp>
        <p:nvSpPr>
          <p:cNvPr id="344" name="Text 12"/>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26</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345"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RÉSUMÉ FINAL</a:t>
            </a:r>
            <a:endParaRPr lang="fr-FR" sz="1200" b="0" u="none" strike="noStrike">
              <a:solidFill>
                <a:srgbClr val="FFFFFF"/>
              </a:solidFill>
              <a:effectLst/>
              <a:uFillTx/>
              <a:latin typeface="Arial"/>
            </a:endParaRPr>
          </a:p>
        </p:txBody>
      </p:sp>
      <p:sp>
        <p:nvSpPr>
          <p:cNvPr id="346"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 L'essentiel à retenir »</a:t>
            </a:r>
            <a:endParaRPr lang="fr-FR" sz="3000" b="0" u="none" strike="noStrike">
              <a:solidFill>
                <a:srgbClr val="FFFFFF"/>
              </a:solidFill>
              <a:effectLst/>
              <a:uFillTx/>
              <a:latin typeface="Arial"/>
            </a:endParaRPr>
          </a:p>
        </p:txBody>
      </p:sp>
      <p:sp>
        <p:nvSpPr>
          <p:cNvPr id="347" name="Shape 2"/>
          <p:cNvSpPr/>
          <p:nvPr/>
        </p:nvSpPr>
        <p:spPr>
          <a:xfrm>
            <a:off x="548640" y="1600200"/>
            <a:ext cx="5486040" cy="1170000"/>
          </a:xfrm>
          <a:prstGeom prst="roundRect">
            <a:avLst>
              <a:gd name="adj" fmla="val 546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48" name="Shape 3"/>
          <p:cNvSpPr/>
          <p:nvPr/>
        </p:nvSpPr>
        <p:spPr>
          <a:xfrm>
            <a:off x="713160" y="176472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49" name="Text 4"/>
          <p:cNvSpPr/>
          <p:nvPr/>
        </p:nvSpPr>
        <p:spPr>
          <a:xfrm>
            <a:off x="713160" y="176472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1</a:t>
            </a:r>
            <a:endParaRPr lang="fr-FR" sz="1300" b="0" u="none" strike="noStrike">
              <a:solidFill>
                <a:srgbClr val="FFFFFF"/>
              </a:solidFill>
              <a:effectLst/>
              <a:uFillTx/>
              <a:latin typeface="Arial"/>
            </a:endParaRPr>
          </a:p>
        </p:txBody>
      </p:sp>
      <p:sp>
        <p:nvSpPr>
          <p:cNvPr id="350" name="Text 5"/>
          <p:cNvSpPr/>
          <p:nvPr/>
        </p:nvSpPr>
        <p:spPr>
          <a:xfrm>
            <a:off x="1188720" y="1691640"/>
            <a:ext cx="47088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Classification</a:t>
            </a:r>
            <a:endParaRPr lang="fr-FR" sz="1250" b="0" u="none" strike="noStrike">
              <a:solidFill>
                <a:srgbClr val="FFFFFF"/>
              </a:solidFill>
              <a:effectLst/>
              <a:uFillTx/>
              <a:latin typeface="Arial"/>
            </a:endParaRPr>
          </a:p>
        </p:txBody>
      </p:sp>
      <p:sp>
        <p:nvSpPr>
          <p:cNvPr id="351" name="Text 6"/>
          <p:cNvSpPr/>
          <p:nvPr/>
        </p:nvSpPr>
        <p:spPr>
          <a:xfrm>
            <a:off x="1188720" y="2011680"/>
            <a:ext cx="4754520" cy="712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980" b="0" u="none" strike="noStrike">
                <a:solidFill>
                  <a:srgbClr val="FFFFFF"/>
                </a:solidFill>
                <a:effectLst/>
                <a:uFillTx/>
                <a:latin typeface="Calibri"/>
                <a:ea typeface="Calibri"/>
              </a:rPr>
              <a:t>Attribuer une catégorie à des données à partir d'exemples étiquetés.</a:t>
            </a:r>
            <a:endParaRPr lang="fr-FR" sz="980" b="0" u="none" strike="noStrike">
              <a:solidFill>
                <a:srgbClr val="FFFFFF"/>
              </a:solidFill>
              <a:effectLst/>
              <a:uFillTx/>
              <a:latin typeface="Arial"/>
            </a:endParaRPr>
          </a:p>
        </p:txBody>
      </p:sp>
      <p:sp>
        <p:nvSpPr>
          <p:cNvPr id="352" name="Shape 7"/>
          <p:cNvSpPr/>
          <p:nvPr/>
        </p:nvSpPr>
        <p:spPr>
          <a:xfrm>
            <a:off x="6263640" y="1600200"/>
            <a:ext cx="5486040" cy="1170000"/>
          </a:xfrm>
          <a:prstGeom prst="roundRect">
            <a:avLst>
              <a:gd name="adj" fmla="val 546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53" name="Shape 8"/>
          <p:cNvSpPr/>
          <p:nvPr/>
        </p:nvSpPr>
        <p:spPr>
          <a:xfrm>
            <a:off x="6428160" y="176472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54" name="Text 9"/>
          <p:cNvSpPr/>
          <p:nvPr/>
        </p:nvSpPr>
        <p:spPr>
          <a:xfrm>
            <a:off x="6428160" y="176472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2</a:t>
            </a:r>
            <a:endParaRPr lang="fr-FR" sz="1300" b="0" u="none" strike="noStrike">
              <a:solidFill>
                <a:srgbClr val="FFFFFF"/>
              </a:solidFill>
              <a:effectLst/>
              <a:uFillTx/>
              <a:latin typeface="Arial"/>
            </a:endParaRPr>
          </a:p>
        </p:txBody>
      </p:sp>
      <p:sp>
        <p:nvSpPr>
          <p:cNvPr id="355" name="Text 10"/>
          <p:cNvSpPr/>
          <p:nvPr/>
        </p:nvSpPr>
        <p:spPr>
          <a:xfrm>
            <a:off x="6903720" y="1691640"/>
            <a:ext cx="47088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Entropie</a:t>
            </a:r>
            <a:endParaRPr lang="fr-FR" sz="1250" b="0" u="none" strike="noStrike">
              <a:solidFill>
                <a:srgbClr val="FFFFFF"/>
              </a:solidFill>
              <a:effectLst/>
              <a:uFillTx/>
              <a:latin typeface="Arial"/>
            </a:endParaRPr>
          </a:p>
        </p:txBody>
      </p:sp>
      <p:sp>
        <p:nvSpPr>
          <p:cNvPr id="356" name="Text 11"/>
          <p:cNvSpPr/>
          <p:nvPr/>
        </p:nvSpPr>
        <p:spPr>
          <a:xfrm>
            <a:off x="6903720" y="2011680"/>
            <a:ext cx="4754520" cy="712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980" b="0" u="none" strike="noStrike">
                <a:solidFill>
                  <a:srgbClr val="FFFFFF"/>
                </a:solidFill>
                <a:effectLst/>
                <a:uFillTx/>
                <a:latin typeface="Calibri"/>
                <a:ea typeface="Calibri"/>
              </a:rPr>
              <a:t>Mesure l'incertitude d'un ensemble. Vaut 0 si toutes les classes sont identiques, maximale (log₂K) si équilibrées.</a:t>
            </a:r>
            <a:endParaRPr lang="fr-FR" sz="980" b="0" u="none" strike="noStrike">
              <a:solidFill>
                <a:srgbClr val="FFFFFF"/>
              </a:solidFill>
              <a:effectLst/>
              <a:uFillTx/>
              <a:latin typeface="Arial"/>
            </a:endParaRPr>
          </a:p>
        </p:txBody>
      </p:sp>
      <p:sp>
        <p:nvSpPr>
          <p:cNvPr id="357" name="Shape 12"/>
          <p:cNvSpPr/>
          <p:nvPr/>
        </p:nvSpPr>
        <p:spPr>
          <a:xfrm>
            <a:off x="548640" y="2898720"/>
            <a:ext cx="5486040" cy="1170000"/>
          </a:xfrm>
          <a:prstGeom prst="roundRect">
            <a:avLst>
              <a:gd name="adj" fmla="val 546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58" name="Shape 13"/>
          <p:cNvSpPr/>
          <p:nvPr/>
        </p:nvSpPr>
        <p:spPr>
          <a:xfrm>
            <a:off x="713160" y="306324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59" name="Text 14"/>
          <p:cNvSpPr/>
          <p:nvPr/>
        </p:nvSpPr>
        <p:spPr>
          <a:xfrm>
            <a:off x="713160" y="306324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3</a:t>
            </a:r>
            <a:endParaRPr lang="fr-FR" sz="1300" b="0" u="none" strike="noStrike">
              <a:solidFill>
                <a:srgbClr val="FFFFFF"/>
              </a:solidFill>
              <a:effectLst/>
              <a:uFillTx/>
              <a:latin typeface="Arial"/>
            </a:endParaRPr>
          </a:p>
        </p:txBody>
      </p:sp>
      <p:sp>
        <p:nvSpPr>
          <p:cNvPr id="360" name="Text 15"/>
          <p:cNvSpPr/>
          <p:nvPr/>
        </p:nvSpPr>
        <p:spPr>
          <a:xfrm>
            <a:off x="1188720" y="2990160"/>
            <a:ext cx="47088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Gain d'information</a:t>
            </a:r>
            <a:endParaRPr lang="fr-FR" sz="1250" b="0" u="none" strike="noStrike">
              <a:solidFill>
                <a:srgbClr val="FFFFFF"/>
              </a:solidFill>
              <a:effectLst/>
              <a:uFillTx/>
              <a:latin typeface="Arial"/>
            </a:endParaRPr>
          </a:p>
        </p:txBody>
      </p:sp>
      <p:sp>
        <p:nvSpPr>
          <p:cNvPr id="361" name="Text 16"/>
          <p:cNvSpPr/>
          <p:nvPr/>
        </p:nvSpPr>
        <p:spPr>
          <a:xfrm>
            <a:off x="1188720" y="3310200"/>
            <a:ext cx="4754520" cy="712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980" b="0" u="none" strike="noStrike">
                <a:solidFill>
                  <a:srgbClr val="FFFFFF"/>
                </a:solidFill>
                <a:effectLst/>
                <a:uFillTx/>
                <a:latin typeface="Calibri"/>
                <a:ea typeface="Calibri"/>
              </a:rPr>
              <a:t>Réduction d'entropie obtenue en séparant selon une caractéristique. On choisit le gain maximal.</a:t>
            </a:r>
            <a:endParaRPr lang="fr-FR" sz="980" b="0" u="none" strike="noStrike">
              <a:solidFill>
                <a:srgbClr val="FFFFFF"/>
              </a:solidFill>
              <a:effectLst/>
              <a:uFillTx/>
              <a:latin typeface="Arial"/>
            </a:endParaRPr>
          </a:p>
        </p:txBody>
      </p:sp>
      <p:sp>
        <p:nvSpPr>
          <p:cNvPr id="362" name="Shape 17"/>
          <p:cNvSpPr/>
          <p:nvPr/>
        </p:nvSpPr>
        <p:spPr>
          <a:xfrm>
            <a:off x="6263640" y="2898720"/>
            <a:ext cx="5486040" cy="1170000"/>
          </a:xfrm>
          <a:prstGeom prst="roundRect">
            <a:avLst>
              <a:gd name="adj" fmla="val 546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63" name="Shape 18"/>
          <p:cNvSpPr/>
          <p:nvPr/>
        </p:nvSpPr>
        <p:spPr>
          <a:xfrm>
            <a:off x="6428160" y="306324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64" name="Text 19"/>
          <p:cNvSpPr/>
          <p:nvPr/>
        </p:nvSpPr>
        <p:spPr>
          <a:xfrm>
            <a:off x="6428160" y="306324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4</a:t>
            </a:r>
            <a:endParaRPr lang="fr-FR" sz="1300" b="0" u="none" strike="noStrike">
              <a:solidFill>
                <a:srgbClr val="FFFFFF"/>
              </a:solidFill>
              <a:effectLst/>
              <a:uFillTx/>
              <a:latin typeface="Arial"/>
            </a:endParaRPr>
          </a:p>
        </p:txBody>
      </p:sp>
      <p:sp>
        <p:nvSpPr>
          <p:cNvPr id="365" name="Text 20"/>
          <p:cNvSpPr/>
          <p:nvPr/>
        </p:nvSpPr>
        <p:spPr>
          <a:xfrm>
            <a:off x="6903720" y="2990160"/>
            <a:ext cx="47088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Arbre de décision</a:t>
            </a:r>
            <a:endParaRPr lang="fr-FR" sz="1250" b="0" u="none" strike="noStrike">
              <a:solidFill>
                <a:srgbClr val="FFFFFF"/>
              </a:solidFill>
              <a:effectLst/>
              <a:uFillTx/>
              <a:latin typeface="Arial"/>
            </a:endParaRPr>
          </a:p>
        </p:txBody>
      </p:sp>
      <p:sp>
        <p:nvSpPr>
          <p:cNvPr id="366" name="Text 21"/>
          <p:cNvSpPr/>
          <p:nvPr/>
        </p:nvSpPr>
        <p:spPr>
          <a:xfrm>
            <a:off x="6903720" y="3310200"/>
            <a:ext cx="4754520" cy="712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980" b="0" u="none" strike="noStrike">
                <a:solidFill>
                  <a:srgbClr val="FFFFFF"/>
                </a:solidFill>
                <a:effectLst/>
                <a:uFillTx/>
                <a:latin typeface="Calibri"/>
                <a:ea typeface="Calibri"/>
              </a:rPr>
              <a:t>Suite de questions menant à une décision. Frontières en escalier. Interprétable, risque de surapprentissage.</a:t>
            </a:r>
            <a:endParaRPr lang="fr-FR" sz="980" b="0" u="none" strike="noStrike">
              <a:solidFill>
                <a:srgbClr val="FFFFFF"/>
              </a:solidFill>
              <a:effectLst/>
              <a:uFillTx/>
              <a:latin typeface="Arial"/>
            </a:endParaRPr>
          </a:p>
        </p:txBody>
      </p:sp>
      <p:sp>
        <p:nvSpPr>
          <p:cNvPr id="367" name="Shape 22"/>
          <p:cNvSpPr/>
          <p:nvPr/>
        </p:nvSpPr>
        <p:spPr>
          <a:xfrm>
            <a:off x="548640" y="4197240"/>
            <a:ext cx="5486040" cy="1170000"/>
          </a:xfrm>
          <a:prstGeom prst="roundRect">
            <a:avLst>
              <a:gd name="adj" fmla="val 546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68" name="Shape 23"/>
          <p:cNvSpPr/>
          <p:nvPr/>
        </p:nvSpPr>
        <p:spPr>
          <a:xfrm>
            <a:off x="713160" y="436176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69" name="Text 24"/>
          <p:cNvSpPr/>
          <p:nvPr/>
        </p:nvSpPr>
        <p:spPr>
          <a:xfrm>
            <a:off x="713160" y="436176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5</a:t>
            </a:r>
            <a:endParaRPr lang="fr-FR" sz="1300" b="0" u="none" strike="noStrike">
              <a:solidFill>
                <a:srgbClr val="FFFFFF"/>
              </a:solidFill>
              <a:effectLst/>
              <a:uFillTx/>
              <a:latin typeface="Arial"/>
            </a:endParaRPr>
          </a:p>
        </p:txBody>
      </p:sp>
      <p:sp>
        <p:nvSpPr>
          <p:cNvPr id="370" name="Text 25"/>
          <p:cNvSpPr/>
          <p:nvPr/>
        </p:nvSpPr>
        <p:spPr>
          <a:xfrm>
            <a:off x="1188720" y="4288680"/>
            <a:ext cx="47088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Régression logistique</a:t>
            </a:r>
            <a:endParaRPr lang="fr-FR" sz="1250" b="0" u="none" strike="noStrike">
              <a:solidFill>
                <a:srgbClr val="FFFFFF"/>
              </a:solidFill>
              <a:effectLst/>
              <a:uFillTx/>
              <a:latin typeface="Arial"/>
            </a:endParaRPr>
          </a:p>
        </p:txBody>
      </p:sp>
      <p:sp>
        <p:nvSpPr>
          <p:cNvPr id="371" name="Text 26"/>
          <p:cNvSpPr/>
          <p:nvPr/>
        </p:nvSpPr>
        <p:spPr>
          <a:xfrm>
            <a:off x="1188720" y="4608720"/>
            <a:ext cx="4754520" cy="712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980" b="0" u="none" strike="noStrike">
                <a:solidFill>
                  <a:srgbClr val="FFFFFF"/>
                </a:solidFill>
                <a:effectLst/>
                <a:uFillTx/>
                <a:latin typeface="Calibri"/>
                <a:ea typeface="Calibri"/>
              </a:rPr>
              <a:t>Estime une probabilité via la sigmoïde d'une combinaison linéaire. Frontière = droite / hyperplan.</a:t>
            </a:r>
            <a:endParaRPr lang="fr-FR" sz="980" b="0" u="none" strike="noStrike">
              <a:solidFill>
                <a:srgbClr val="FFFFFF"/>
              </a:solidFill>
              <a:effectLst/>
              <a:uFillTx/>
              <a:latin typeface="Arial"/>
            </a:endParaRPr>
          </a:p>
        </p:txBody>
      </p:sp>
      <p:sp>
        <p:nvSpPr>
          <p:cNvPr id="372" name="Shape 27"/>
          <p:cNvSpPr/>
          <p:nvPr/>
        </p:nvSpPr>
        <p:spPr>
          <a:xfrm>
            <a:off x="6263640" y="4197240"/>
            <a:ext cx="5486040" cy="1170000"/>
          </a:xfrm>
          <a:prstGeom prst="roundRect">
            <a:avLst>
              <a:gd name="adj" fmla="val 546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73" name="Shape 28"/>
          <p:cNvSpPr/>
          <p:nvPr/>
        </p:nvSpPr>
        <p:spPr>
          <a:xfrm>
            <a:off x="6428160" y="436176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74" name="Text 29"/>
          <p:cNvSpPr/>
          <p:nvPr/>
        </p:nvSpPr>
        <p:spPr>
          <a:xfrm>
            <a:off x="6428160" y="436176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6</a:t>
            </a:r>
            <a:endParaRPr lang="fr-FR" sz="1300" b="0" u="none" strike="noStrike">
              <a:solidFill>
                <a:srgbClr val="FFFFFF"/>
              </a:solidFill>
              <a:effectLst/>
              <a:uFillTx/>
              <a:latin typeface="Arial"/>
            </a:endParaRPr>
          </a:p>
        </p:txBody>
      </p:sp>
      <p:sp>
        <p:nvSpPr>
          <p:cNvPr id="375" name="Text 30"/>
          <p:cNvSpPr/>
          <p:nvPr/>
        </p:nvSpPr>
        <p:spPr>
          <a:xfrm>
            <a:off x="6903720" y="4288680"/>
            <a:ext cx="47088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Log loss</a:t>
            </a:r>
            <a:endParaRPr lang="fr-FR" sz="1250" b="0" u="none" strike="noStrike">
              <a:solidFill>
                <a:srgbClr val="FFFFFF"/>
              </a:solidFill>
              <a:effectLst/>
              <a:uFillTx/>
              <a:latin typeface="Arial"/>
            </a:endParaRPr>
          </a:p>
        </p:txBody>
      </p:sp>
      <p:sp>
        <p:nvSpPr>
          <p:cNvPr id="376" name="Text 31"/>
          <p:cNvSpPr/>
          <p:nvPr/>
        </p:nvSpPr>
        <p:spPr>
          <a:xfrm>
            <a:off x="6903720" y="4608720"/>
            <a:ext cx="4754520" cy="712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980" b="0" u="none" strike="noStrike">
                <a:solidFill>
                  <a:srgbClr val="FFFFFF"/>
                </a:solidFill>
                <a:effectLst/>
                <a:uFillTx/>
                <a:latin typeface="Calibri"/>
                <a:ea typeface="Calibri"/>
              </a:rPr>
              <a:t>Fonction de coût de la régression logistique, minimisée par descente de gradient.</a:t>
            </a:r>
            <a:endParaRPr lang="fr-FR" sz="980" b="0" u="none" strike="noStrike">
              <a:solidFill>
                <a:srgbClr val="FFFFFF"/>
              </a:solidFill>
              <a:effectLst/>
              <a:uFillTx/>
              <a:latin typeface="Arial"/>
            </a:endParaRPr>
          </a:p>
        </p:txBody>
      </p:sp>
      <p:sp>
        <p:nvSpPr>
          <p:cNvPr id="377" name="Shape 32"/>
          <p:cNvSpPr/>
          <p:nvPr/>
        </p:nvSpPr>
        <p:spPr>
          <a:xfrm>
            <a:off x="548640" y="5495400"/>
            <a:ext cx="5486040" cy="1170000"/>
          </a:xfrm>
          <a:prstGeom prst="roundRect">
            <a:avLst>
              <a:gd name="adj" fmla="val 546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78" name="Shape 33"/>
          <p:cNvSpPr/>
          <p:nvPr/>
        </p:nvSpPr>
        <p:spPr>
          <a:xfrm>
            <a:off x="713160" y="566028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79" name="Text 34"/>
          <p:cNvSpPr/>
          <p:nvPr/>
        </p:nvSpPr>
        <p:spPr>
          <a:xfrm>
            <a:off x="713160" y="566028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7</a:t>
            </a:r>
            <a:endParaRPr lang="fr-FR" sz="1300" b="0" u="none" strike="noStrike">
              <a:solidFill>
                <a:srgbClr val="FFFFFF"/>
              </a:solidFill>
              <a:effectLst/>
              <a:uFillTx/>
              <a:latin typeface="Arial"/>
            </a:endParaRPr>
          </a:p>
        </p:txBody>
      </p:sp>
      <p:sp>
        <p:nvSpPr>
          <p:cNvPr id="380" name="Text 35"/>
          <p:cNvSpPr/>
          <p:nvPr/>
        </p:nvSpPr>
        <p:spPr>
          <a:xfrm>
            <a:off x="1188720" y="5586840"/>
            <a:ext cx="47088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Comparaison</a:t>
            </a:r>
            <a:endParaRPr lang="fr-FR" sz="1250" b="0" u="none" strike="noStrike">
              <a:solidFill>
                <a:srgbClr val="FFFFFF"/>
              </a:solidFill>
              <a:effectLst/>
              <a:uFillTx/>
              <a:latin typeface="Arial"/>
            </a:endParaRPr>
          </a:p>
        </p:txBody>
      </p:sp>
      <p:sp>
        <p:nvSpPr>
          <p:cNvPr id="381" name="Text 36"/>
          <p:cNvSpPr/>
          <p:nvPr/>
        </p:nvSpPr>
        <p:spPr>
          <a:xfrm>
            <a:off x="1188720" y="5906880"/>
            <a:ext cx="4754520" cy="712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980" b="0" u="none" strike="noStrike">
                <a:solidFill>
                  <a:srgbClr val="FFFFFF"/>
                </a:solidFill>
                <a:effectLst/>
                <a:uFillTx/>
                <a:latin typeface="Calibri"/>
                <a:ea typeface="Calibri"/>
              </a:rPr>
              <a:t>Arbre : non linéaire, interprétable, robuste aux outliers. Reg. log. : linéaire, probabilités calibrées.</a:t>
            </a:r>
            <a:endParaRPr lang="fr-FR" sz="980" b="0" u="none" strike="noStrike">
              <a:solidFill>
                <a:srgbClr val="FFFFFF"/>
              </a:solidFill>
              <a:effectLst/>
              <a:uFillTx/>
              <a:latin typeface="Arial"/>
            </a:endParaRPr>
          </a:p>
        </p:txBody>
      </p:sp>
      <p:sp>
        <p:nvSpPr>
          <p:cNvPr id="382" name="Shape 37"/>
          <p:cNvSpPr/>
          <p:nvPr/>
        </p:nvSpPr>
        <p:spPr>
          <a:xfrm>
            <a:off x="6263640" y="5495400"/>
            <a:ext cx="5486040" cy="1170000"/>
          </a:xfrm>
          <a:prstGeom prst="roundRect">
            <a:avLst>
              <a:gd name="adj" fmla="val 5469"/>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83" name="Shape 38"/>
          <p:cNvSpPr/>
          <p:nvPr/>
        </p:nvSpPr>
        <p:spPr>
          <a:xfrm>
            <a:off x="6428160" y="5660280"/>
            <a:ext cx="365400" cy="365400"/>
          </a:xfrm>
          <a:prstGeom prst="ellipse">
            <a:avLst/>
          </a:prstGeom>
          <a:solidFill>
            <a:srgbClr val="F39C12"/>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84" name="Text 39"/>
          <p:cNvSpPr/>
          <p:nvPr/>
        </p:nvSpPr>
        <p:spPr>
          <a:xfrm>
            <a:off x="6428160" y="566028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1B1F3B"/>
                </a:solidFill>
                <a:effectLst/>
                <a:uFillTx/>
                <a:latin typeface="Calibri"/>
                <a:ea typeface="Calibri"/>
              </a:rPr>
              <a:t>8</a:t>
            </a:r>
            <a:endParaRPr lang="fr-FR" sz="1300" b="0" u="none" strike="noStrike">
              <a:solidFill>
                <a:srgbClr val="FFFFFF"/>
              </a:solidFill>
              <a:effectLst/>
              <a:uFillTx/>
              <a:latin typeface="Arial"/>
            </a:endParaRPr>
          </a:p>
        </p:txBody>
      </p:sp>
      <p:sp>
        <p:nvSpPr>
          <p:cNvPr id="385" name="Text 40"/>
          <p:cNvSpPr/>
          <p:nvPr/>
        </p:nvSpPr>
        <p:spPr>
          <a:xfrm>
            <a:off x="6903720" y="5586840"/>
            <a:ext cx="47088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En Python</a:t>
            </a:r>
            <a:endParaRPr lang="fr-FR" sz="1250" b="0" u="none" strike="noStrike">
              <a:solidFill>
                <a:srgbClr val="FFFFFF"/>
              </a:solidFill>
              <a:effectLst/>
              <a:uFillTx/>
              <a:latin typeface="Arial"/>
            </a:endParaRPr>
          </a:p>
        </p:txBody>
      </p:sp>
      <p:sp>
        <p:nvSpPr>
          <p:cNvPr id="386" name="Text 41"/>
          <p:cNvSpPr/>
          <p:nvPr/>
        </p:nvSpPr>
        <p:spPr>
          <a:xfrm>
            <a:off x="6903720" y="5906880"/>
            <a:ext cx="4754520" cy="712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15000"/>
              </a:lnSpc>
              <a:tabLst>
                <a:tab pos="0" algn="l"/>
              </a:tabLst>
            </a:pPr>
            <a:r>
              <a:rPr lang="en-US" sz="980" b="0" u="none" strike="noStrike">
                <a:solidFill>
                  <a:srgbClr val="FFFFFF"/>
                </a:solidFill>
                <a:effectLst/>
                <a:uFillTx/>
                <a:latin typeface="Calibri"/>
                <a:ea typeface="Calibri"/>
              </a:rPr>
              <a:t>scikit-learn : coder les formules pour comprendre, puis DecisionTreeClassifier et LogisticRegression.</a:t>
            </a:r>
            <a:endParaRPr lang="fr-FR" sz="980" b="0" u="none" strike="noStrike">
              <a:solidFill>
                <a:srgbClr val="FFFFFF"/>
              </a:solidFill>
              <a:effectLst/>
              <a:uFillTx/>
              <a:latin typeface="Arial"/>
            </a:endParaRPr>
          </a:p>
        </p:txBody>
      </p:sp>
      <p:sp>
        <p:nvSpPr>
          <p:cNvPr id="387" name="Text 42"/>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37</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8" name="Text 0"/>
          <p:cNvSpPr/>
          <p:nvPr/>
        </p:nvSpPr>
        <p:spPr>
          <a:xfrm>
            <a:off x="548640" y="384120"/>
            <a:ext cx="731484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pc="201" strike="noStrike">
                <a:solidFill>
                  <a:srgbClr val="5A5F73"/>
                </a:solidFill>
                <a:effectLst/>
                <a:uFillTx/>
                <a:latin typeface="Calibri"/>
                <a:ea typeface="Calibri"/>
              </a:rPr>
              <a:t>ÉVALUATION FINALE ET PISTES POUR ALLER PLUS LOIN</a:t>
            </a:r>
            <a:endParaRPr lang="fr-FR" sz="1200" b="0" u="none" strike="noStrike">
              <a:solidFill>
                <a:srgbClr val="000000"/>
              </a:solidFill>
              <a:effectLst/>
              <a:uFillTx/>
              <a:latin typeface="Arial"/>
            </a:endParaRPr>
          </a:p>
        </p:txBody>
      </p:sp>
      <p:sp>
        <p:nvSpPr>
          <p:cNvPr id="389" name="Text 1"/>
          <p:cNvSpPr/>
          <p:nvPr/>
        </p:nvSpPr>
        <p:spPr>
          <a:xfrm>
            <a:off x="548640" y="658440"/>
            <a:ext cx="11091240" cy="822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000" b="1" u="none" strike="noStrike">
                <a:solidFill>
                  <a:srgbClr val="F39C12"/>
                </a:solidFill>
                <a:effectLst/>
                <a:uFillTx/>
                <a:latin typeface="Cambria"/>
                <a:ea typeface="Cambria"/>
              </a:rPr>
              <a:t>Mini-quiz &amp; pour aller plus loin</a:t>
            </a:r>
            <a:endParaRPr lang="fr-FR" sz="3000" b="0" u="none" strike="noStrike">
              <a:solidFill>
                <a:srgbClr val="000000"/>
              </a:solidFill>
              <a:effectLst/>
              <a:uFillTx/>
              <a:latin typeface="Arial"/>
            </a:endParaRPr>
          </a:p>
        </p:txBody>
      </p:sp>
      <p:sp>
        <p:nvSpPr>
          <p:cNvPr id="390" name="Shape 2"/>
          <p:cNvSpPr/>
          <p:nvPr/>
        </p:nvSpPr>
        <p:spPr>
          <a:xfrm>
            <a:off x="548640" y="1463040"/>
            <a:ext cx="5486040" cy="4480200"/>
          </a:xfrm>
          <a:prstGeom prst="roundRect">
            <a:avLst>
              <a:gd name="adj" fmla="val 1633"/>
            </a:avLst>
          </a:prstGeom>
          <a:solidFill>
            <a:srgbClr val="F4F5F9"/>
          </a:solidFill>
          <a:ln w="0">
            <a:noFill/>
          </a:ln>
        </p:spPr>
        <p:style>
          <a:lnRef idx="0"/>
          <a:fillRef idx="0"/>
          <a:effectRef idx="0"/>
          <a:fontRef idx="minor"/>
        </p:style>
        <p:txBody>
          <a:bodyPr lIns="90000" tIns="45000" rIns="90000" bIns="45000" anchor="t">
            <a:noAutofit/>
          </a:bodyPr>
          <a:p>
            <a:endParaRPr lang="fr-FR" sz="1800" b="0" u="none" strike="noStrike">
              <a:solidFill>
                <a:srgbClr val="000000"/>
              </a:solidFill>
              <a:effectLst/>
              <a:uFillTx/>
              <a:latin typeface="Arial"/>
            </a:endParaRPr>
          </a:p>
        </p:txBody>
      </p:sp>
      <p:sp>
        <p:nvSpPr>
          <p:cNvPr id="391" name="Text 3"/>
          <p:cNvSpPr/>
          <p:nvPr/>
        </p:nvSpPr>
        <p:spPr>
          <a:xfrm>
            <a:off x="777240" y="1627560"/>
            <a:ext cx="493740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MINI-QUIZ DE FIN</a:t>
            </a:r>
            <a:endParaRPr lang="fr-FR" sz="1250" b="0" u="none" strike="noStrike">
              <a:solidFill>
                <a:srgbClr val="000000"/>
              </a:solidFill>
              <a:effectLst/>
              <a:uFillTx/>
              <a:latin typeface="Arial"/>
            </a:endParaRPr>
          </a:p>
        </p:txBody>
      </p:sp>
      <p:sp>
        <p:nvSpPr>
          <p:cNvPr id="392" name="Shape 4"/>
          <p:cNvSpPr/>
          <p:nvPr/>
        </p:nvSpPr>
        <p:spPr>
          <a:xfrm>
            <a:off x="777240" y="2057400"/>
            <a:ext cx="365400" cy="36540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93" name="Text 5"/>
          <p:cNvSpPr/>
          <p:nvPr/>
        </p:nvSpPr>
        <p:spPr>
          <a:xfrm>
            <a:off x="777240" y="205740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1</a:t>
            </a:r>
            <a:endParaRPr lang="fr-FR" sz="1300" b="0" u="none" strike="noStrike">
              <a:solidFill>
                <a:srgbClr val="000000"/>
              </a:solidFill>
              <a:effectLst/>
              <a:uFillTx/>
              <a:latin typeface="Arial"/>
            </a:endParaRPr>
          </a:p>
        </p:txBody>
      </p:sp>
      <p:sp>
        <p:nvSpPr>
          <p:cNvPr id="394" name="Text 6"/>
          <p:cNvSpPr/>
          <p:nvPr/>
        </p:nvSpPr>
        <p:spPr>
          <a:xfrm>
            <a:off x="1280160" y="2039040"/>
            <a:ext cx="44802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200" b="0" u="none" strike="noStrike">
                <a:solidFill>
                  <a:srgbClr val="1B1F3B"/>
                </a:solidFill>
                <a:effectLst/>
                <a:uFillTx/>
                <a:latin typeface="Calibri"/>
                <a:ea typeface="Calibri"/>
              </a:rPr>
              <a:t>Quelle est la différence entre entropie et gain d'information ?</a:t>
            </a:r>
            <a:endParaRPr lang="fr-FR" sz="1200" b="0" u="none" strike="noStrike">
              <a:solidFill>
                <a:srgbClr val="000000"/>
              </a:solidFill>
              <a:effectLst/>
              <a:uFillTx/>
              <a:latin typeface="Arial"/>
            </a:endParaRPr>
          </a:p>
        </p:txBody>
      </p:sp>
      <p:sp>
        <p:nvSpPr>
          <p:cNvPr id="395" name="Shape 7"/>
          <p:cNvSpPr/>
          <p:nvPr/>
        </p:nvSpPr>
        <p:spPr>
          <a:xfrm>
            <a:off x="777240" y="2926080"/>
            <a:ext cx="365400" cy="36540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96" name="Text 8"/>
          <p:cNvSpPr/>
          <p:nvPr/>
        </p:nvSpPr>
        <p:spPr>
          <a:xfrm>
            <a:off x="777240" y="292608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2</a:t>
            </a:r>
            <a:endParaRPr lang="fr-FR" sz="1300" b="0" u="none" strike="noStrike">
              <a:solidFill>
                <a:srgbClr val="000000"/>
              </a:solidFill>
              <a:effectLst/>
              <a:uFillTx/>
              <a:latin typeface="Arial"/>
            </a:endParaRPr>
          </a:p>
        </p:txBody>
      </p:sp>
      <p:sp>
        <p:nvSpPr>
          <p:cNvPr id="397" name="Text 9"/>
          <p:cNvSpPr/>
          <p:nvPr/>
        </p:nvSpPr>
        <p:spPr>
          <a:xfrm>
            <a:off x="1280160" y="2907720"/>
            <a:ext cx="44802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200" b="0" u="none" strike="noStrike">
                <a:solidFill>
                  <a:srgbClr val="1B1F3B"/>
                </a:solidFill>
                <a:effectLst/>
                <a:uFillTx/>
                <a:latin typeface="Calibri"/>
                <a:ea typeface="Calibri"/>
              </a:rPr>
              <a:t>Pourquoi limite-t-on la profondeur d'un arbre ?</a:t>
            </a:r>
            <a:endParaRPr lang="fr-FR" sz="1200" b="0" u="none" strike="noStrike">
              <a:solidFill>
                <a:srgbClr val="000000"/>
              </a:solidFill>
              <a:effectLst/>
              <a:uFillTx/>
              <a:latin typeface="Arial"/>
            </a:endParaRPr>
          </a:p>
        </p:txBody>
      </p:sp>
      <p:sp>
        <p:nvSpPr>
          <p:cNvPr id="398" name="Shape 10"/>
          <p:cNvSpPr/>
          <p:nvPr/>
        </p:nvSpPr>
        <p:spPr>
          <a:xfrm>
            <a:off x="777240" y="3794760"/>
            <a:ext cx="365400" cy="36540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399" name="Text 11"/>
          <p:cNvSpPr/>
          <p:nvPr/>
        </p:nvSpPr>
        <p:spPr>
          <a:xfrm>
            <a:off x="777240" y="379476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3</a:t>
            </a:r>
            <a:endParaRPr lang="fr-FR" sz="1300" b="0" u="none" strike="noStrike">
              <a:solidFill>
                <a:srgbClr val="000000"/>
              </a:solidFill>
              <a:effectLst/>
              <a:uFillTx/>
              <a:latin typeface="Arial"/>
            </a:endParaRPr>
          </a:p>
        </p:txBody>
      </p:sp>
      <p:sp>
        <p:nvSpPr>
          <p:cNvPr id="400" name="Text 12"/>
          <p:cNvSpPr/>
          <p:nvPr/>
        </p:nvSpPr>
        <p:spPr>
          <a:xfrm>
            <a:off x="1280160" y="3776400"/>
            <a:ext cx="44802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200" b="0" u="none" strike="noStrike">
                <a:solidFill>
                  <a:srgbClr val="1B1F3B"/>
                </a:solidFill>
                <a:effectLst/>
                <a:uFillTx/>
                <a:latin typeface="Calibri"/>
                <a:ea typeface="Calibri"/>
              </a:rPr>
              <a:t>Que fait la fonction sigmoïde ?</a:t>
            </a:r>
            <a:endParaRPr lang="fr-FR" sz="1200" b="0" u="none" strike="noStrike">
              <a:solidFill>
                <a:srgbClr val="000000"/>
              </a:solidFill>
              <a:effectLst/>
              <a:uFillTx/>
              <a:latin typeface="Arial"/>
            </a:endParaRPr>
          </a:p>
        </p:txBody>
      </p:sp>
      <p:sp>
        <p:nvSpPr>
          <p:cNvPr id="401" name="Shape 13"/>
          <p:cNvSpPr/>
          <p:nvPr/>
        </p:nvSpPr>
        <p:spPr>
          <a:xfrm>
            <a:off x="777240" y="4663440"/>
            <a:ext cx="365400" cy="365400"/>
          </a:xfrm>
          <a:prstGeom prst="ellipse">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02" name="Text 14"/>
          <p:cNvSpPr/>
          <p:nvPr/>
        </p:nvSpPr>
        <p:spPr>
          <a:xfrm>
            <a:off x="777240" y="4663440"/>
            <a:ext cx="365400" cy="36540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FFFFFF"/>
                </a:solidFill>
                <a:effectLst/>
                <a:uFillTx/>
                <a:latin typeface="Calibri"/>
                <a:ea typeface="Calibri"/>
              </a:rPr>
              <a:t>4</a:t>
            </a:r>
            <a:endParaRPr lang="fr-FR" sz="1300" b="0" u="none" strike="noStrike">
              <a:solidFill>
                <a:srgbClr val="000000"/>
              </a:solidFill>
              <a:effectLst/>
              <a:uFillTx/>
              <a:latin typeface="Arial"/>
            </a:endParaRPr>
          </a:p>
        </p:txBody>
      </p:sp>
      <p:sp>
        <p:nvSpPr>
          <p:cNvPr id="403" name="Text 15"/>
          <p:cNvSpPr/>
          <p:nvPr/>
        </p:nvSpPr>
        <p:spPr>
          <a:xfrm>
            <a:off x="1280160" y="4645080"/>
            <a:ext cx="4480200" cy="685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20000"/>
              </a:lnSpc>
              <a:tabLst>
                <a:tab pos="0" algn="l"/>
              </a:tabLst>
            </a:pPr>
            <a:r>
              <a:rPr lang="en-US" sz="1200" b="0" u="none" strike="noStrike">
                <a:solidFill>
                  <a:srgbClr val="1B1F3B"/>
                </a:solidFill>
                <a:effectLst/>
                <a:uFillTx/>
                <a:latin typeface="Calibri"/>
                <a:ea typeface="Calibri"/>
              </a:rPr>
              <a:t>Qu'est-ce que la log loss mesure ?</a:t>
            </a:r>
            <a:endParaRPr lang="fr-FR" sz="1200" b="0" u="none" strike="noStrike">
              <a:solidFill>
                <a:srgbClr val="000000"/>
              </a:solidFill>
              <a:effectLst/>
              <a:uFillTx/>
              <a:latin typeface="Arial"/>
            </a:endParaRPr>
          </a:p>
        </p:txBody>
      </p:sp>
      <p:sp>
        <p:nvSpPr>
          <p:cNvPr id="404" name="Shape 16"/>
          <p:cNvSpPr/>
          <p:nvPr/>
        </p:nvSpPr>
        <p:spPr>
          <a:xfrm>
            <a:off x="6263640" y="1463040"/>
            <a:ext cx="5376240" cy="4480200"/>
          </a:xfrm>
          <a:prstGeom prst="roundRect">
            <a:avLst>
              <a:gd name="adj" fmla="val 1633"/>
            </a:avLst>
          </a:prstGeom>
          <a:solidFill>
            <a:srgbClr val="1E2761"/>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05" name="Text 17"/>
          <p:cNvSpPr/>
          <p:nvPr/>
        </p:nvSpPr>
        <p:spPr>
          <a:xfrm>
            <a:off x="6492240" y="1627560"/>
            <a:ext cx="484596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50" b="1" u="none" strike="noStrike">
                <a:solidFill>
                  <a:srgbClr val="F39C12"/>
                </a:solidFill>
                <a:effectLst/>
                <a:uFillTx/>
                <a:latin typeface="Calibri"/>
                <a:ea typeface="Calibri"/>
              </a:rPr>
              <a:t>POUR ALLER PLUS LOIN</a:t>
            </a:r>
            <a:endParaRPr lang="fr-FR" sz="1250" b="0" u="none" strike="noStrike">
              <a:solidFill>
                <a:srgbClr val="000000"/>
              </a:solidFill>
              <a:effectLst/>
              <a:uFillTx/>
              <a:latin typeface="Arial"/>
            </a:endParaRPr>
          </a:p>
        </p:txBody>
      </p:sp>
      <p:sp>
        <p:nvSpPr>
          <p:cNvPr id="406" name="Shape 18"/>
          <p:cNvSpPr/>
          <p:nvPr/>
        </p:nvSpPr>
        <p:spPr>
          <a:xfrm>
            <a:off x="6492240" y="2103120"/>
            <a:ext cx="456840" cy="4568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07" name="Text 19"/>
          <p:cNvSpPr/>
          <p:nvPr/>
        </p:nvSpPr>
        <p:spPr>
          <a:xfrm>
            <a:off x="6492240" y="2103120"/>
            <a:ext cx="456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F39C12"/>
                </a:solidFill>
                <a:effectLst/>
                <a:uFillTx/>
                <a:latin typeface="Calibri"/>
                <a:ea typeface="Calibri"/>
              </a:rPr>
              <a:t>F</a:t>
            </a:r>
            <a:endParaRPr lang="fr-FR" sz="1500" b="0" u="none" strike="noStrike">
              <a:solidFill>
                <a:srgbClr val="000000"/>
              </a:solidFill>
              <a:effectLst/>
              <a:uFillTx/>
              <a:latin typeface="Arial"/>
            </a:endParaRPr>
          </a:p>
        </p:txBody>
      </p:sp>
      <p:sp>
        <p:nvSpPr>
          <p:cNvPr id="408" name="Text 20"/>
          <p:cNvSpPr/>
          <p:nvPr/>
        </p:nvSpPr>
        <p:spPr>
          <a:xfrm>
            <a:off x="7086600" y="2084760"/>
            <a:ext cx="443448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Forêts aléatoires (Random Forest)</a:t>
            </a:r>
            <a:endParaRPr lang="fr-FR" sz="1200" b="0" u="none" strike="noStrike">
              <a:solidFill>
                <a:srgbClr val="000000"/>
              </a:solidFill>
              <a:effectLst/>
              <a:uFillTx/>
              <a:latin typeface="Arial"/>
            </a:endParaRPr>
          </a:p>
        </p:txBody>
      </p:sp>
      <p:sp>
        <p:nvSpPr>
          <p:cNvPr id="409" name="Text 21"/>
          <p:cNvSpPr/>
          <p:nvPr/>
        </p:nvSpPr>
        <p:spPr>
          <a:xfrm>
            <a:off x="7086600" y="2395800"/>
            <a:ext cx="443448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CBD3F0"/>
                </a:solidFill>
                <a:effectLst/>
                <a:uFillTx/>
                <a:latin typeface="Calibri"/>
                <a:ea typeface="Calibri"/>
              </a:rPr>
              <a:t>ensemble d'arbres pour réduire la variance.</a:t>
            </a:r>
            <a:endParaRPr lang="fr-FR" sz="1050" b="0" u="none" strike="noStrike">
              <a:solidFill>
                <a:srgbClr val="000000"/>
              </a:solidFill>
              <a:effectLst/>
              <a:uFillTx/>
              <a:latin typeface="Arial"/>
            </a:endParaRPr>
          </a:p>
        </p:txBody>
      </p:sp>
      <p:sp>
        <p:nvSpPr>
          <p:cNvPr id="410" name="Shape 22"/>
          <p:cNvSpPr/>
          <p:nvPr/>
        </p:nvSpPr>
        <p:spPr>
          <a:xfrm>
            <a:off x="6492240" y="2999160"/>
            <a:ext cx="456840" cy="4568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11" name="Text 23"/>
          <p:cNvSpPr/>
          <p:nvPr/>
        </p:nvSpPr>
        <p:spPr>
          <a:xfrm>
            <a:off x="6492240" y="2999160"/>
            <a:ext cx="456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F39C12"/>
                </a:solidFill>
                <a:effectLst/>
                <a:uFillTx/>
                <a:latin typeface="Calibri"/>
                <a:ea typeface="Calibri"/>
              </a:rPr>
              <a:t>R</a:t>
            </a:r>
            <a:endParaRPr lang="fr-FR" sz="1500" b="0" u="none" strike="noStrike">
              <a:solidFill>
                <a:srgbClr val="000000"/>
              </a:solidFill>
              <a:effectLst/>
              <a:uFillTx/>
              <a:latin typeface="Arial"/>
            </a:endParaRPr>
          </a:p>
        </p:txBody>
      </p:sp>
      <p:sp>
        <p:nvSpPr>
          <p:cNvPr id="412" name="Text 24"/>
          <p:cNvSpPr/>
          <p:nvPr/>
        </p:nvSpPr>
        <p:spPr>
          <a:xfrm>
            <a:off x="7086600" y="2980800"/>
            <a:ext cx="443448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Régression logistique régularisée</a:t>
            </a:r>
            <a:endParaRPr lang="fr-FR" sz="1200" b="0" u="none" strike="noStrike">
              <a:solidFill>
                <a:srgbClr val="000000"/>
              </a:solidFill>
              <a:effectLst/>
              <a:uFillTx/>
              <a:latin typeface="Arial"/>
            </a:endParaRPr>
          </a:p>
        </p:txBody>
      </p:sp>
      <p:sp>
        <p:nvSpPr>
          <p:cNvPr id="413" name="Text 25"/>
          <p:cNvSpPr/>
          <p:nvPr/>
        </p:nvSpPr>
        <p:spPr>
          <a:xfrm>
            <a:off x="7086600" y="3291840"/>
            <a:ext cx="443448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CBD3F0"/>
                </a:solidFill>
                <a:effectLst/>
                <a:uFillTx/>
                <a:latin typeface="Calibri"/>
                <a:ea typeface="Calibri"/>
              </a:rPr>
              <a:t>ridge, lasso.</a:t>
            </a:r>
            <a:endParaRPr lang="fr-FR" sz="1050" b="0" u="none" strike="noStrike">
              <a:solidFill>
                <a:srgbClr val="000000"/>
              </a:solidFill>
              <a:effectLst/>
              <a:uFillTx/>
              <a:latin typeface="Arial"/>
            </a:endParaRPr>
          </a:p>
        </p:txBody>
      </p:sp>
      <p:sp>
        <p:nvSpPr>
          <p:cNvPr id="414" name="Shape 26"/>
          <p:cNvSpPr/>
          <p:nvPr/>
        </p:nvSpPr>
        <p:spPr>
          <a:xfrm>
            <a:off x="6492240" y="3895200"/>
            <a:ext cx="456840" cy="4568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15" name="Text 27"/>
          <p:cNvSpPr/>
          <p:nvPr/>
        </p:nvSpPr>
        <p:spPr>
          <a:xfrm>
            <a:off x="6492240" y="3895200"/>
            <a:ext cx="456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000" b="1" u="none" strike="noStrike">
                <a:solidFill>
                  <a:srgbClr val="F39C12"/>
                </a:solidFill>
                <a:effectLst/>
                <a:uFillTx/>
                <a:latin typeface="Calibri"/>
                <a:ea typeface="Calibri"/>
              </a:rPr>
              <a:t>AUC</a:t>
            </a:r>
            <a:endParaRPr lang="fr-FR" sz="1000" b="0" u="none" strike="noStrike">
              <a:solidFill>
                <a:srgbClr val="000000"/>
              </a:solidFill>
              <a:effectLst/>
              <a:uFillTx/>
              <a:latin typeface="Arial"/>
            </a:endParaRPr>
          </a:p>
        </p:txBody>
      </p:sp>
      <p:sp>
        <p:nvSpPr>
          <p:cNvPr id="416" name="Text 28"/>
          <p:cNvSpPr/>
          <p:nvPr/>
        </p:nvSpPr>
        <p:spPr>
          <a:xfrm>
            <a:off x="7086600" y="3877200"/>
            <a:ext cx="443448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Courbe ROC et AUC</a:t>
            </a:r>
            <a:endParaRPr lang="fr-FR" sz="1200" b="0" u="none" strike="noStrike">
              <a:solidFill>
                <a:srgbClr val="000000"/>
              </a:solidFill>
              <a:effectLst/>
              <a:uFillTx/>
              <a:latin typeface="Arial"/>
            </a:endParaRPr>
          </a:p>
        </p:txBody>
      </p:sp>
      <p:sp>
        <p:nvSpPr>
          <p:cNvPr id="417" name="Text 29"/>
          <p:cNvSpPr/>
          <p:nvPr/>
        </p:nvSpPr>
        <p:spPr>
          <a:xfrm>
            <a:off x="7086600" y="4187880"/>
            <a:ext cx="443448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CBD3F0"/>
                </a:solidFill>
                <a:effectLst/>
                <a:uFillTx/>
                <a:latin typeface="Calibri"/>
                <a:ea typeface="Calibri"/>
              </a:rPr>
              <a:t>pour évaluer les modèles probabilistes.</a:t>
            </a:r>
            <a:endParaRPr lang="fr-FR" sz="1050" b="0" u="none" strike="noStrike">
              <a:solidFill>
                <a:srgbClr val="000000"/>
              </a:solidFill>
              <a:effectLst/>
              <a:uFillTx/>
              <a:latin typeface="Arial"/>
            </a:endParaRPr>
          </a:p>
        </p:txBody>
      </p:sp>
      <p:sp>
        <p:nvSpPr>
          <p:cNvPr id="418" name="Shape 30"/>
          <p:cNvSpPr/>
          <p:nvPr/>
        </p:nvSpPr>
        <p:spPr>
          <a:xfrm>
            <a:off x="6492240" y="4791600"/>
            <a:ext cx="456840" cy="4568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19" name="Text 31"/>
          <p:cNvSpPr/>
          <p:nvPr/>
        </p:nvSpPr>
        <p:spPr>
          <a:xfrm>
            <a:off x="6492240" y="4791600"/>
            <a:ext cx="456840" cy="4568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500" b="1" u="none" strike="noStrike">
                <a:solidFill>
                  <a:srgbClr val="F39C12"/>
                </a:solidFill>
                <a:effectLst/>
                <a:uFillTx/>
                <a:latin typeface="Calibri"/>
                <a:ea typeface="Calibri"/>
              </a:rPr>
              <a:t>D</a:t>
            </a:r>
            <a:endParaRPr lang="fr-FR" sz="1500" b="0" u="none" strike="noStrike">
              <a:solidFill>
                <a:srgbClr val="000000"/>
              </a:solidFill>
              <a:effectLst/>
              <a:uFillTx/>
              <a:latin typeface="Arial"/>
            </a:endParaRPr>
          </a:p>
        </p:txBody>
      </p:sp>
      <p:sp>
        <p:nvSpPr>
          <p:cNvPr id="420" name="Text 32"/>
          <p:cNvSpPr/>
          <p:nvPr/>
        </p:nvSpPr>
        <p:spPr>
          <a:xfrm>
            <a:off x="7086600" y="4773240"/>
            <a:ext cx="4434480" cy="3196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Gestion du déséquilibre de classes</a:t>
            </a:r>
            <a:endParaRPr lang="fr-FR" sz="1200" b="0" u="none" strike="noStrike">
              <a:solidFill>
                <a:srgbClr val="000000"/>
              </a:solidFill>
              <a:effectLst/>
              <a:uFillTx/>
              <a:latin typeface="Arial"/>
            </a:endParaRPr>
          </a:p>
        </p:txBody>
      </p:sp>
      <p:sp>
        <p:nvSpPr>
          <p:cNvPr id="421" name="Text 33"/>
          <p:cNvSpPr/>
          <p:nvPr/>
        </p:nvSpPr>
        <p:spPr>
          <a:xfrm>
            <a:off x="7086600" y="5083920"/>
            <a:ext cx="4434480" cy="365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050" b="0" u="none" strike="noStrike">
                <a:solidFill>
                  <a:srgbClr val="CBD3F0"/>
                </a:solidFill>
                <a:effectLst/>
                <a:uFillTx/>
                <a:latin typeface="Calibri"/>
                <a:ea typeface="Calibri"/>
              </a:rPr>
              <a:t>sur-échantillonnage, pondération.</a:t>
            </a:r>
            <a:endParaRPr lang="fr-FR" sz="1050" b="0" u="none" strike="noStrike">
              <a:solidFill>
                <a:srgbClr val="000000"/>
              </a:solidFill>
              <a:effectLst/>
              <a:uFillTx/>
              <a:latin typeface="Arial"/>
            </a:endParaRPr>
          </a:p>
        </p:txBody>
      </p:sp>
      <p:sp>
        <p:nvSpPr>
          <p:cNvPr id="422" name="Text 34"/>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38</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2761"/>
        </a:solidFill>
      </p:bgPr>
    </p:bg>
    <p:spTree>
      <p:nvGrpSpPr>
        <p:cNvPr id="1" name=""/>
        <p:cNvGrpSpPr/>
        <p:nvPr/>
      </p:nvGrpSpPr>
      <p:grpSpPr>
        <a:xfrm>
          <a:off x="0" y="0"/>
          <a:ext cx="0" cy="0"/>
          <a:chOff x="0" y="0"/>
          <a:chExt cx="0" cy="0"/>
        </a:xfrm>
      </p:grpSpPr>
      <p:sp>
        <p:nvSpPr>
          <p:cNvPr id="423" name="Shape 0"/>
          <p:cNvSpPr/>
          <p:nvPr/>
        </p:nvSpPr>
        <p:spPr>
          <a:xfrm>
            <a:off x="8778240" y="-1645920"/>
            <a:ext cx="5028840" cy="50288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24" name="Shape 1"/>
          <p:cNvSpPr/>
          <p:nvPr/>
        </p:nvSpPr>
        <p:spPr>
          <a:xfrm>
            <a:off x="-2011680" y="4572000"/>
            <a:ext cx="4114440" cy="4114440"/>
          </a:xfrm>
          <a:prstGeom prst="ellipse">
            <a:avLst/>
          </a:prstGeom>
          <a:solidFill>
            <a:srgbClr val="263177"/>
          </a:solidFill>
          <a:ln w="0">
            <a:noFill/>
          </a:ln>
        </p:spPr>
        <p:style>
          <a:lnRef idx="0"/>
          <a:fillRef idx="0"/>
          <a:effectRef idx="0"/>
          <a:fontRef idx="minor"/>
        </p:style>
        <p:txBody>
          <a:bodyPr lIns="90000" tIns="45000" rIns="90000" bIns="45000" anchor="t">
            <a:noAutofit/>
          </a:bodyPr>
          <a:p>
            <a:endParaRPr lang="fr-FR" sz="1800" b="0" u="none" strike="noStrike">
              <a:solidFill>
                <a:srgbClr val="FFFFFF"/>
              </a:solidFill>
              <a:effectLst/>
              <a:uFillTx/>
              <a:latin typeface="Arial"/>
            </a:endParaRPr>
          </a:p>
        </p:txBody>
      </p:sp>
      <p:sp>
        <p:nvSpPr>
          <p:cNvPr id="425" name="Text 2"/>
          <p:cNvSpPr/>
          <p:nvPr/>
        </p:nvSpPr>
        <p:spPr>
          <a:xfrm>
            <a:off x="822960" y="2286000"/>
            <a:ext cx="9143640" cy="1005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600" b="1" u="none" strike="noStrike">
                <a:solidFill>
                  <a:srgbClr val="F39C12"/>
                </a:solidFill>
                <a:effectLst/>
                <a:uFillTx/>
                <a:latin typeface="Cambria"/>
                <a:ea typeface="Cambria"/>
              </a:rPr>
              <a:t>Bravo !</a:t>
            </a:r>
            <a:endParaRPr lang="fr-FR" sz="4600" b="0" u="none" strike="noStrike">
              <a:solidFill>
                <a:srgbClr val="FFFFFF"/>
              </a:solidFill>
              <a:effectLst/>
              <a:uFillTx/>
              <a:latin typeface="Arial"/>
            </a:endParaRPr>
          </a:p>
        </p:txBody>
      </p:sp>
      <p:sp>
        <p:nvSpPr>
          <p:cNvPr id="426" name="Text 3"/>
          <p:cNvSpPr/>
          <p:nvPr/>
        </p:nvSpPr>
        <p:spPr>
          <a:xfrm>
            <a:off x="822960" y="3291840"/>
            <a:ext cx="9600840" cy="1828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30000"/>
              </a:lnSpc>
              <a:tabLst>
                <a:tab pos="0" algn="l"/>
              </a:tabLst>
            </a:pPr>
            <a:r>
              <a:rPr lang="en-US" sz="1600" b="0" u="none" strike="noStrike">
                <a:solidFill>
                  <a:srgbClr val="CBD3F0"/>
                </a:solidFill>
                <a:effectLst/>
                <a:uFillTx/>
                <a:latin typeface="Calibri"/>
                <a:ea typeface="Calibri"/>
              </a:rPr>
              <a:t>Vous avez maintenant les bases pour construire et interpréter des modèles de classification simples. N'hésitez pas à expérimenter avec d'autres jeux de données et à poser des questions.</a:t>
            </a:r>
            <a:endParaRPr lang="fr-FR" sz="1600" b="0" u="none" strike="noStrike">
              <a:solidFill>
                <a:srgbClr val="FFFFFF"/>
              </a:solidFill>
              <a:effectLst/>
              <a:uFillTx/>
              <a:latin typeface="Arial"/>
            </a:endParaRPr>
          </a:p>
          <a:p>
            <a:pPr defTabSz="914400">
              <a:lnSpc>
                <a:spcPct val="130000"/>
              </a:lnSpc>
              <a:tabLst>
                <a:tab pos="0" algn="l"/>
              </a:tabLst>
            </a:pPr>
            <a:endParaRPr lang="fr-FR" sz="1600" b="0" u="none" strike="noStrike">
              <a:solidFill>
                <a:srgbClr val="FFFFFF"/>
              </a:solidFill>
              <a:effectLst/>
              <a:uFillTx/>
              <a:latin typeface="Arial"/>
            </a:endParaRPr>
          </a:p>
          <a:p>
            <a:pPr defTabSz="914400">
              <a:lnSpc>
                <a:spcPct val="130000"/>
              </a:lnSpc>
              <a:tabLst>
                <a:tab pos="0" algn="l"/>
              </a:tabLst>
            </a:pPr>
            <a:r>
              <a:rPr lang="en-US" sz="1600" b="0" u="none" strike="noStrike">
                <a:solidFill>
                  <a:srgbClr val="CBD3F0"/>
                </a:solidFill>
                <a:effectLst/>
                <a:uFillTx/>
                <a:latin typeface="Calibri"/>
                <a:ea typeface="Calibri"/>
              </a:rPr>
              <a:t>Bonne continuation dans le machine learning !</a:t>
            </a:r>
            <a:endParaRPr lang="fr-FR" sz="1600" b="0" u="none" strike="noStrike">
              <a:solidFill>
                <a:srgbClr val="FFFFFF"/>
              </a:solidFill>
              <a:effectLst/>
              <a:uFillTx/>
              <a:latin typeface="Arial"/>
            </a:endParaRPr>
          </a:p>
        </p:txBody>
      </p:sp>
      <p:sp>
        <p:nvSpPr>
          <p:cNvPr id="427" name="Text 4"/>
          <p:cNvSpPr/>
          <p:nvPr/>
        </p:nvSpPr>
        <p:spPr>
          <a:xfrm>
            <a:off x="11548800" y="6446520"/>
            <a:ext cx="365400" cy="273960"/>
          </a:xfrm>
          <a:prstGeom prst="rect">
            <a:avLst/>
          </a:prstGeom>
          <a:noFill/>
          <a:ln w="0">
            <a:noFill/>
          </a:ln>
        </p:spPr>
        <p:style>
          <a:lnRef idx="0"/>
          <a:fillRef idx="0"/>
          <a:effectRef idx="0"/>
          <a:fontRef idx="minor"/>
        </p:style>
        <p:txBody>
          <a:bodyPr lIns="90000" tIns="45000" rIns="90000" bIns="45000" anchor="ctr">
            <a:noAutofit/>
          </a:bodyPr>
          <a:p>
            <a:pPr algn="r" defTabSz="914400">
              <a:lnSpc>
                <a:spcPct val="100000"/>
              </a:lnSpc>
              <a:tabLst>
                <a:tab pos="0" algn="l"/>
              </a:tabLst>
            </a:pPr>
            <a:r>
              <a:rPr lang="en-US" sz="1000" b="0" u="none" strike="noStrike">
                <a:solidFill>
                  <a:srgbClr val="5A5F73"/>
                </a:solidFill>
                <a:effectLst/>
                <a:uFillTx/>
                <a:latin typeface="Calibri"/>
                <a:ea typeface="Calibri"/>
              </a:rPr>
              <a:t>39</a:t>
            </a:r>
            <a:endParaRPr lang="fr-FR"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LibreOffice/26.2.2.2$Linux_X86_64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2026-08-25T05:18:43Z</dcterms:created>
  <dc:creator>PptxGenJS</dc:creator>
  <dc:description/>
  <dc:language>fr-FR</dc:language>
  <cp:lastModifiedBy/>
  <dcterms:modified xsi:type="dcterms:W3CDTF">2026-08-25T14:56:02Z</dcterms:modified>
  <cp:revision>2</cp:revision>
  <dc:subject>PptxGenJS Presentation</dc:subject>
  <dc:title>PptxGenJS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40</vt:i4>
  </property>
  <property fmtid="{D5CDD505-2E9C-101B-9397-08002B2CF9AE}" pid="3" name="PresentationFormat">
    <vt:lpwstr>On-screen Show (16:9)</vt:lpwstr>
  </property>
  <property fmtid="{D5CDD505-2E9C-101B-9397-08002B2CF9AE}" pid="4" name="Slides">
    <vt:i4>40</vt:i4>
  </property>
</Properties>
</file>